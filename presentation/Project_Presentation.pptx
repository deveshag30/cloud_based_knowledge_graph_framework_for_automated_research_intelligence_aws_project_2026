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3.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304d651-6cba-0c07-c4e8-b718881ab4b6}">
          <p14:sldIdLst>
            <p14:sldId id="256"/>
            <p14:sldId id="257"/>
            <p14:sldId id="258"/>
            <p14:sldId id="259"/>
            <p14:sldId id="260"/>
          </p14:sldIdLst>
        </p14:section>
        <p14:section name="Literature" id="{180f52b3-18e0-753a-82c5-29659363e11b}">
          <p14:sldIdLst>
            <p14:sldId id="261"/>
            <p14:sldId id="262"/>
          </p14:sldIdLst>
        </p14:section>
        <p14:section name="System" id="{f2d27eeb-3706-9d6a-9f0f-00941105e6f7}">
          <p14:sldIdLst>
            <p14:sldId id="263"/>
            <p14:sldId id="264"/>
            <p14:sldId id="265"/>
            <p14:sldId id="266"/>
          </p14:sldIdLst>
        </p14:section>
        <p14:section name="Data and models" id="{1278fd12-7f02-31b3-ee19-ac56599485e2}">
          <p14:sldIdLst>
            <p14:sldId id="267"/>
            <p14:sldId id="268"/>
            <p14:sldId id="269"/>
            <p14:sldId id="270"/>
            <p14:sldId id="271"/>
          </p14:sldIdLst>
        </p14:section>
        <p14:section name="Results" id="{30e48a5d-4503-995b-c53b-0d51d216d808}">
          <p14:sldIdLst>
            <p14:sldId id="272"/>
            <p14:sldId id="273"/>
            <p14:sldId id="274"/>
            <p14:sldId id="275"/>
          </p14:sldIdLst>
        </p14:section>
        <p14:section name="Quality" id="{a739fe6c-9c4c-6b3e-ce07-be3e4c4e749f}">
          <p14:sldIdLst>
            <p14:sldId id="276"/>
            <p14:sldId id="277"/>
            <p14:sldId id="278"/>
            <p14:sldId id="279"/>
          </p14:sldIdLst>
        </p14:section>
        <p14:section name="Close" id="{a6cba600-d8ba-8717-c38b-39b021ad3d8e}">
          <p14:sldIdLst>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Test F1 per entity type (SciERC)</a:t>
            </a:r>
          </a:p>
        </c:rich>
      </c:tx>
      <c:layout/>
      <c:overlay val="0"/>
    </c:title>
    <c:autoTitleDeleted val="0"/>
    <c:plotArea>
      <c:layout/>
      <c:barChart>
        <c:barDir val="col"/>
        <c:grouping val="clustered"/>
        <c:varyColors val="0"/>
        <c:ser>
          <c:idx val="0"/>
          <c:order val="0"/>
          <c:tx>
            <c:strRef>
              <c:f>Sheet1!$B$1</c:f>
              <c:strCache>
                <c:ptCount val="1"/>
                <c:pt idx="0">
                  <c:v>F1</c:v>
                </c:pt>
              </c:strCache>
            </c:strRef>
          </c:tx>
          <c:spPr>
            <a:solidFill>
              <a:srgbClr val="4C78A8"/>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dPt>
            <c:idx val="0"/>
            <c:invertIfNegative val="0"/>
            <c:bubble3D val="0"/>
            <c:spPr>
              <a:solidFill>
                <a:srgbClr val="4C78A8"/>
              </a:solidFill>
              <a:effectLst/>
            </c:spPr>
          </c:dPt>
          <c:dPt>
            <c:idx val="1"/>
            <c:invertIfNegative val="0"/>
            <c:bubble3D val="0"/>
            <c:spPr>
              <a:solidFill>
                <a:srgbClr val="4C78A8"/>
              </a:solidFill>
              <a:effectLst/>
            </c:spPr>
          </c:dPt>
          <c:dPt>
            <c:idx val="2"/>
            <c:invertIfNegative val="0"/>
            <c:bubble3D val="0"/>
            <c:spPr>
              <a:solidFill>
                <a:srgbClr val="4C78A8"/>
              </a:solidFill>
              <a:effectLst/>
            </c:spPr>
          </c:dPt>
          <c:dPt>
            <c:idx val="3"/>
            <c:invertIfNegative val="0"/>
            <c:bubble3D val="0"/>
            <c:spPr>
              <a:solidFill>
                <a:srgbClr val="4C78A8"/>
              </a:solidFill>
              <a:effectLst/>
            </c:spPr>
          </c:dPt>
          <c:dPt>
            <c:idx val="4"/>
            <c:invertIfNegative val="0"/>
            <c:bubble3D val="0"/>
            <c:spPr>
              <a:solidFill>
                <a:srgbClr val="4C78A8"/>
              </a:solidFill>
              <a:effectLst/>
            </c:spPr>
          </c:dPt>
          <c:dPt>
            <c:idx val="5"/>
            <c:invertIfNegative val="0"/>
            <c:bubble3D val="0"/>
            <c:spPr>
              <a:solidFill>
                <a:srgbClr val="4C78A8"/>
              </a:solidFill>
              <a:effectLst/>
            </c:spPr>
          </c:dPt>
          <c:dPt>
            <c:idx val="6"/>
            <c:invertIfNegative val="0"/>
            <c:bubble3D val="0"/>
            <c:spPr>
              <a:solidFill>
                <a:srgbClr val="F58518"/>
              </a:solidFill>
              <a:effectLst/>
            </c:spPr>
          </c:dPt>
          <c:cat>
            <c:multiLvlStrRef>
              <c:f>Sheet1!$A$2:$A$8</c:f>
              <c:multiLvlStrCache>
                <c:ptCount val="7"/>
                <c:lvl>
                  <c:pt idx="0">
                    <c:v>Method</c:v>
                  </c:pt>
                  <c:pt idx="1">
                    <c:v>Generic</c:v>
                  </c:pt>
                  <c:pt idx="2">
                    <c:v>Metric</c:v>
                  </c:pt>
                  <c:pt idx="3">
                    <c:v>Material</c:v>
                  </c:pt>
                  <c:pt idx="4">
                    <c:v>Task</c:v>
                  </c:pt>
                  <c:pt idx="5">
                    <c:v>Other term</c:v>
                  </c:pt>
                  <c:pt idx="6">
                    <c:v>All types</c:v>
                  </c:pt>
                </c:lvl>
              </c:multiLvlStrCache>
            </c:multiLvlStrRef>
          </c:cat>
          <c:val>
            <c:numRef>
              <c:f>Sheet1!$B$2:$B$8</c:f>
              <c:numCache>
                <c:formatCode>General</c:formatCode>
                <c:ptCount val="7"/>
                <c:pt idx="0">
                  <c:v>0.707</c:v>
                </c:pt>
                <c:pt idx="1">
                  <c:v>0.71</c:v>
                </c:pt>
                <c:pt idx="2">
                  <c:v>0.624</c:v>
                </c:pt>
                <c:pt idx="3">
                  <c:v>0.592</c:v>
                </c:pt>
                <c:pt idx="4">
                  <c:v>0.576</c:v>
                </c:pt>
                <c:pt idx="5">
                  <c:v>0.534</c:v>
                </c:pt>
                <c:pt idx="6">
                  <c:v>0.618</c:v>
                </c:pt>
              </c:numCache>
            </c:numRef>
          </c:val>
        </c:ser>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SciERC test set (calibrated on dev)</a:t>
            </a:r>
          </a:p>
        </c:rich>
      </c:tx>
      <c:layout/>
      <c:overlay val="0"/>
    </c:title>
    <c:autoTitleDeleted val="0"/>
    <c:plotArea>
      <c:layout/>
      <c:barChart>
        <c:barDir val="col"/>
        <c:grouping val="clustered"/>
        <c:varyColors val="0"/>
        <c:ser>
          <c:idx val="0"/>
          <c:order val="0"/>
          <c:tx>
            <c:strRef>
              <c:f>Sheet1!$B$1</c:f>
              <c:strCache>
                <c:ptCount val="1"/>
                <c:pt idx="0">
                  <c:v>Previous model</c:v>
                </c:pt>
              </c:strCache>
            </c:strRef>
          </c:tx>
          <c:spPr>
            <a:solidFill>
              <a:srgbClr val="BAB0AC"/>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Sheet1!$B$2:$B$4</c:f>
              <c:numCache>
                <c:formatCode>General</c:formatCode>
                <c:ptCount val="3"/>
                <c:pt idx="0">
                  <c:v>0.358</c:v>
                </c:pt>
                <c:pt idx="1">
                  <c:v>0.516</c:v>
                </c:pt>
                <c:pt idx="2">
                  <c:v>0.423</c:v>
                </c:pt>
              </c:numCache>
            </c:numRef>
          </c:val>
        </c:ser>
        <c:ser>
          <c:idx val="1"/>
          <c:order val="1"/>
          <c:tx>
            <c:strRef>
              <c:f>Sheet1!$C$1</c:f>
              <c:strCache>
                <c:ptCount val="1"/>
                <c:pt idx="0">
                  <c:v>Final model</c:v>
                </c:pt>
              </c:strCache>
            </c:strRef>
          </c:tx>
          <c:spPr>
            <a:solidFill>
              <a:srgbClr val="2E7D32"/>
            </a:solidFill>
            <a:effectLst/>
          </c:spPr>
          <c:invertIfNegative val="0"/>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F1</c:v>
                  </c:pt>
                </c:lvl>
              </c:multiLvlStrCache>
            </c:multiLvlStrRef>
          </c:cat>
          <c:val>
            <c:numRef>
              <c:f>Sheet1!$C$2:$C$4</c:f>
              <c:numCache>
                <c:formatCode>General</c:formatCode>
                <c:ptCount val="3"/>
                <c:pt idx="0">
                  <c:v>0.658</c:v>
                </c:pt>
                <c:pt idx="1">
                  <c:v>0.664</c:v>
                </c:pt>
                <c:pt idx="2">
                  <c:v>0.661</c:v>
                </c:pt>
              </c:numCache>
            </c:numRef>
          </c:val>
        </c:ser>
        <c:dLbls>
          <c:numFmt formatCode="0.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0.8"/>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28 questions with known answers (%)</a:t>
            </a:r>
          </a:p>
        </c:rich>
      </c:tx>
      <c:layout/>
      <c:overlay val="0"/>
    </c:title>
    <c:autoTitleDeleted val="0"/>
    <c:plotArea>
      <c:layout/>
      <c:barChart>
        <c:barDir val="col"/>
        <c:grouping val="clustered"/>
        <c:varyColors val="0"/>
        <c:ser>
          <c:idx val="0"/>
          <c:order val="0"/>
          <c:tx>
            <c:strRef>
              <c:f>Sheet1!$B$1</c:f>
              <c:strCache>
                <c:ptCount val="1"/>
                <c:pt idx="0">
                  <c:v>GraphRAG</c:v>
                </c:pt>
              </c:strCache>
            </c:strRef>
          </c:tx>
          <c:spPr>
            <a:solidFill>
              <a:srgbClr val="1F4E8C"/>
            </a:solidFill>
            <a:effectLst/>
          </c:spPr>
          <c:invertIfNegative val="0"/>
          <c:dLbls>
            <c:numFmt formatCode="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Answer recall</c:v>
                  </c:pt>
                  <c:pt idx="1">
                    <c:v>Fully correct</c:v>
                  </c:pt>
                  <c:pt idx="2">
                    <c:v>Hallucination</c:v>
                  </c:pt>
                  <c:pt idx="3">
                    <c:v>With citations</c:v>
                  </c:pt>
                </c:lvl>
              </c:multiLvlStrCache>
            </c:multiLvlStrRef>
          </c:cat>
          <c:val>
            <c:numRef>
              <c:f>Sheet1!$B$2:$B$5</c:f>
              <c:numCache>
                <c:formatCode>General</c:formatCode>
                <c:ptCount val="4"/>
                <c:pt idx="0">
                  <c:v>100</c:v>
                </c:pt>
                <c:pt idx="1">
                  <c:v>100</c:v>
                </c:pt>
                <c:pt idx="2">
                  <c:v>0</c:v>
                </c:pt>
                <c:pt idx="3">
                  <c:v>100</c:v>
                </c:pt>
              </c:numCache>
            </c:numRef>
          </c:val>
        </c:ser>
        <c:ser>
          <c:idx val="1"/>
          <c:order val="1"/>
          <c:tx>
            <c:strRef>
              <c:f>Sheet1!$C$1</c:f>
              <c:strCache>
                <c:ptCount val="1"/>
                <c:pt idx="0">
                  <c:v>Same LLM, no graph</c:v>
                </c:pt>
              </c:strCache>
            </c:strRef>
          </c:tx>
          <c:spPr>
            <a:solidFill>
              <a:srgbClr val="C62828"/>
            </a:solidFill>
            <a:effectLst/>
          </c:spPr>
          <c:invertIfNegative val="0"/>
          <c:dLbls>
            <c:numFmt formatCode="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Answer recall</c:v>
                  </c:pt>
                  <c:pt idx="1">
                    <c:v>Fully correct</c:v>
                  </c:pt>
                  <c:pt idx="2">
                    <c:v>Hallucination</c:v>
                  </c:pt>
                  <c:pt idx="3">
                    <c:v>With citations</c:v>
                  </c:pt>
                </c:lvl>
              </c:multiLvlStrCache>
            </c:multiLvlStrRef>
          </c:cat>
          <c:val>
            <c:numRef>
              <c:f>Sheet1!$C$2:$C$5</c:f>
              <c:numCache>
                <c:formatCode>General</c:formatCode>
                <c:ptCount val="4"/>
                <c:pt idx="0">
                  <c:v>2.1</c:v>
                </c:pt>
                <c:pt idx="1">
                  <c:v>0</c:v>
                </c:pt>
                <c:pt idx="2">
                  <c:v>62.5</c:v>
                </c:pt>
                <c:pt idx="3">
                  <c:v>0</c:v>
                </c:pt>
              </c:numCache>
            </c:numRef>
          </c:val>
        </c:ser>
        <c:dLbls>
          <c:numFmt formatCode="0.0" sourceLinked="0"/>
          <c:txPr>
            <a:bodyPr/>
            <a:lstStyle/>
            <a:p>
              <a:pPr>
                <a:defRPr b="0" i="0" strike="noStrike" sz="1200" u="none">
                  <a:solidFill>
                    <a:srgbClr val="1F293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B5563"/>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project: we turn scientific papers into a knowledge graph on AWS, and answer questions only from facts in that graph, with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report: the problem, what exists, what we built, how it works on AWS, the results, and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Researchers and R&amp;D teams cannot read everything. Search finds documents but does not connect facts across them. LLMs give answers that sound right but are often invented. Our problem statement is the last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is grounded but cannot answer or connect facts. An LLM can answer but is not grounded. GraphRAG answers in plain English, but only from facts retrieved from the graph, with citations.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objective had a measurable criterion set in advance. The right-hand column is what we measured on the deployed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grouped the 15 papers by what they do. One proposal paper was retracted and one could not be verified, so we replaced them with verified papers from IEEE TKDE and ACM TOIS.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paper covers one or two of these points; none combines all four. Our contribution is the integrated, measured, deployed system, not any single new component.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in three verbs: extract, store, ask. Everything is serverless, so it scales when papers arrive and costs nothing when idle.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diagram. Because the AWS Free plan blocks Neptune and Bedrock, the graph runs on Neo4j AuraDB and the LLM on Groq and Gemini; one deployment parameter switches back to the AWS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share one graph. The top path builds the graph automatically; the bottom path answers questions from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services are defined in one AWS SAM template and deploy with one command. Neptune and Bedrock are implemented as options and are used on a paid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OpenAlex gives clean metadata, S2ORC gives full text, SciERC is the labelled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manual step: an upload creates an S3 event and the paper appears in the graph within about a minute. The full graph was rebuilt in 13.5 minutes with 12 Lambdas in parallel and no failures.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model finds entities. Its F1 is close to the published SciBERT result (about 0.65) even though we trained on a CPU. Compared with the rule-based baseline, every paper now has entities.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model labels how two entities are related. Following the PURE approach, F1 rose from 0.423 to 0.661. The test set was never used for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ontology. Most paper nodes are cited references; 306 documents were fully 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 takes about half a second. The LLM is never asked to answer from memory, which is why it cannot invent facts. A question never fails, even if every LLM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result. For example, without the graph the model invented a survey's authors, venue and year. With the graph every answer was correct and cited.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point: ask which methods are used for link prediction and click a 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shows multi-hop discovery: a survey uses TransE, KG-CF cites that survey, and KG-CF uses BERT. Keyword search cannot find links like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signed-in users reach the API and only members can upload. Every failure is either retried, kept for later, or answered from cited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test creates a temporary user, calls every route, uploads a paper and follows it into the graph, then deletes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Serverless means we pay only for use. On the full AWS design, the Neptune graph is the main cost because it bills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biggest constraint was the AWS Free plan. Instead of dropping the AWS design, we made the graph and LLM provider configurable.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was split equally by layer, and each member analysed five of the fifteen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works end to end and its answers can be checked. Next steps are mostly about scale and the paid AWS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live demo, resume the Neo4j AuraDB instance if it has paused and ask one question to warm up the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463040"/>
            <a:ext cx="10515600" cy="1737360"/>
          </a:xfrm>
          <a:prstGeom prst="rect">
            <a:avLst/>
          </a:prstGeom>
          <a:noFill/>
          <a:ln/>
        </p:spPr>
        <p:txBody>
          <a:bodyPr wrap="square" rtlCol="0"/>
          <a:lstStyle>
            <a:lvl1pPr algn="l" indent="0" marL="0">
              <a:buNone/>
              <a:defRPr lang="en-US" sz="4000" b="1" dirty="0">
                <a:solidFill>
                  <a:srgbClr val="1F4E8C"/>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3" name="Text 0"/>
          <p:cNvSpPr/>
          <p:nvPr>
            <p:ph idx="101" type="body" hasCustomPrompt="1"/>
          </p:nvPr>
        </p:nvSpPr>
        <p:spPr>
          <a:xfrm>
            <a:off x="822960" y="3383280"/>
            <a:ext cx="10515600" cy="548640"/>
          </a:xfrm>
          <a:prstGeom prst="rect">
            <a:avLst/>
          </a:prstGeom>
          <a:noFill/>
          <a:ln/>
        </p:spPr>
        <p:txBody>
          <a:bodyPr wrap="square" rtlCol="0"/>
          <a:lstStyle>
            <a:lvl1pPr algn="l" indent="0" marL="0">
              <a:buNone/>
              <a:defRPr lang="en-US" sz="2200" dirty="0">
                <a:solidFill>
                  <a:srgbClr val="4B5563"/>
                </a:solidFill>
                <a:latin typeface="Calibri" pitchFamily="34" charset="0"/>
                <a:ea typeface="Calibri" pitchFamily="34" charset="-122"/>
                <a:cs typeface="Calibri" pitchFamily="34" charset="-120"/>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rtlCol="0"/>
          <a:lstStyle>
            <a:lvl1pPr algn="l" indent="0" marL="0">
              <a:buNone/>
              <a:defRPr lang="en-US" sz="3000" b="1" dirty="0">
                <a:solidFill>
                  <a:srgbClr val="1F4E8C"/>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100" dirty="0">
                <a:solidFill>
                  <a:srgbClr val="9CA3AF"/>
                </a:solidFill>
                <a:latin typeface="Calibri" pitchFamily="34" charset="0"/>
                <a:ea typeface="Calibri" pitchFamily="34" charset="-122"/>
                <a:cs typeface="Calibri" pitchFamily="34" charset="-120"/>
              </a:rPr>
              <a:t>Cloud-Based Knowledge Graph Framework  |  BITE412L Cloud Computing</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463040"/>
            <a:ext cx="10515600" cy="1737360"/>
          </a:xfrm>
          <a:prstGeom prst="rect">
            <a:avLst/>
          </a:prstGeom>
          <a:noFill/>
          <a:ln/>
        </p:spPr>
        <p:txBody>
          <a:bodyPr wrap="square" lIns="0" tIns="0" rIns="0" bIns="0" rtlCol="0" anchor="b"/>
          <a:lstStyle/>
          <a:p>
            <a:pPr algn="l" indent="0" marL="0">
              <a:buNone/>
            </a:pPr>
            <a:r>
              <a:rPr lang="en-US" sz="4000" b="1" dirty="0">
                <a:solidFill>
                  <a:srgbClr val="1F4E8C"/>
                </a:solidFill>
                <a:latin typeface="Calibri" pitchFamily="34" charset="0"/>
                <a:ea typeface="Calibri" pitchFamily="34" charset="-122"/>
                <a:cs typeface="Calibri" pitchFamily="34" charset="-120"/>
              </a:rPr>
              <a:t>Cloud-Based Knowledge Graph Framework for Automated Research Intelligence</a:t>
            </a:r>
            <a:endParaRPr lang="en-US" sz="4000" dirty="0"/>
          </a:p>
        </p:txBody>
      </p:sp>
      <p:sp>
        <p:nvSpPr>
          <p:cNvPr id="3" name="Text 0"/>
          <p:cNvSpPr/>
          <p:nvPr>
            <p:ph idx="101" type="body" hasCustomPrompt="1"/>
          </p:nvPr>
        </p:nvSpPr>
        <p:spPr>
          <a:xfrm>
            <a:off x="822960" y="3383280"/>
            <a:ext cx="10515600" cy="548640"/>
          </a:xfrm>
          <a:prstGeom prst="rect">
            <a:avLst/>
          </a:prstGeom>
          <a:noFill/>
          <a:ln/>
        </p:spPr>
        <p:txBody>
          <a:bodyPr wrap="square" lIns="0" tIns="0" rIns="0" bIns="0" rtlCol="0" anchor="t"/>
          <a:lstStyle/>
          <a:p>
            <a:pPr algn="l" indent="0" marL="0">
              <a:buNone/>
            </a:pPr>
            <a:r>
              <a:rPr lang="en-US" sz="2200" dirty="0">
                <a:solidFill>
                  <a:srgbClr val="4B5563"/>
                </a:solidFill>
                <a:latin typeface="Calibri" pitchFamily="34" charset="0"/>
                <a:ea typeface="Calibri" pitchFamily="34" charset="-122"/>
                <a:cs typeface="Calibri" pitchFamily="34" charset="-120"/>
              </a:rPr>
              <a:t>Answering research questions from a knowledge graph, with citations</a:t>
            </a:r>
            <a:endParaRPr lang="en-US" sz="2200" dirty="0"/>
          </a:p>
        </p:txBody>
      </p:sp>
      <p:sp>
        <p:nvSpPr>
          <p:cNvPr id="4" name="Text 2"/>
          <p:cNvSpPr txBox="1"/>
          <p:nvPr/>
        </p:nvSpPr>
        <p:spPr>
          <a:xfrm>
            <a:off x="822960" y="4572000"/>
            <a:ext cx="10515600" cy="1188720"/>
          </a:xfrm>
          <a:prstGeom prst="rect">
            <a:avLst/>
          </a:prstGeom>
          <a:noFill/>
          <a:ln/>
        </p:spPr>
        <p:txBody>
          <a:bodyPr wrap="square" lIns="0" tIns="0" rIns="0" bIns="0" rtlCol="0" anchor="ctr"/>
          <a:lstStyle/>
          <a:p>
            <a:pPr indent="0" marL="0">
              <a:spcAft>
                <a:spcPts val="600"/>
              </a:spcAft>
              <a:buNone/>
            </a:pPr>
            <a:r>
              <a:rPr lang="en-US" sz="1700" dirty="0">
                <a:solidFill>
                  <a:srgbClr val="1F2937"/>
                </a:solidFill>
                <a:latin typeface="Calibri" pitchFamily="34" charset="0"/>
                <a:ea typeface="Calibri" pitchFamily="34" charset="-122"/>
                <a:cs typeface="Calibri" pitchFamily="34" charset="-120"/>
              </a:rPr>
              <a:t>Dhruv Gupta (23BIT0350)   |   Parth Sharma (23BIT0211)   |   Devesh Agarwal (23BIT0201)</a:t>
            </a:r>
            <a:endParaRPr lang="en-US" sz="1700" dirty="0"/>
          </a:p>
          <a:p>
            <a:pPr indent="0" marL="0">
              <a:spcAft>
                <a:spcPts val="600"/>
              </a:spcAft>
              <a:buNone/>
            </a:pPr>
            <a:r>
              <a:rPr lang="en-US" sz="1700" dirty="0">
                <a:solidFill>
                  <a:srgbClr val="4B5563"/>
                </a:solidFill>
                <a:latin typeface="Calibri" pitchFamily="34" charset="0"/>
                <a:ea typeface="Calibri" pitchFamily="34" charset="-122"/>
                <a:cs typeface="Calibri" pitchFamily="34" charset="-120"/>
              </a:rPr>
              <a:t>BITE412L Cloud Computing   |   Course Instructor: Dr. Priya V</a:t>
            </a:r>
            <a:endParaRPr lang="en-US" sz="1700" dirty="0"/>
          </a:p>
          <a:p>
            <a:pPr indent="0" marL="0">
              <a:spcAft>
                <a:spcPts val="600"/>
              </a:spcAft>
              <a:buNone/>
            </a:pPr>
            <a:r>
              <a:rPr lang="en-US" sz="1700" dirty="0">
                <a:solidFill>
                  <a:srgbClr val="4B5563"/>
                </a:solidFill>
                <a:latin typeface="Calibri" pitchFamily="34" charset="0"/>
                <a:ea typeface="Calibri" pitchFamily="34" charset="-122"/>
                <a:cs typeface="Calibri" pitchFamily="34" charset="-120"/>
              </a:rPr>
              <a:t>School of Computer Science and Engineering, VIT Vellore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Outline</a:t>
            </a:r>
            <a:endParaRPr lang="en-US" sz="3000" dirty="0"/>
          </a:p>
        </p:txBody>
      </p:sp>
      <p:sp>
        <p:nvSpPr>
          <p:cNvPr id="3" name="Text 1"/>
          <p:cNvSpPr txBox="1"/>
          <p:nvPr/>
        </p:nvSpPr>
        <p:spPr>
          <a:xfrm>
            <a:off x="731520" y="1371600"/>
            <a:ext cx="5303520" cy="4572000"/>
          </a:xfrm>
          <a:prstGeom prst="rect">
            <a:avLst/>
          </a:prstGeom>
          <a:noFill/>
          <a:ln/>
        </p:spPr>
        <p:txBody>
          <a:bodyPr wrap="square" lIns="0" tIns="0" rIns="0" bIns="0" rtlCol="0" anchor="t"/>
          <a:lstStyle/>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Introduction and problem statement</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Existing approaches and project objectives</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Literature survey, research gap and novelty</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Proposed system and cloud architecture</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Datasets, NLP models and the knowledge graph</a:t>
            </a:r>
            <a:endParaRPr lang="en-US" sz="2000" dirty="0"/>
          </a:p>
        </p:txBody>
      </p:sp>
      <p:sp>
        <p:nvSpPr>
          <p:cNvPr id="4" name="Text 2"/>
          <p:cNvSpPr txBox="1"/>
          <p:nvPr/>
        </p:nvSpPr>
        <p:spPr>
          <a:xfrm>
            <a:off x="6309360" y="1371600"/>
            <a:ext cx="5303520" cy="4572000"/>
          </a:xfrm>
          <a:prstGeom prst="rect">
            <a:avLst/>
          </a:prstGeom>
          <a:noFill/>
          <a:ln/>
        </p:spPr>
        <p:txBody>
          <a:bodyPr wrap="square" lIns="0" tIns="0" rIns="0" bIns="0" rtlCol="0" anchor="t"/>
          <a:lstStyle/>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GraphRAG question answering</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Results and dashboard demo</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Security, testing and cost</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Challenges, team contributions</a:t>
            </a:r>
            <a:endParaRPr lang="en-US" sz="2000" dirty="0"/>
          </a:p>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Conclusion and future work</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Introduction and problem statement</a:t>
            </a:r>
            <a:endParaRPr lang="en-US" sz="3000" dirty="0"/>
          </a:p>
        </p:txBody>
      </p:sp>
      <p:sp>
        <p:nvSpPr>
          <p:cNvPr id="3" name="Text 1"/>
          <p:cNvSpPr txBox="1"/>
          <p:nvPr/>
        </p:nvSpPr>
        <p:spPr>
          <a:xfrm>
            <a:off x="731520" y="1371600"/>
            <a:ext cx="10698480" cy="4754880"/>
          </a:xfrm>
          <a:prstGeom prst="rect">
            <a:avLst/>
          </a:prstGeom>
          <a:noFill/>
          <a:ln/>
        </p:spPr>
        <p:txBody>
          <a:bodyPr wrap="square" lIns="0" tIns="0" rIns="0" bIns="0" rtlCol="0" anchor="t"/>
          <a:lstStyle/>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Scale: </a:t>
            </a:r>
            <a:pPr indent="0" marL="0">
              <a:buNone/>
            </a:pPr>
            <a:r>
              <a:rPr lang="en-US" sz="2000" dirty="0">
                <a:solidFill>
                  <a:srgbClr val="1F2937"/>
                </a:solidFill>
                <a:latin typeface="Calibri" pitchFamily="34" charset="0"/>
                <a:ea typeface="Calibri" pitchFamily="34" charset="-122"/>
                <a:cs typeface="Calibri" pitchFamily="34" charset="-120"/>
              </a:rPr>
              <a:t>scientific output grows every year; OpenAlex alone indexes over 300 million scholarly works.</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Scattered knowledge: </a:t>
            </a:r>
            <a:pPr indent="0" marL="0">
              <a:buNone/>
            </a:pPr>
            <a:r>
              <a:rPr lang="en-US" sz="2000" dirty="0">
                <a:solidFill>
                  <a:srgbClr val="1F2937"/>
                </a:solidFill>
                <a:latin typeface="Calibri" pitchFamily="34" charset="0"/>
                <a:ea typeface="Calibri" pitchFamily="34" charset="-122"/>
                <a:cs typeface="Calibri" pitchFamily="34" charset="-120"/>
              </a:rPr>
              <a:t>which methods solve which tasks, and on which datasets, is spread across the text of thousands of papers.</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Keyword search: </a:t>
            </a:r>
            <a:pPr indent="0" marL="0">
              <a:buNone/>
            </a:pPr>
            <a:r>
              <a:rPr lang="en-US" sz="2000" dirty="0">
                <a:solidFill>
                  <a:srgbClr val="1F2937"/>
                </a:solidFill>
                <a:latin typeface="Calibri" pitchFamily="34" charset="0"/>
                <a:ea typeface="Calibri" pitchFamily="34" charset="-122"/>
                <a:cs typeface="Calibri" pitchFamily="34" charset="-120"/>
              </a:rPr>
              <a:t>returns documents, not answers, and cannot follow links across papers.</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Standalone LLMs: </a:t>
            </a:r>
            <a:pPr indent="0" marL="0">
              <a:buNone/>
            </a:pPr>
            <a:r>
              <a:rPr lang="en-US" sz="2000" dirty="0">
                <a:solidFill>
                  <a:srgbClr val="1F2937"/>
                </a:solidFill>
                <a:latin typeface="Calibri" pitchFamily="34" charset="0"/>
                <a:ea typeface="Calibri" pitchFamily="34" charset="-122"/>
                <a:cs typeface="Calibri" pitchFamily="34" charset="-120"/>
              </a:rPr>
              <a:t>answer fluently but invent authors, venues and results, and cannot cite a source.</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Problem: </a:t>
            </a:r>
            <a:pPr indent="0" marL="0">
              <a:buNone/>
            </a:pPr>
            <a:r>
              <a:rPr lang="en-US" sz="2000" dirty="0">
                <a:solidFill>
                  <a:srgbClr val="1F2937"/>
                </a:solidFill>
                <a:latin typeface="Calibri" pitchFamily="34" charset="0"/>
                <a:ea typeface="Calibri" pitchFamily="34" charset="-122"/>
                <a:cs typeface="Calibri" pitchFamily="34" charset="-120"/>
              </a:rPr>
              <a:t>automatically turn scientific text into a queryable knowledge graph on the cloud, and answer questions from it with verifiable citations.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Limitations of existing approaches</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4663440"/>
                <a:gridCol w="2011680"/>
                <a:gridCol w="2011680"/>
                <a:gridCol w="2011680"/>
              </a:tblGrid>
              <a:tr h="50292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Capability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Keyword search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LLM on its own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This project (GraphRAG)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Answers questions in plain English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Connects facts across many papers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Cites the source of every statement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Grounded in verifiable data</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Updates automatically as papers arrive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C62828"/>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algn="ctr" indent="0" marL="0">
                        <a:buNone/>
                      </a:pPr>
                      <a:r>
                        <a:rPr lang="en-US" sz="1500" b="1" dirty="0">
                          <a:solidFill>
                            <a:srgbClr val="2E7D32"/>
                          </a:solidFill>
                          <a:latin typeface="Calibri" pitchFamily="34" charset="0"/>
                          <a:ea typeface="Calibri" pitchFamily="34" charset="-122"/>
                          <a:cs typeface="Calibri" pitchFamily="34" charset="-120"/>
                        </a:rPr>
                        <a:t>Yes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731520" y="4892040"/>
            <a:ext cx="10698480" cy="914400"/>
          </a:xfrm>
          <a:prstGeom prst="rect">
            <a:avLst/>
          </a:prstGeom>
          <a:noFill/>
          <a:ln/>
        </p:spPr>
        <p:txBody>
          <a:bodyPr wrap="square" lIns="0" tIns="0" rIns="0" bIns="0" rtlCol="0" anchor="t"/>
          <a:lstStyle/>
          <a:p>
            <a:pPr marL="279400" indent="-279400">
              <a:spcAft>
                <a:spcPts val="1600"/>
              </a:spcAft>
              <a:buSzPct val="100000"/>
              <a:buChar char="•"/>
            </a:pPr>
            <a:r>
              <a:rPr lang="en-US" sz="2000" dirty="0">
                <a:solidFill>
                  <a:srgbClr val="1F2937"/>
                </a:solidFill>
                <a:latin typeface="Calibri" pitchFamily="34" charset="0"/>
                <a:ea typeface="Calibri" pitchFamily="34" charset="-122"/>
                <a:cs typeface="Calibri" pitchFamily="34" charset="-120"/>
              </a:rPr>
              <a:t>Each existing approach solves only part of the problem; our system combines grounding, multi-hop links and natural-language answers.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Project objectives</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548640"/>
                <a:gridCol w="3840480"/>
                <a:gridCol w="3017520"/>
                <a:gridCol w="3291840"/>
              </a:tblGrid>
              <a:tr h="566928">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Objective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Success criterion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Automated entity and relation extraction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F1 at least 0.60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NER 0.618, RE 0.661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Serverless, event-driven processing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At least 1,000 papers/hour</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About 1,350 papers/hour, 0 failures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Grounded answers with GraphRAG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Hallucination below 5%</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 (62.5% without the graph)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Scalable graph storage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Retrieval under 1 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0.535 s; 29,320 nodes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Interactive, secure dashboard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All features work; 401 without login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All checks pass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Monitoring and testing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Alarms, passing end-to-end test, $0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13/13 checks, $0 charged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731520" y="5577840"/>
            <a:ext cx="10698480" cy="365760"/>
          </a:xfrm>
          <a:prstGeom prst="rect">
            <a:avLst/>
          </a:prstGeom>
          <a:noFill/>
          <a:ln/>
        </p:spPr>
        <p:txBody>
          <a:bodyPr wrap="square" lIns="0" tIns="0" rIns="0" bIns="0" rtlCol="0" anchor="t"/>
          <a:lstStyle/>
          <a:p>
            <a:pPr indent="0" marL="0">
              <a:buNone/>
            </a:pPr>
            <a:r>
              <a:rPr lang="en-US" sz="1300" i="1" dirty="0">
                <a:solidFill>
                  <a:srgbClr val="4B5563"/>
                </a:solidFill>
                <a:latin typeface="Calibri" pitchFamily="34" charset="0"/>
                <a:ea typeface="Calibri" pitchFamily="34" charset="-122"/>
                <a:cs typeface="Calibri" pitchFamily="34" charset="-120"/>
              </a:rPr>
              <a:t>All six objectives were met on the deployed system.</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Literature survey (15 papers)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2377440"/>
                <a:gridCol w="2194560"/>
                <a:gridCol w="3291840"/>
                <a:gridCol w="2834640"/>
              </a:tblGrid>
              <a:tr h="82296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Group</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Papers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What they show</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What they lack</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82296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Building knowledge graphs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P1, P2, P5, P11, P14</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KGs capture multi-hop relations; deep models extract knowledge from text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Manual ontologies, noisy general extractors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82296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Reasoning and systems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P6, P7, P10, P12, P15</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Better completion, reasoning and distributed knowledge sharing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Offline or simulated; no cloud deployment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82296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KG-grounded generation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P3, P4, P8, P9, P13</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Graphs reduce LLM hallucination; GraphRAG design space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No same-model comparison or deployed system</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731520" y="5074920"/>
            <a:ext cx="10698480" cy="1097280"/>
          </a:xfrm>
          <a:prstGeom prst="rect">
            <a:avLst/>
          </a:prstGeom>
          <a:noFill/>
          <a:ln/>
        </p:spPr>
        <p:txBody>
          <a:bodyPr wrap="square" lIns="0" tIns="0" rIns="0" bIns="0" rtlCol="0" anchor="t"/>
          <a:lstStyle/>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12 papers from IEEE, ACM, Springer, Elsevier and MDPI venues, plus 3 recent arXiv preprints; 11 published in 2024-2026.</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Each member analysed five papers related to their part of the project.</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Research gap and novelty</a:t>
            </a:r>
            <a:endParaRPr lang="en-US" sz="3000" dirty="0"/>
          </a:p>
        </p:txBody>
      </p:sp>
      <p:sp>
        <p:nvSpPr>
          <p:cNvPr id="3" name="Text 1"/>
          <p:cNvSpPr txBox="1"/>
          <p:nvPr/>
        </p:nvSpPr>
        <p:spPr>
          <a:xfrm>
            <a:off x="731520" y="1325880"/>
            <a:ext cx="5120640" cy="457200"/>
          </a:xfrm>
          <a:prstGeom prst="rect">
            <a:avLst/>
          </a:prstGeom>
          <a:noFill/>
          <a:ln/>
        </p:spPr>
        <p:txBody>
          <a:bodyPr wrap="square" lIns="0" tIns="0" rIns="0" bIns="0" rtlCol="0" anchor="ctr"/>
          <a:lstStyle/>
          <a:p>
            <a:pPr indent="0" marL="0">
              <a:buNone/>
            </a:pPr>
            <a:r>
              <a:rPr lang="en-US" sz="2000" b="1" dirty="0">
                <a:solidFill>
                  <a:srgbClr val="1F4E8C"/>
                </a:solidFill>
                <a:latin typeface="Calibri" pitchFamily="34" charset="0"/>
                <a:ea typeface="Calibri" pitchFamily="34" charset="-122"/>
                <a:cs typeface="Calibri" pitchFamily="34" charset="-120"/>
              </a:rPr>
              <a:t>Research gap</a:t>
            </a:r>
            <a:endParaRPr lang="en-US" sz="2000" dirty="0"/>
          </a:p>
        </p:txBody>
      </p:sp>
      <p:sp>
        <p:nvSpPr>
          <p:cNvPr id="4" name="Text 2"/>
          <p:cNvSpPr txBox="1"/>
          <p:nvPr/>
        </p:nvSpPr>
        <p:spPr>
          <a:xfrm>
            <a:off x="731520" y="1874520"/>
            <a:ext cx="5120640" cy="4114800"/>
          </a:xfrm>
          <a:prstGeom prst="rect">
            <a:avLst/>
          </a:prstGeom>
          <a:noFill/>
          <a:ln/>
        </p:spPr>
        <p:txBody>
          <a:bodyPr wrap="square" lIns="0" tIns="0" rIns="0" bIns="0" rtlCol="0" anchor="t"/>
          <a:lstStyle/>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No reviewed system combines automatic extraction of scientific entities and typed relations</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with a graph that updates as new papers arrive,</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cited answers tested against the same LLM without the graph,</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and a secure, monitored, low-cost cloud deployment.</a:t>
            </a:r>
            <a:endParaRPr lang="en-US" sz="1700" dirty="0"/>
          </a:p>
        </p:txBody>
      </p:sp>
      <p:sp>
        <p:nvSpPr>
          <p:cNvPr id="5" name="Text 3"/>
          <p:cNvSpPr txBox="1"/>
          <p:nvPr/>
        </p:nvSpPr>
        <p:spPr>
          <a:xfrm>
            <a:off x="6309360" y="1325880"/>
            <a:ext cx="5303520" cy="457200"/>
          </a:xfrm>
          <a:prstGeom prst="rect">
            <a:avLst/>
          </a:prstGeom>
          <a:noFill/>
          <a:ln/>
        </p:spPr>
        <p:txBody>
          <a:bodyPr wrap="square" lIns="0" tIns="0" rIns="0" bIns="0" rtlCol="0" anchor="ctr"/>
          <a:lstStyle/>
          <a:p>
            <a:pPr indent="0" marL="0">
              <a:buNone/>
            </a:pPr>
            <a:r>
              <a:rPr lang="en-US" sz="2000" b="1" dirty="0">
                <a:solidFill>
                  <a:srgbClr val="1F4E8C"/>
                </a:solidFill>
                <a:latin typeface="Calibri" pitchFamily="34" charset="0"/>
                <a:ea typeface="Calibri" pitchFamily="34" charset="-122"/>
                <a:cs typeface="Calibri" pitchFamily="34" charset="-120"/>
              </a:rPr>
              <a:t>Our novelty</a:t>
            </a:r>
            <a:endParaRPr lang="en-US" sz="2000" dirty="0"/>
          </a:p>
        </p:txBody>
      </p:sp>
      <p:sp>
        <p:nvSpPr>
          <p:cNvPr id="6" name="Text 4"/>
          <p:cNvSpPr txBox="1"/>
          <p:nvPr/>
        </p:nvSpPr>
        <p:spPr>
          <a:xfrm>
            <a:off x="6309360" y="1874520"/>
            <a:ext cx="5303520" cy="4114800"/>
          </a:xfrm>
          <a:prstGeom prst="rect">
            <a:avLst/>
          </a:prstGeom>
          <a:noFill/>
          <a:ln/>
        </p:spPr>
        <p:txBody>
          <a:bodyPr wrap="square" lIns="0" tIns="0" rIns="0" bIns="0" rtlCol="0" anchor="t"/>
          <a:lstStyle/>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Algorithm: </a:t>
            </a:r>
            <a:pPr indent="0" marL="0">
              <a:buNone/>
            </a:pPr>
            <a:r>
              <a:rPr lang="en-US" sz="1700" dirty="0">
                <a:solidFill>
                  <a:srgbClr val="1F2937"/>
                </a:solidFill>
                <a:latin typeface="Calibri" pitchFamily="34" charset="0"/>
                <a:ea typeface="Calibri" pitchFamily="34" charset="-122"/>
                <a:cs typeface="Calibri" pitchFamily="34" charset="-120"/>
              </a:rPr>
              <a:t>two SciBERT models (entities and relations) with canonicalisation.</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Feature: </a:t>
            </a:r>
            <a:pPr indent="0" marL="0">
              <a:buNone/>
            </a:pPr>
            <a:r>
              <a:rPr lang="en-US" sz="1700" dirty="0">
                <a:solidFill>
                  <a:srgbClr val="1F2937"/>
                </a:solidFill>
                <a:latin typeface="Calibri" pitchFamily="34" charset="0"/>
                <a:ea typeface="Calibri" pitchFamily="34" charset="-122"/>
                <a:cs typeface="Calibri" pitchFamily="34" charset="-120"/>
              </a:rPr>
              <a:t>plain-English answers with clickable citations, multi-hop Connect, Research 360.</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Cloud: </a:t>
            </a:r>
            <a:pPr indent="0" marL="0">
              <a:buNone/>
            </a:pPr>
            <a:r>
              <a:rPr lang="en-US" sz="1700" dirty="0">
                <a:solidFill>
                  <a:srgbClr val="1F2937"/>
                </a:solidFill>
                <a:latin typeface="Calibri" pitchFamily="34" charset="0"/>
                <a:ea typeface="Calibri" pitchFamily="34" charset="-122"/>
                <a:cs typeface="Calibri" pitchFamily="34" charset="-120"/>
              </a:rPr>
              <a:t>event-driven serverless pipeline on AWS; graph and LLM switchable by parameter.</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Evidence: </a:t>
            </a:r>
            <a:pPr indent="0" marL="0">
              <a:buNone/>
            </a:pPr>
            <a:r>
              <a:rPr lang="en-US" sz="1700" dirty="0">
                <a:solidFill>
                  <a:srgbClr val="1F2937"/>
                </a:solidFill>
                <a:latin typeface="Calibri" pitchFamily="34" charset="0"/>
                <a:ea typeface="Calibri" pitchFamily="34" charset="-122"/>
                <a:cs typeface="Calibri" pitchFamily="34" charset="-120"/>
              </a:rPr>
              <a:t>hallucination 0% vs 62.5% for the same LLM without the graph.</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Proposed system</a:t>
            </a:r>
            <a:endParaRPr lang="en-US" sz="3000" dirty="0"/>
          </a:p>
        </p:txBody>
      </p:sp>
      <p:sp>
        <p:nvSpPr>
          <p:cNvPr id="3" name="Text 1"/>
          <p:cNvSpPr txBox="1"/>
          <p:nvPr/>
        </p:nvSpPr>
        <p:spPr>
          <a:xfrm>
            <a:off x="731520" y="1371600"/>
            <a:ext cx="10698480" cy="4754880"/>
          </a:xfrm>
          <a:prstGeom prst="rect">
            <a:avLst/>
          </a:prstGeom>
          <a:noFill/>
          <a:ln/>
        </p:spPr>
        <p:txBody>
          <a:bodyPr wrap="square" lIns="0" tIns="0" rIns="0" bIns="0" rtlCol="0" anchor="t"/>
          <a:lstStyle/>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Extract: </a:t>
            </a:r>
            <a:pPr indent="0" marL="0">
              <a:buNone/>
            </a:pPr>
            <a:r>
              <a:rPr lang="en-US" sz="2000" dirty="0">
                <a:solidFill>
                  <a:srgbClr val="1F2937"/>
                </a:solidFill>
                <a:latin typeface="Calibri" pitchFamily="34" charset="0"/>
                <a:ea typeface="Calibri" pitchFamily="34" charset="-122"/>
                <a:cs typeface="Calibri" pitchFamily="34" charset="-120"/>
              </a:rPr>
              <a:t>two fine-tuned SciBERT models on Amazon SageMaker find methods, tasks, datasets and metrics, and the relations between them.</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Store: </a:t>
            </a:r>
            <a:pPr indent="0" marL="0">
              <a:buNone/>
            </a:pPr>
            <a:r>
              <a:rPr lang="en-US" sz="2000" dirty="0">
                <a:solidFill>
                  <a:srgbClr val="1F2937"/>
                </a:solidFill>
                <a:latin typeface="Calibri" pitchFamily="34" charset="0"/>
                <a:ea typeface="Calibri" pitchFamily="34" charset="-122"/>
                <a:cs typeface="Calibri" pitchFamily="34" charset="-120"/>
              </a:rPr>
              <a:t>papers, authors, institutions and extracted entities go into a knowledge graph linked by typed edges.</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Ask: </a:t>
            </a:r>
            <a:pPr indent="0" marL="0">
              <a:buNone/>
            </a:pPr>
            <a:r>
              <a:rPr lang="en-US" sz="2000" dirty="0">
                <a:solidFill>
                  <a:srgbClr val="1F2937"/>
                </a:solidFill>
                <a:latin typeface="Calibri" pitchFamily="34" charset="0"/>
                <a:ea typeface="Calibri" pitchFamily="34" charset="-122"/>
                <a:cs typeface="Calibri" pitchFamily="34" charset="-120"/>
              </a:rPr>
              <a:t>GraphRAG retrieves the relevant facts; the LLM answers only from them and cites each source paper.</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Automatic: </a:t>
            </a:r>
            <a:pPr indent="0" marL="0">
              <a:buNone/>
            </a:pPr>
            <a:r>
              <a:rPr lang="en-US" sz="2000" dirty="0">
                <a:solidFill>
                  <a:srgbClr val="1F2937"/>
                </a:solidFill>
                <a:latin typeface="Calibri" pitchFamily="34" charset="0"/>
                <a:ea typeface="Calibri" pitchFamily="34" charset="-122"/>
                <a:cs typeface="Calibri" pitchFamily="34" charset="-120"/>
              </a:rPr>
              <a:t>a paper uploaded to Amazon S3 is processed without any manual step.</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Users: </a:t>
            </a:r>
            <a:pPr indent="0" marL="0">
              <a:buNone/>
            </a:pPr>
            <a:r>
              <a:rPr lang="en-US" sz="2000" dirty="0">
                <a:solidFill>
                  <a:srgbClr val="1F2937"/>
                </a:solidFill>
                <a:latin typeface="Calibri" pitchFamily="34" charset="0"/>
                <a:ea typeface="Calibri" pitchFamily="34" charset="-122"/>
                <a:cs typeface="Calibri" pitchFamily="34" charset="-120"/>
              </a:rPr>
              <a:t>researchers sign up and ask questions; project members can also upload papers.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Cloud deployment architecture (AWS)</a:t>
            </a:r>
            <a:endParaRPr lang="en-US" sz="3000" dirty="0"/>
          </a:p>
        </p:txBody>
      </p:sp>
      <p:pic>
        <p:nvPicPr>
          <p:cNvPr id="3" name="cloud-architecture" descr="C:\Users\dell\AppData\Local\Temp\claude\c--Users-dell-kg-team-repo\8863a82a-6178-4951-84c1-f342b336f3d8\scratchpad\report\img\fig1_cloud_architecture.png">    </p:cNvPr>
          <p:cNvPicPr>
            <a:picLocks noChangeAspect="1"/>
          </p:cNvPicPr>
          <p:nvPr/>
        </p:nvPicPr>
        <p:blipFill>
          <a:blip r:embed="rId1"/>
          <a:stretch>
            <a:fillRect/>
          </a:stretch>
        </p:blipFill>
        <p:spPr>
          <a:xfrm>
            <a:off x="548640" y="1188720"/>
            <a:ext cx="7237308" cy="5074920"/>
          </a:xfrm>
          <a:prstGeom prst="rect">
            <a:avLst/>
          </a:prstGeom>
        </p:spPr>
      </p:pic>
      <p:sp>
        <p:nvSpPr>
          <p:cNvPr id="4" name="Text 1"/>
          <p:cNvSpPr txBox="1"/>
          <p:nvPr/>
        </p:nvSpPr>
        <p:spPr>
          <a:xfrm>
            <a:off x="8183880" y="1371600"/>
            <a:ext cx="3474720" cy="4846320"/>
          </a:xfrm>
          <a:prstGeom prst="rect">
            <a:avLst/>
          </a:prstGeom>
          <a:noFill/>
          <a:ln/>
        </p:spPr>
        <p:txBody>
          <a:bodyPr wrap="square" lIns="0" tIns="0" rIns="0" bIns="0" rtlCol="0" anchor="t"/>
          <a:lstStyle/>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Dashboard on Amplify; sign-in with Cognito</a:t>
            </a:r>
            <a:endParaRPr lang="en-US" sz="1500" dirty="0"/>
          </a:p>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API Gateway checks the JWT, then calls the API Lambda</a:t>
            </a:r>
            <a:endParaRPr lang="en-US" sz="1500" dirty="0"/>
          </a:p>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S3 upload triggers the ingest Lambda, which calls SciBERT on SageMaker</a:t>
            </a:r>
            <a:endParaRPr lang="en-US" sz="1500" dirty="0"/>
          </a:p>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Results are written to the knowledge graph</a:t>
            </a:r>
            <a:endParaRPr lang="en-US" sz="1500" dirty="0"/>
          </a:p>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CloudWatch, X-Ray and SNS monitor both paths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Complete system workflow</a:t>
            </a:r>
            <a:endParaRPr lang="en-US" sz="3000" dirty="0"/>
          </a:p>
        </p:txBody>
      </p:sp>
      <p:pic>
        <p:nvPicPr>
          <p:cNvPr id="3" name="system-workflow" descr="C:\Users\dell\AppData\Local\Temp\claude\c--Users-dell-kg-team-repo\8863a82a-6178-4951-84c1-f342b336f3d8\scratchpad\report\img\fig2_system_workflow.png">    </p:cNvPr>
          <p:cNvPicPr>
            <a:picLocks noChangeAspect="1"/>
          </p:cNvPicPr>
          <p:nvPr/>
        </p:nvPicPr>
        <p:blipFill>
          <a:blip r:embed="rId1"/>
          <a:stretch>
            <a:fillRect/>
          </a:stretch>
        </p:blipFill>
        <p:spPr>
          <a:xfrm>
            <a:off x="548640" y="1188720"/>
            <a:ext cx="7680960" cy="4864110"/>
          </a:xfrm>
          <a:prstGeom prst="rect">
            <a:avLst/>
          </a:prstGeom>
        </p:spPr>
      </p:pic>
      <p:sp>
        <p:nvSpPr>
          <p:cNvPr id="4" name="Text 1"/>
          <p:cNvSpPr txBox="1"/>
          <p:nvPr/>
        </p:nvSpPr>
        <p:spPr>
          <a:xfrm>
            <a:off x="8412480" y="1371600"/>
            <a:ext cx="3246120" cy="4846320"/>
          </a:xfrm>
          <a:prstGeom prst="rect">
            <a:avLst/>
          </a:prstGeom>
          <a:noFill/>
          <a:ln/>
        </p:spPr>
        <p:txBody>
          <a:bodyPr wrap="square" lIns="0" tIns="0" rIns="0" bIns="0" rtlCol="0" anchor="t"/>
          <a:lstStyle/>
          <a:p>
            <a:pPr marL="279400" indent="-279400">
              <a:spcAft>
                <a:spcPts val="1600"/>
              </a:spcAft>
              <a:buSzPct val="100000"/>
              <a:buChar char="•"/>
            </a:pPr>
            <a:r>
              <a:rPr lang="en-US" sz="1500" b="1" dirty="0">
                <a:solidFill>
                  <a:srgbClr val="1F2937"/>
                </a:solidFill>
                <a:latin typeface="Calibri" pitchFamily="34" charset="0"/>
                <a:ea typeface="Calibri" pitchFamily="34" charset="-122"/>
                <a:cs typeface="Calibri" pitchFamily="34" charset="-120"/>
              </a:rPr>
              <a:t>Path A: </a:t>
            </a:r>
            <a:pPr indent="0" marL="0">
              <a:buNone/>
            </a:pPr>
            <a:r>
              <a:rPr lang="en-US" sz="1500" dirty="0">
                <a:solidFill>
                  <a:srgbClr val="1F2937"/>
                </a:solidFill>
                <a:latin typeface="Calibri" pitchFamily="34" charset="0"/>
                <a:ea typeface="Calibri" pitchFamily="34" charset="-122"/>
                <a:cs typeface="Calibri" pitchFamily="34" charset="-120"/>
              </a:rPr>
              <a:t>upload, S3 event, parse and enrich, SciBERT, write graph</a:t>
            </a:r>
            <a:endParaRPr lang="en-US" sz="1500" dirty="0"/>
          </a:p>
          <a:p>
            <a:pPr marL="279400" indent="-279400">
              <a:spcAft>
                <a:spcPts val="1600"/>
              </a:spcAft>
              <a:buSzPct val="100000"/>
              <a:buChar char="•"/>
            </a:pPr>
            <a:r>
              <a:rPr lang="en-US" sz="1500" b="1" dirty="0">
                <a:solidFill>
                  <a:srgbClr val="1F2937"/>
                </a:solidFill>
                <a:latin typeface="Calibri" pitchFamily="34" charset="0"/>
                <a:ea typeface="Calibri" pitchFamily="34" charset="-122"/>
                <a:cs typeface="Calibri" pitchFamily="34" charset="-120"/>
              </a:rPr>
              <a:t>Path B: </a:t>
            </a:r>
            <a:pPr indent="0" marL="0">
              <a:buNone/>
            </a:pPr>
            <a:r>
              <a:rPr lang="en-US" sz="1500" dirty="0">
                <a:solidFill>
                  <a:srgbClr val="1F2937"/>
                </a:solidFill>
                <a:latin typeface="Calibri" pitchFamily="34" charset="0"/>
                <a:ea typeface="Calibri" pitchFamily="34" charset="-122"/>
                <a:cs typeface="Calibri" pitchFamily="34" charset="-120"/>
              </a:rPr>
              <a:t>question, Cognito and API Gateway, graph retrieval, grounded LLM, dashboard</a:t>
            </a:r>
            <a:endParaRPr lang="en-US" sz="1500" dirty="0"/>
          </a:p>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Both paths share one knowledge graph</a:t>
            </a:r>
            <a:endParaRPr lang="en-US" sz="1500" dirty="0"/>
          </a:p>
          <a:p>
            <a:pPr marL="279400" indent="-279400">
              <a:spcAft>
                <a:spcPts val="1600"/>
              </a:spcAft>
              <a:buSzPct val="100000"/>
              <a:buChar char="•"/>
            </a:pPr>
            <a:r>
              <a:rPr lang="en-US" sz="1500" dirty="0">
                <a:solidFill>
                  <a:srgbClr val="1F2937"/>
                </a:solidFill>
                <a:latin typeface="Calibri" pitchFamily="34" charset="0"/>
                <a:ea typeface="Calibri" pitchFamily="34" charset="-122"/>
                <a:cs typeface="Calibri" pitchFamily="34" charset="-120"/>
              </a:rPr>
              <a:t>Members' uploads feed back into path A with live status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AWS services used</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10698480" cy="914400"/>
        </p:xfrm>
        <a:graphic>
          <a:graphicData uri="http://schemas.openxmlformats.org/drawingml/2006/table">
            <a:tbl>
              <a:tblPr/>
              <a:tblGrid>
                <a:gridCol w="3108960"/>
                <a:gridCol w="6217920"/>
                <a:gridCol w="1371600"/>
              </a:tblGrid>
              <a:tr h="566928">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Service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Purpose in the project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Status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Amazon S3</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Data lake for raw papers and upload status (encrypted, private)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Deployed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AWS Lambda</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Ingest function (parse, extract, write) and API function (GraphRAG, Explore)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Deployed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Amazon SageMaker</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Serverless endpoint serving the two SciBERT models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Deployed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Amazon API Gateway + Cognito</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HTTP API with JWT sign-in; members group for uploads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Deployed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AWS Amplify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Hosts the web dashboard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Deployed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CloudWatch, X-Ray, SNS, SQS, IAM</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Monitoring, alarms, tracing, dead-letter queue, least-privilege roles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Deployed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Neptune Analytics, Bedrock</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Original graph and LLM design (blocked on the Free plan)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Configured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Datasets</a:t>
            </a:r>
            <a:endParaRPr lang="en-US" sz="3000" dirty="0"/>
          </a:p>
        </p:txBody>
      </p:sp>
      <p:sp>
        <p:nvSpPr>
          <p:cNvPr id="3" name="Text 1"/>
          <p:cNvSpPr txBox="1"/>
          <p:nvPr/>
        </p:nvSpPr>
        <p:spPr>
          <a:xfrm>
            <a:off x="731520" y="1371600"/>
            <a:ext cx="10698480" cy="4754880"/>
          </a:xfrm>
          <a:prstGeom prst="rect">
            <a:avLst/>
          </a:prstGeom>
          <a:noFill/>
          <a:ln/>
        </p:spPr>
        <p:txBody>
          <a:bodyPr wrap="square" lIns="0" tIns="0" rIns="0" bIns="0" rtlCol="0" anchor="t"/>
          <a:lstStyle/>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OpenAlex (OurResearch, CC0): </a:t>
            </a:r>
            <a:pPr indent="0" marL="0">
              <a:buNone/>
            </a:pPr>
            <a:r>
              <a:rPr lang="en-US" sz="2000" dirty="0">
                <a:solidFill>
                  <a:srgbClr val="1F2937"/>
                </a:solidFill>
                <a:latin typeface="Calibri" pitchFamily="34" charset="0"/>
                <a:ea typeface="Calibri" pitchFamily="34" charset="-122"/>
                <a:cs typeface="Calibri" pitchFamily="34" charset="-120"/>
              </a:rPr>
              <a:t>over 300 million works; gives exact authors, institutions, venues and citations. Retracted works are filtered out.</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S2ORC (Allen Institute for AI): </a:t>
            </a:r>
            <a:pPr indent="0" marL="0">
              <a:buNone/>
            </a:pPr>
            <a:r>
              <a:rPr lang="en-US" sz="2000" dirty="0">
                <a:solidFill>
                  <a:srgbClr val="1F2937"/>
                </a:solidFill>
                <a:latin typeface="Calibri" pitchFamily="34" charset="0"/>
                <a:ea typeface="Calibri" pitchFamily="34" charset="-122"/>
                <a:cs typeface="Calibri" pitchFamily="34" charset="-120"/>
              </a:rPr>
              <a:t>over 12 million full-text papers; inline citation markers are resolved to the cited paper.</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SciERC (Luan et al., 2018): </a:t>
            </a:r>
            <a:pPr indent="0" marL="0">
              <a:buNone/>
            </a:pPr>
            <a:r>
              <a:rPr lang="en-US" sz="2000" dirty="0">
                <a:solidFill>
                  <a:srgbClr val="1F2937"/>
                </a:solidFill>
                <a:latin typeface="Calibri" pitchFamily="34" charset="0"/>
                <a:ea typeface="Calibri" pitchFamily="34" charset="-122"/>
                <a:cs typeface="Calibri" pitchFamily="34" charset="-120"/>
              </a:rPr>
              <a:t>500 annotated abstracts with 6 entity types and 7 relation types; used to train and test both models.</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Uploads: </a:t>
            </a:r>
            <a:pPr indent="0" marL="0">
              <a:buNone/>
            </a:pPr>
            <a:r>
              <a:rPr lang="en-US" sz="2000" dirty="0">
                <a:solidFill>
                  <a:srgbClr val="1F2937"/>
                </a:solidFill>
                <a:latin typeface="Calibri" pitchFamily="34" charset="0"/>
                <a:ea typeface="Calibri" pitchFamily="34" charset="-122"/>
                <a:cs typeface="Calibri" pitchFamily="34" charset="-120"/>
              </a:rPr>
              <a:t>PDFs from the dashboard are repaired, matched to OpenAlex and processed like any other paper.</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Storage: </a:t>
            </a:r>
            <a:pPr indent="0" marL="0">
              <a:buNone/>
            </a:pPr>
            <a:r>
              <a:rPr lang="en-US" sz="2000" dirty="0">
                <a:solidFill>
                  <a:srgbClr val="1F2937"/>
                </a:solidFill>
                <a:latin typeface="Calibri" pitchFamily="34" charset="0"/>
                <a:ea typeface="Calibri" pitchFamily="34" charset="-122"/>
                <a:cs typeface="Calibri" pitchFamily="34" charset="-120"/>
              </a:rPr>
              <a:t>raw data is fetched by scripts and kept in S3, not in Git.</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Ingestion pipeline</a:t>
            </a:r>
            <a:endParaRPr lang="en-US" sz="3000" dirty="0"/>
          </a:p>
        </p:txBody>
      </p:sp>
      <p:sp>
        <p:nvSpPr>
          <p:cNvPr id="3" name="Text 1"/>
          <p:cNvSpPr txBox="1"/>
          <p:nvPr/>
        </p:nvSpPr>
        <p:spPr>
          <a:xfrm>
            <a:off x="731520" y="1371600"/>
            <a:ext cx="6949440" cy="4754880"/>
          </a:xfrm>
          <a:prstGeom prst="rect">
            <a:avLst/>
          </a:prstGeom>
          <a:noFill/>
          <a:ln/>
        </p:spPr>
        <p:txBody>
          <a:bodyPr wrap="square" lIns="0" tIns="0" rIns="0" bIns="0" rtlCol="0" anchor="t"/>
          <a:lstStyle/>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1. Upload: </a:t>
            </a:r>
            <a:pPr indent="0" marL="0">
              <a:buNone/>
            </a:pPr>
            <a:r>
              <a:rPr lang="en-US" sz="2000" dirty="0">
                <a:solidFill>
                  <a:srgbClr val="1F2937"/>
                </a:solidFill>
                <a:latin typeface="Calibri" pitchFamily="34" charset="0"/>
                <a:ea typeface="Calibri" pitchFamily="34" charset="-122"/>
                <a:cs typeface="Calibri" pitchFamily="34" charset="-120"/>
              </a:rPr>
              <a:t>a PDF or JSON file lands in the S3 raw/ folder.</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2. Trigger: </a:t>
            </a:r>
            <a:pPr indent="0" marL="0">
              <a:buNone/>
            </a:pPr>
            <a:r>
              <a:rPr lang="en-US" sz="2000" dirty="0">
                <a:solidFill>
                  <a:srgbClr val="1F2937"/>
                </a:solidFill>
                <a:latin typeface="Calibri" pitchFamily="34" charset="0"/>
                <a:ea typeface="Calibri" pitchFamily="34" charset="-122"/>
                <a:cs typeface="Calibri" pitchFamily="34" charset="-120"/>
              </a:rPr>
              <a:t>the S3 event starts the ingest Lambda automatically.</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3. Parse and enrich: </a:t>
            </a:r>
            <a:pPr indent="0" marL="0">
              <a:buNone/>
            </a:pPr>
            <a:r>
              <a:rPr lang="en-US" sz="2000" dirty="0">
                <a:solidFill>
                  <a:srgbClr val="1F2937"/>
                </a:solidFill>
                <a:latin typeface="Calibri" pitchFamily="34" charset="0"/>
                <a:ea typeface="Calibri" pitchFamily="34" charset="-122"/>
                <a:cs typeface="Calibri" pitchFamily="34" charset="-120"/>
              </a:rPr>
              <a:t>repair PDF text, resolve citations, match the paper to OpenAlex.</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4. Extract: </a:t>
            </a:r>
            <a:pPr indent="0" marL="0">
              <a:buNone/>
            </a:pPr>
            <a:r>
              <a:rPr lang="en-US" sz="2000" dirty="0">
                <a:solidFill>
                  <a:srgbClr val="1F2937"/>
                </a:solidFill>
                <a:latin typeface="Calibri" pitchFamily="34" charset="0"/>
                <a:ea typeface="Calibri" pitchFamily="34" charset="-122"/>
                <a:cs typeface="Calibri" pitchFamily="34" charset="-120"/>
              </a:rPr>
              <a:t>SciBERT on SageMaker finds entities and relations in every sentence.</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5. Write: </a:t>
            </a:r>
            <a:pPr indent="0" marL="0">
              <a:buNone/>
            </a:pPr>
            <a:r>
              <a:rPr lang="en-US" sz="2000" dirty="0">
                <a:solidFill>
                  <a:srgbClr val="1F2937"/>
                </a:solidFill>
                <a:latin typeface="Calibri" pitchFamily="34" charset="0"/>
                <a:ea typeface="Calibri" pitchFamily="34" charset="-122"/>
                <a:cs typeface="Calibri" pitchFamily="34" charset="-120"/>
              </a:rPr>
              <a:t>names are cleaned up and merged into the graph; failures go to a dead-letter queue.</a:t>
            </a:r>
            <a:endParaRPr lang="en-US" sz="2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046720" y="1463040"/>
          <a:ext cx="3566160" cy="914400"/>
        </p:xfrm>
        <a:graphic>
          <a:graphicData uri="http://schemas.openxmlformats.org/drawingml/2006/table">
            <a:tbl>
              <a:tblPr/>
              <a:tblGrid>
                <a:gridCol w="1554480"/>
                <a:gridCol w="2011680"/>
              </a:tblGrid>
              <a:tr h="54864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Measure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Throughput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~1,350 papers/hour</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Final rebuild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306 docs, 0 failures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One upload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~49 s to the graph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Per document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10.9 s median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Entity recognition with SciBERT</a:t>
            </a:r>
            <a:endParaRPr lang="en-US" sz="3000" dirty="0"/>
          </a:p>
        </p:txBody>
      </p:sp>
      <p:graphicFrame>
        <p:nvGraphicFramePr>
          <p:cNvPr id="3" name="ner-chart" descr=""/>
          <p:cNvGraphicFramePr/>
          <p:nvPr/>
        </p:nvGraphicFramePr>
        <p:xfrm>
          <a:off x="548640" y="1280160"/>
          <a:ext cx="621792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040880" y="1371600"/>
            <a:ext cx="4572000" cy="4846320"/>
          </a:xfrm>
          <a:prstGeom prst="rect">
            <a:avLst/>
          </a:prstGeom>
          <a:noFill/>
          <a:ln/>
        </p:spPr>
        <p:txBody>
          <a:bodyPr wrap="square" lIns="0" tIns="0" rIns="0" bIns="0" rtlCol="0" anchor="t"/>
          <a:lstStyle/>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Fine-tuned allenai/scibert_scivocab_uncased for token classification</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Overall F1 0.618; Methods 0.707</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Trained on a laptop CPU (SageMaker training quota is 0), served on SageMaker</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Papers with entities: 189/304 (rules) to 305/305</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Paper-to-entity links: 377 to 6,063</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Relation extraction with SciBERT</a:t>
            </a:r>
            <a:endParaRPr lang="en-US" sz="3000" dirty="0"/>
          </a:p>
        </p:txBody>
      </p:sp>
      <p:graphicFrame>
        <p:nvGraphicFramePr>
          <p:cNvPr id="3" name="re-chart" descr=""/>
          <p:cNvGraphicFramePr/>
          <p:nvPr/>
        </p:nvGraphicFramePr>
        <p:xfrm>
          <a:off x="548640" y="1280160"/>
          <a:ext cx="621792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040880" y="1371600"/>
            <a:ext cx="4572000" cy="4846320"/>
          </a:xfrm>
          <a:prstGeom prst="rect">
            <a:avLst/>
          </a:prstGeom>
          <a:noFill/>
          <a:ln/>
        </p:spPr>
        <p:txBody>
          <a:bodyPr wrap="square" lIns="0" tIns="0" rIns="0" bIns="0" rtlCol="0" anchor="t"/>
          <a:lstStyle/>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Classifies each pair of entities as one of 7 relations or none</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Typed entity markers show the model each entity's type</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Reads the encoder at the entity start markers instead of [CLS]</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Best epoch and threshold chosen on dev only</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865 typed relations in the graph (APPLIED_TO, EVALUATED_ON, ...)</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The knowledge graph</a:t>
            </a:r>
            <a:endParaRPr lang="en-US" sz="3000" dirty="0"/>
          </a:p>
        </p:txBody>
      </p:sp>
      <p:sp>
        <p:nvSpPr>
          <p:cNvPr id="3" name="Text 1"/>
          <p:cNvSpPr txBox="1"/>
          <p:nvPr/>
        </p:nvSpPr>
        <p:spPr>
          <a:xfrm>
            <a:off x="731520" y="1371600"/>
            <a:ext cx="6949440" cy="4754880"/>
          </a:xfrm>
          <a:prstGeom prst="rect">
            <a:avLst/>
          </a:prstGeom>
          <a:noFill/>
          <a:ln/>
        </p:spPr>
        <p:txBody>
          <a:bodyPr wrap="square" lIns="0" tIns="0" rIns="0" bIns="0" rtlCol="0" anchor="t"/>
          <a:lstStyle/>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Nodes: </a:t>
            </a:r>
            <a:pPr indent="0" marL="0">
              <a:buNone/>
            </a:pPr>
            <a:r>
              <a:rPr lang="en-US" sz="1700" dirty="0">
                <a:solidFill>
                  <a:srgbClr val="1F2937"/>
                </a:solidFill>
                <a:latin typeface="Calibri" pitchFamily="34" charset="0"/>
                <a:ea typeface="Calibri" pitchFamily="34" charset="-122"/>
                <a:cs typeface="Calibri" pitchFamily="34" charset="-120"/>
              </a:rPr>
              <a:t>Paper, Author, Institution, Venue, Concept, Method, Task, Dataset, Metric.</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Metadata edges: </a:t>
            </a:r>
            <a:pPr indent="0" marL="0">
              <a:buNone/>
            </a:pPr>
            <a:r>
              <a:rPr lang="en-US" sz="1700" dirty="0">
                <a:solidFill>
                  <a:srgbClr val="1F2937"/>
                </a:solidFill>
                <a:latin typeface="Calibri" pitchFamily="34" charset="0"/>
                <a:ea typeface="Calibri" pitchFamily="34" charset="-122"/>
                <a:cs typeface="Calibri" pitchFamily="34" charset="-120"/>
              </a:rPr>
              <a:t>AUTHORED, AFFILIATED_WITH, PUBLISHED_IN, CITES, HAS_CONCEPT.</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Extracted edges: </a:t>
            </a:r>
            <a:pPr indent="0" marL="0">
              <a:buNone/>
            </a:pPr>
            <a:r>
              <a:rPr lang="en-US" sz="1700" dirty="0">
                <a:solidFill>
                  <a:srgbClr val="1F2937"/>
                </a:solidFill>
                <a:latin typeface="Calibri" pitchFamily="34" charset="0"/>
                <a:ea typeface="Calibri" pitchFamily="34" charset="-122"/>
                <a:cs typeface="Calibri" pitchFamily="34" charset="-120"/>
              </a:rPr>
              <a:t>USES_METHOD, APPLIED_TO, EVALUATED_ON, MEASURED_BY, COMPARED_WITH, IS_A, PART_OF.</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Outcomes: </a:t>
            </a:r>
            <a:pPr indent="0" marL="0">
              <a:buNone/>
            </a:pPr>
            <a:r>
              <a:rPr lang="en-US" sz="1700" dirty="0">
                <a:solidFill>
                  <a:srgbClr val="1F2937"/>
                </a:solidFill>
                <a:latin typeface="Calibri" pitchFamily="34" charset="0"/>
                <a:ea typeface="Calibri" pitchFamily="34" charset="-122"/>
                <a:cs typeface="Calibri" pitchFamily="34" charset="-120"/>
              </a:rPr>
              <a:t>reported values (e.g. F1 = 91.4%) are stored on the edges.</a:t>
            </a:r>
            <a:endParaRPr lang="en-US" sz="1700" dirty="0"/>
          </a:p>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Queries: </a:t>
            </a:r>
            <a:pPr indent="0" marL="0">
              <a:buNone/>
            </a:pPr>
            <a:r>
              <a:rPr lang="en-US" sz="1700" dirty="0">
                <a:solidFill>
                  <a:srgbClr val="1F2937"/>
                </a:solidFill>
                <a:latin typeface="Calibri" pitchFamily="34" charset="0"/>
                <a:ea typeface="Calibri" pitchFamily="34" charset="-122"/>
                <a:cs typeface="Calibri" pitchFamily="34" charset="-120"/>
              </a:rPr>
              <a:t>openCypher, so the same queries run on Neo4j AuraDB and Amazon Neptune Analytics.</a:t>
            </a:r>
            <a:endParaRPr lang="en-US" sz="1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046720" y="1463040"/>
          <a:ext cx="3566160" cy="914400"/>
        </p:xfrm>
        <a:graphic>
          <a:graphicData uri="http://schemas.openxmlformats.org/drawingml/2006/table">
            <a:tbl>
              <a:tblPr/>
              <a:tblGrid>
                <a:gridCol w="2011680"/>
                <a:gridCol w="1554480"/>
              </a:tblGrid>
              <a:tr h="50292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Graph size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Count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Nodes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29,320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Relationships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42,015</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Papers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20,746</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Authors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1,674</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Methods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2,416</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Tasks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1,727</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029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Datasets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779</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GraphRAG question answering</a:t>
            </a:r>
            <a:endParaRPr lang="en-US" sz="3000" dirty="0"/>
          </a:p>
        </p:txBody>
      </p:sp>
      <p:sp>
        <p:nvSpPr>
          <p:cNvPr id="3" name="Text 1"/>
          <p:cNvSpPr txBox="1"/>
          <p:nvPr/>
        </p:nvSpPr>
        <p:spPr>
          <a:xfrm>
            <a:off x="731520" y="1371600"/>
            <a:ext cx="10698480" cy="4754880"/>
          </a:xfrm>
          <a:prstGeom prst="rect">
            <a:avLst/>
          </a:prstGeom>
          <a:noFill/>
          <a:ln/>
        </p:spPr>
        <p:txBody>
          <a:bodyPr wrap="square" lIns="0" tIns="0" rIns="0" bIns="0" rtlCol="0" anchor="t"/>
          <a:lstStyle/>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1. Entity linking: </a:t>
            </a:r>
            <a:pPr indent="0" marL="0">
              <a:buNone/>
            </a:pPr>
            <a:r>
              <a:rPr lang="en-US" sz="2000" dirty="0">
                <a:solidFill>
                  <a:srgbClr val="1F2937"/>
                </a:solidFill>
                <a:latin typeface="Calibri" pitchFamily="34" charset="0"/>
                <a:ea typeface="Calibri" pitchFamily="34" charset="-122"/>
                <a:cs typeface="Calibri" pitchFamily="34" charset="-120"/>
              </a:rPr>
              <a:t>match words and phrases in the question to graph nodes.</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2. Multi-hop expansion: </a:t>
            </a:r>
            <a:pPr indent="0" marL="0">
              <a:buNone/>
            </a:pPr>
            <a:r>
              <a:rPr lang="en-US" sz="2000" dirty="0">
                <a:solidFill>
                  <a:srgbClr val="1F2937"/>
                </a:solidFill>
                <a:latin typeface="Calibri" pitchFamily="34" charset="0"/>
                <a:ea typeface="Calibri" pitchFamily="34" charset="-122"/>
                <a:cs typeface="Calibri" pitchFamily="34" charset="-120"/>
              </a:rPr>
              <a:t>collect neighbours and paths of up to 3 hops, with 27 graph queries in parallel.</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3. Ranking: </a:t>
            </a:r>
            <a:pPr indent="0" marL="0">
              <a:buNone/>
            </a:pPr>
            <a:r>
              <a:rPr lang="en-US" sz="2000" dirty="0">
                <a:solidFill>
                  <a:srgbClr val="1F2937"/>
                </a:solidFill>
                <a:latin typeface="Calibri" pitchFamily="34" charset="0"/>
                <a:ea typeface="Calibri" pitchFamily="34" charset="-122"/>
                <a:cs typeface="Calibri" pitchFamily="34" charset="-120"/>
              </a:rPr>
              <a:t>score each fact by match quality, relation type and the question's wording.</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4. Grounded generation: </a:t>
            </a:r>
            <a:pPr indent="0" marL="0">
              <a:buNone/>
            </a:pPr>
            <a:r>
              <a:rPr lang="en-US" sz="2000" dirty="0">
                <a:solidFill>
                  <a:srgbClr val="1F2937"/>
                </a:solidFill>
                <a:latin typeface="Calibri" pitchFamily="34" charset="0"/>
                <a:ea typeface="Calibri" pitchFamily="34" charset="-122"/>
                <a:cs typeface="Calibri" pitchFamily="34" charset="-120"/>
              </a:rPr>
              <a:t>the LLM gets only the top 30 facts and must cite [doc:id] for every statement.</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5. Failover: </a:t>
            </a:r>
            <a:pPr indent="0" marL="0">
              <a:buNone/>
            </a:pPr>
            <a:r>
              <a:rPr lang="en-US" sz="2000" dirty="0">
                <a:solidFill>
                  <a:srgbClr val="1F2937"/>
                </a:solidFill>
                <a:latin typeface="Calibri" pitchFamily="34" charset="0"/>
                <a:ea typeface="Calibri" pitchFamily="34" charset="-122"/>
                <a:cs typeface="Calibri" pitchFamily="34" charset="-120"/>
              </a:rPr>
              <a:t>Groq, then Gemini; if no LLM answers in 22 s, the cited facts are returned instead.</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Result: hallucination test</a:t>
            </a:r>
            <a:endParaRPr lang="en-US" sz="3000" dirty="0"/>
          </a:p>
        </p:txBody>
      </p:sp>
      <p:graphicFrame>
        <p:nvGraphicFramePr>
          <p:cNvPr id="3" name="hallucination-chart" descr=""/>
          <p:cNvGraphicFramePr/>
          <p:nvPr/>
        </p:nvGraphicFramePr>
        <p:xfrm>
          <a:off x="548640" y="1280160"/>
          <a:ext cx="658368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06640" y="1371600"/>
            <a:ext cx="4206240" cy="4846320"/>
          </a:xfrm>
          <a:prstGeom prst="rect">
            <a:avLst/>
          </a:prstGeom>
          <a:noFill/>
          <a:ln/>
        </p:spPr>
        <p:txBody>
          <a:bodyPr wrap="square" lIns="0" tIns="0" rIns="0" bIns="0" rtlCol="0" anchor="t"/>
          <a:lstStyle/>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Same model (gpt-oss-120b), same 28 questions, with and without the graph</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Without the graph: 62.5% confident wrong answers, no citations</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With GraphRAG: every answerable question correct, 0% hallucination</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Citation precision 98.3%</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Both refused questions about made-up entities, so the gain comes from grounding</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Dashboard: Ask</a:t>
            </a:r>
            <a:endParaRPr lang="en-US" sz="3000" dirty="0"/>
          </a:p>
        </p:txBody>
      </p:sp>
      <p:pic>
        <p:nvPicPr>
          <p:cNvPr id="3" name="ask-screenshot" descr="C:\Users\dell\AppData\Local\Temp\claude\c--Users-dell-kg-team-repo\8863a82a-6178-4951-84c1-f342b336f3d8\scratchpad\report\img\03_ask.png">    </p:cNvPr>
          <p:cNvPicPr>
            <a:picLocks noChangeAspect="1"/>
          </p:cNvPicPr>
          <p:nvPr/>
        </p:nvPicPr>
        <p:blipFill>
          <a:blip r:embed="rId1"/>
          <a:stretch>
            <a:fillRect/>
          </a:stretch>
        </p:blipFill>
        <p:spPr>
          <a:xfrm>
            <a:off x="548640" y="1188720"/>
            <a:ext cx="7680960" cy="4800600"/>
          </a:xfrm>
          <a:prstGeom prst="rect">
            <a:avLst/>
          </a:prstGeom>
        </p:spPr>
      </p:pic>
      <p:sp>
        <p:nvSpPr>
          <p:cNvPr id="4" name="Text 1"/>
          <p:cNvSpPr txBox="1"/>
          <p:nvPr/>
        </p:nvSpPr>
        <p:spPr>
          <a:xfrm>
            <a:off x="8503920" y="1371600"/>
            <a:ext cx="3154680" cy="4846320"/>
          </a:xfrm>
          <a:prstGeom prst="rect">
            <a:avLst/>
          </a:prstGeom>
          <a:noFill/>
          <a:ln/>
        </p:spPr>
        <p:txBody>
          <a:bodyPr wrap="square" lIns="0" tIns="0" rIns="0" bIns="0" rtlCol="0" anchor="t"/>
          <a:lstStyle/>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Question typed in plain English</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Short answer; each line cites its source paper</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Centre: the graph of retrieved facts</a:t>
            </a:r>
            <a:endParaRPr lang="en-US" sz="1600" dirty="0"/>
          </a:p>
          <a:p>
            <a:pPr marL="279400" indent="-279400">
              <a:spcAft>
                <a:spcPts val="1600"/>
              </a:spcAft>
              <a:buSzPct val="100000"/>
              <a:buChar char="•"/>
            </a:pPr>
            <a:r>
              <a:rPr lang="en-US" sz="1600" dirty="0">
                <a:solidFill>
                  <a:srgbClr val="1F2937"/>
                </a:solidFill>
                <a:latin typeface="Calibri" pitchFamily="34" charset="0"/>
                <a:ea typeface="Calibri" pitchFamily="34" charset="-122"/>
                <a:cs typeface="Calibri" pitchFamily="34" charset="-120"/>
              </a:rPr>
              <a:t>Right: live graph size and member upload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Dashboard: Explore and Connect</a:t>
            </a:r>
            <a:endParaRPr lang="en-US" sz="3000" dirty="0"/>
          </a:p>
        </p:txBody>
      </p:sp>
      <p:pic>
        <p:nvPicPr>
          <p:cNvPr id="3" name="explore-screenshot" descr="C:\Users\dell\AppData\Local\Temp\claude\c--Users-dell-kg-team-repo\8863a82a-6178-4951-84c1-f342b336f3d8\scratchpad\deck\img\explore.png">    </p:cNvPr>
          <p:cNvPicPr>
            <a:picLocks noChangeAspect="1"/>
          </p:cNvPicPr>
          <p:nvPr/>
        </p:nvPicPr>
        <p:blipFill>
          <a:blip r:embed="rId1"/>
          <a:stretch>
            <a:fillRect/>
          </a:stretch>
        </p:blipFill>
        <p:spPr>
          <a:xfrm>
            <a:off x="548640" y="1188720"/>
            <a:ext cx="4206240" cy="4585419"/>
          </a:xfrm>
          <a:prstGeom prst="rect">
            <a:avLst/>
          </a:prstGeom>
        </p:spPr>
      </p:pic>
      <p:pic>
        <p:nvPicPr>
          <p:cNvPr id="4" name="connect-screenshot" descr="C:\Users\dell\AppData\Local\Temp\claude\c--Users-dell-kg-team-repo\8863a82a-6178-4951-84c1-f342b336f3d8\scratchpad\report\img\05_connect.png">    </p:cNvPr>
          <p:cNvPicPr>
            <a:picLocks noChangeAspect="1"/>
          </p:cNvPicPr>
          <p:nvPr/>
        </p:nvPicPr>
        <p:blipFill>
          <a:blip r:embed="rId2"/>
          <a:stretch>
            <a:fillRect/>
          </a:stretch>
        </p:blipFill>
        <p:spPr>
          <a:xfrm>
            <a:off x="4983480" y="1188720"/>
            <a:ext cx="3998214" cy="5029200"/>
          </a:xfrm>
          <a:prstGeom prst="rect">
            <a:avLst/>
          </a:prstGeom>
        </p:spPr>
      </p:pic>
      <p:sp>
        <p:nvSpPr>
          <p:cNvPr id="5" name="Text 1"/>
          <p:cNvSpPr txBox="1"/>
          <p:nvPr/>
        </p:nvSpPr>
        <p:spPr>
          <a:xfrm>
            <a:off x="9235440" y="1371600"/>
            <a:ext cx="2423160" cy="4846320"/>
          </a:xfrm>
          <a:prstGeom prst="rect">
            <a:avLst/>
          </a:prstGeom>
          <a:noFill/>
          <a:ln/>
        </p:spPr>
        <p:txBody>
          <a:bodyPr wrap="square" lIns="0" tIns="0" rIns="0" bIns="0" rtlCol="0" anchor="t"/>
          <a:lstStyle/>
          <a:p>
            <a:pPr marL="279400" indent="-279400">
              <a:spcAft>
                <a:spcPts val="1600"/>
              </a:spcAft>
              <a:buSzPct val="100000"/>
              <a:buChar char="•"/>
            </a:pPr>
            <a:r>
              <a:rPr lang="en-US" sz="1500" b="1" dirty="0">
                <a:solidFill>
                  <a:srgbClr val="1F2937"/>
                </a:solidFill>
                <a:latin typeface="Calibri" pitchFamily="34" charset="0"/>
                <a:ea typeface="Calibri" pitchFamily="34" charset="-122"/>
                <a:cs typeface="Calibri" pitchFamily="34" charset="-120"/>
              </a:rPr>
              <a:t>Explore: </a:t>
            </a:r>
            <a:pPr indent="0" marL="0">
              <a:buNone/>
            </a:pPr>
            <a:r>
              <a:rPr lang="en-US" sz="1500" dirty="0">
                <a:solidFill>
                  <a:srgbClr val="1F2937"/>
                </a:solidFill>
                <a:latin typeface="Calibri" pitchFamily="34" charset="0"/>
                <a:ea typeface="Calibri" pitchFamily="34" charset="-122"/>
                <a:cs typeface="Calibri" pitchFamily="34" charset="-120"/>
              </a:rPr>
              <a:t>everything connected to an entity</a:t>
            </a:r>
            <a:endParaRPr lang="en-US" sz="1500" dirty="0"/>
          </a:p>
          <a:p>
            <a:pPr marL="279400" indent="-279400">
              <a:spcAft>
                <a:spcPts val="1600"/>
              </a:spcAft>
              <a:buSzPct val="100000"/>
              <a:buChar char="•"/>
            </a:pPr>
            <a:r>
              <a:rPr lang="en-US" sz="1500" b="1" dirty="0">
                <a:solidFill>
                  <a:srgbClr val="1F2937"/>
                </a:solidFill>
                <a:latin typeface="Calibri" pitchFamily="34" charset="0"/>
                <a:ea typeface="Calibri" pitchFamily="34" charset="-122"/>
                <a:cs typeface="Calibri" pitchFamily="34" charset="-120"/>
              </a:rPr>
              <a:t>Connect: </a:t>
            </a:r>
            <a:pPr indent="0" marL="0">
              <a:buNone/>
            </a:pPr>
            <a:r>
              <a:rPr lang="en-US" sz="1500" dirty="0">
                <a:solidFill>
                  <a:srgbClr val="1F2937"/>
                </a:solidFill>
                <a:latin typeface="Calibri" pitchFamily="34" charset="0"/>
                <a:ea typeface="Calibri" pitchFamily="34" charset="-122"/>
                <a:cs typeface="Calibri" pitchFamily="34" charset="-120"/>
              </a:rPr>
              <a:t>shortest chain between two entities, e.g. TransE to BERT in 3 hops</a:t>
            </a:r>
            <a:endParaRPr lang="en-US" sz="1500" dirty="0"/>
          </a:p>
          <a:p>
            <a:pPr marL="279400" indent="-279400">
              <a:spcAft>
                <a:spcPts val="1600"/>
              </a:spcAft>
              <a:buSzPct val="100000"/>
              <a:buChar char="•"/>
            </a:pPr>
            <a:r>
              <a:rPr lang="en-US" sz="1500" b="1" dirty="0">
                <a:solidFill>
                  <a:srgbClr val="1F2937"/>
                </a:solidFill>
                <a:latin typeface="Calibri" pitchFamily="34" charset="0"/>
                <a:ea typeface="Calibri" pitchFamily="34" charset="-122"/>
                <a:cs typeface="Calibri" pitchFamily="34" charset="-120"/>
              </a:rPr>
              <a:t>Research 360: </a:t>
            </a:r>
            <a:pPr indent="0" marL="0">
              <a:buNone/>
            </a:pPr>
            <a:r>
              <a:rPr lang="en-US" sz="1500" dirty="0">
                <a:solidFill>
                  <a:srgbClr val="1F2937"/>
                </a:solidFill>
                <a:latin typeface="Calibri" pitchFamily="34" charset="0"/>
                <a:ea typeface="Calibri" pitchFamily="34" charset="-122"/>
                <a:cs typeface="Calibri" pitchFamily="34" charset="-120"/>
              </a:rPr>
              <a:t>papers per year, collaborators, related methods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Security and reliability</a:t>
            </a:r>
            <a:endParaRPr lang="en-US" sz="3000" dirty="0"/>
          </a:p>
        </p:txBody>
      </p:sp>
      <p:sp>
        <p:nvSpPr>
          <p:cNvPr id="3" name="Text 1"/>
          <p:cNvSpPr txBox="1"/>
          <p:nvPr/>
        </p:nvSpPr>
        <p:spPr>
          <a:xfrm>
            <a:off x="731520" y="1371600"/>
            <a:ext cx="10698480" cy="4754880"/>
          </a:xfrm>
          <a:prstGeom prst="rect">
            <a:avLst/>
          </a:prstGeom>
          <a:noFill/>
          <a:ln/>
        </p:spPr>
        <p:txBody>
          <a:bodyPr wrap="square" lIns="0" tIns="0" rIns="0" bIns="0" rtlCol="0" anchor="t"/>
          <a:lstStyle/>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Authentication: </a:t>
            </a:r>
            <a:pPr indent="0" marL="0">
              <a:buNone/>
            </a:pPr>
            <a:r>
              <a:rPr lang="en-US" sz="2000" dirty="0">
                <a:solidFill>
                  <a:srgbClr val="1F2937"/>
                </a:solidFill>
                <a:latin typeface="Calibri" pitchFamily="34" charset="0"/>
                <a:ea typeface="Calibri" pitchFamily="34" charset="-122"/>
                <a:cs typeface="Calibri" pitchFamily="34" charset="-120"/>
              </a:rPr>
              <a:t>Cognito sign-up with e-mail verification; every private API call needs a valid JWT.</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Least privilege: </a:t>
            </a:r>
            <a:pPr indent="0" marL="0">
              <a:buNone/>
            </a:pPr>
            <a:r>
              <a:rPr lang="en-US" sz="2000" dirty="0">
                <a:solidFill>
                  <a:srgbClr val="1F2937"/>
                </a:solidFill>
                <a:latin typeface="Calibri" pitchFamily="34" charset="0"/>
                <a:ea typeface="Calibri" pitchFamily="34" charset="-122"/>
                <a:cs typeface="Calibri" pitchFamily="34" charset="-120"/>
              </a:rPr>
              <a:t>each Lambda has its own IAM role, limited to one S3 prefix and one SageMaker endpoint.</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Data protection: </a:t>
            </a:r>
            <a:pPr indent="0" marL="0">
              <a:buNone/>
            </a:pPr>
            <a:r>
              <a:rPr lang="en-US" sz="2000" dirty="0">
                <a:solidFill>
                  <a:srgbClr val="1F2937"/>
                </a:solidFill>
                <a:latin typeface="Calibri" pitchFamily="34" charset="0"/>
                <a:ea typeface="Calibri" pitchFamily="34" charset="-122"/>
                <a:cs typeface="Calibri" pitchFamily="34" charset="-120"/>
              </a:rPr>
              <a:t>S3 encryption, public access blocked, short-lived presigned upload URLs; secrets never in Git.</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Fault handling: </a:t>
            </a:r>
            <a:pPr indent="0" marL="0">
              <a:buNone/>
            </a:pPr>
            <a:r>
              <a:rPr lang="en-US" sz="2000" dirty="0">
                <a:solidFill>
                  <a:srgbClr val="1F2937"/>
                </a:solidFill>
                <a:latin typeface="Calibri" pitchFamily="34" charset="0"/>
                <a:ea typeface="Calibri" pitchFamily="34" charset="-122"/>
                <a:cs typeface="Calibri" pitchFamily="34" charset="-120"/>
              </a:rPr>
              <a:t>retries, an SQS dead-letter queue (14 days), back-off on throttling, LLM failover.</a:t>
            </a:r>
            <a:endParaRPr lang="en-US" sz="2000" dirty="0"/>
          </a:p>
          <a:p>
            <a:pPr marL="279400" indent="-279400">
              <a:spcAft>
                <a:spcPts val="1600"/>
              </a:spcAft>
              <a:buSzPct val="100000"/>
              <a:buChar char="•"/>
            </a:pPr>
            <a:r>
              <a:rPr lang="en-US" sz="2000" b="1" dirty="0">
                <a:solidFill>
                  <a:srgbClr val="1F2937"/>
                </a:solidFill>
                <a:latin typeface="Calibri" pitchFamily="34" charset="0"/>
                <a:ea typeface="Calibri" pitchFamily="34" charset="-122"/>
                <a:cs typeface="Calibri" pitchFamily="34" charset="-120"/>
              </a:rPr>
              <a:t>Monitoring: </a:t>
            </a:r>
            <a:pPr indent="0" marL="0">
              <a:buNone/>
            </a:pPr>
            <a:r>
              <a:rPr lang="en-US" sz="2000" dirty="0">
                <a:solidFill>
                  <a:srgbClr val="1F2937"/>
                </a:solidFill>
                <a:latin typeface="Calibri" pitchFamily="34" charset="0"/>
                <a:ea typeface="Calibri" pitchFamily="34" charset="-122"/>
                <a:cs typeface="Calibri" pitchFamily="34" charset="-120"/>
              </a:rPr>
              <a:t>CloudWatch dashboard, Logs Insights queries, two alarms e-mailed through SNS, X-Ray traces.</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Testing and performance</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7040880"/>
                <a:gridCol w="3657600"/>
              </a:tblGrid>
              <a:tr h="566928">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Test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Result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End-to-end test on the live system (sign-in, all routes, upload to graph)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13 / 13 checks pass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Unit tests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33 passing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Request without login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Rejected (401)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Graph retrieval latency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0.535 s average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API server errors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 in 240 requests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66928">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Dashboard page load / accessibility scan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0.24-0.66 s / 0 violations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731520" y="5760720"/>
            <a:ext cx="10698480" cy="457200"/>
          </a:xfrm>
          <a:prstGeom prst="rect">
            <a:avLst/>
          </a:prstGeom>
          <a:noFill/>
          <a:ln/>
        </p:spPr>
        <p:txBody>
          <a:bodyPr wrap="square" lIns="0" tIns="0" rIns="0" bIns="0" rtlCol="0" anchor="t"/>
          <a:lstStyle/>
          <a:p>
            <a:pPr indent="0" marL="0">
              <a:buNone/>
            </a:pPr>
            <a:r>
              <a:rPr lang="en-US" sz="1300" i="1" dirty="0">
                <a:solidFill>
                  <a:srgbClr val="4B5563"/>
                </a:solidFill>
                <a:latin typeface="Calibri" pitchFamily="34" charset="0"/>
                <a:ea typeface="Calibri" pitchFamily="34" charset="-122"/>
                <a:cs typeface="Calibri" pitchFamily="34" charset="-120"/>
              </a:rPr>
              <a:t>Testing also found defects we fixed: repeated paths in Connect, duplicate nodes from parallel writes, placeholder sample data and a contrast issue.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Cost</a:t>
            </a:r>
            <a:endParaRPr lang="en-US" sz="3000" dirty="0"/>
          </a:p>
        </p:txBody>
      </p:sp>
      <p:sp>
        <p:nvSpPr>
          <p:cNvPr id="3" name="Text 1"/>
          <p:cNvSpPr txBox="1"/>
          <p:nvPr/>
        </p:nvSpPr>
        <p:spPr>
          <a:xfrm>
            <a:off x="731520" y="1371600"/>
            <a:ext cx="5486400" cy="4754880"/>
          </a:xfrm>
          <a:prstGeom prst="rect">
            <a:avLst/>
          </a:prstGeom>
          <a:noFill/>
          <a:ln/>
        </p:spPr>
        <p:txBody>
          <a:bodyPr wrap="square" lIns="0" tIns="0" rIns="0" bIns="0" rtlCol="0" anchor="t"/>
          <a:lstStyle/>
          <a:p>
            <a:pPr marL="279400" indent="-279400">
              <a:spcAft>
                <a:spcPts val="1600"/>
              </a:spcAft>
              <a:buSzPct val="100000"/>
              <a:buChar char="•"/>
            </a:pPr>
            <a:r>
              <a:rPr lang="en-US" sz="1700" b="1" dirty="0">
                <a:solidFill>
                  <a:srgbClr val="1F2937"/>
                </a:solidFill>
                <a:latin typeface="Calibri" pitchFamily="34" charset="0"/>
                <a:ea typeface="Calibri" pitchFamily="34" charset="-122"/>
                <a:cs typeface="Calibri" pitchFamily="34" charset="-120"/>
              </a:rPr>
              <a:t>Actual cost: $0 </a:t>
            </a:r>
            <a:pPr indent="0" marL="0">
              <a:buNone/>
            </a:pPr>
            <a:r>
              <a:rPr lang="en-US" sz="1700" dirty="0">
                <a:solidFill>
                  <a:srgbClr val="1F2937"/>
                </a:solidFill>
                <a:latin typeface="Calibri" pitchFamily="34" charset="0"/>
                <a:ea typeface="Calibri" pitchFamily="34" charset="-122"/>
                <a:cs typeface="Calibri" pitchFamily="34" charset="-120"/>
              </a:rPr>
              <a:t>charged on the AWS Free plan.</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Lambda, API Gateway, S3, Cognito, CloudWatch and Amplify stayed within the free tier.</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SageMaker serverless inference used a few cents of credits; it costs nothing when idle.</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Neo4j AuraDB Free, Groq and Gemini free tiers cost nothing.</a:t>
            </a:r>
            <a:endParaRPr lang="en-US" sz="17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029200" cy="914400"/>
        </p:xfrm>
        <a:graphic>
          <a:graphicData uri="http://schemas.openxmlformats.org/drawingml/2006/table">
            <a:tbl>
              <a:tblPr/>
              <a:tblGrid>
                <a:gridCol w="3291840"/>
                <a:gridCol w="1737360"/>
              </a:tblGrid>
              <a:tr h="54864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Full AWS design (estimate)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USD / month</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Neptune Analytics, 8 h/day</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~85</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SageMaker, 2,000 papers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Bedrock, 1,000 questions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&lt; 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Other services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0-2</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54864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Total</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~90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Challenges and solutions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4023360"/>
                <a:gridCol w="6675120"/>
              </a:tblGrid>
              <a:tr h="73152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Challenge</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Solution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7315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AWS Free plan blocks Neptune and Bedrock</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Graph and LLM made deployment parameters; Neo4j AuraDB and Groq/Gemini with the same queries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315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SageMaker training quota is 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Trained SciBERT on a laptop CPU, served on a SageMaker serverless endpoint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315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Throttling during bulk ingestion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Endpoint concurrency 10 and exponential back-off; 12 parallel Lambdas, 0 failures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315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Slow multi-hop retrieval (about 6 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27 parallel queries instead of 44 sequential: 0.535 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73152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Duplicate nodes and repeated paths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Uniqueness constraints and de-duplicated Connect results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Team contributions</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10698480" cy="914400"/>
        </p:xfrm>
        <a:graphic>
          <a:graphicData uri="http://schemas.openxmlformats.org/drawingml/2006/table">
            <a:tbl>
              <a:tblPr/>
              <a:tblGrid>
                <a:gridCol w="2194560"/>
                <a:gridCol w="2651760"/>
                <a:gridCol w="5852160"/>
              </a:tblGrid>
              <a:tr h="1051560">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Member</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Area</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c>
                  <a:txBody>
                    <a:bodyPr/>
                    <a:lstStyle/>
                    <a:p>
                      <a:pPr indent="0" marL="0">
                        <a:buNone/>
                      </a:pPr>
                      <a:r>
                        <a:rPr lang="en-US" sz="1500" b="1" dirty="0">
                          <a:solidFill>
                            <a:srgbClr val="1F4E8C"/>
                          </a:solidFill>
                          <a:latin typeface="Calibri" pitchFamily="34" charset="0"/>
                          <a:ea typeface="Calibri" pitchFamily="34" charset="-122"/>
                          <a:cs typeface="Calibri" pitchFamily="34" charset="-120"/>
                        </a:rPr>
                        <a:t>Main contributions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solidFill>
                      <a:srgbClr val="F3F4F6"/>
                    </a:solidFill>
                  </a:tcPr>
                </a:tc>
              </a:tr>
              <a:tr h="105156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Dhruv Gupta</a:t>
                      </a:r>
                      <a:endParaRPr lang="en-US" sz="1500" dirty="0">
                        <a:latin typeface="Calibri" charset="0"/>
                        <a:ea typeface="Calibri" charset="0"/>
                        <a:cs typeface="Calibri" charset="0"/>
                      </a:endParaRPr>
                    </a:p>
                    <a:p>
                      <a:pPr indent="0" marL="0">
                        <a:buNone/>
                      </a:pPr>
                      <a:r>
                        <a:rPr lang="en-US" sz="1500" dirty="0">
                          <a:solidFill>
                            <a:srgbClr val="1F2937"/>
                          </a:solidFill>
                          <a:latin typeface="Calibri" pitchFamily="34" charset="0"/>
                          <a:ea typeface="Calibri" pitchFamily="34" charset="-122"/>
                          <a:cs typeface="Calibri" pitchFamily="34" charset="-120"/>
                        </a:rPr>
                        <a:t>23BIT0350</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Knowledge graph and GraphRAG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Graph ontology and schema, multi-hop retrieval and ranking, grounded LLM layer, GraphRAG benchmarks, literature survey lead</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105156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Parth Sharma</a:t>
                      </a:r>
                      <a:endParaRPr lang="en-US" sz="1500" dirty="0">
                        <a:latin typeface="Calibri" charset="0"/>
                        <a:ea typeface="Calibri" charset="0"/>
                        <a:cs typeface="Calibri" charset="0"/>
                      </a:endParaRPr>
                    </a:p>
                    <a:p>
                      <a:pPr indent="0" marL="0">
                        <a:buNone/>
                      </a:pPr>
                      <a:r>
                        <a:rPr lang="en-US" sz="1500" dirty="0">
                          <a:solidFill>
                            <a:srgbClr val="1F2937"/>
                          </a:solidFill>
                          <a:latin typeface="Calibri" pitchFamily="34" charset="0"/>
                          <a:ea typeface="Calibri" pitchFamily="34" charset="-122"/>
                          <a:cs typeface="Calibri" pitchFamily="34" charset="-120"/>
                        </a:rPr>
                        <a:t>23BIT0211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Dashboard, API and AWS</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Dashboard and API Lambda, SAM template, Cognito, IAM, CloudWatch, Amplify, end-to-end and UI/UX testing</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r h="1051560">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Devesh Agarwal</a:t>
                      </a:r>
                      <a:endParaRPr lang="en-US" sz="1500" dirty="0">
                        <a:latin typeface="Calibri" charset="0"/>
                        <a:ea typeface="Calibri" charset="0"/>
                        <a:cs typeface="Calibri" charset="0"/>
                      </a:endParaRPr>
                    </a:p>
                    <a:p>
                      <a:pPr indent="0" marL="0">
                        <a:buNone/>
                      </a:pPr>
                      <a:r>
                        <a:rPr lang="en-US" sz="1500" dirty="0">
                          <a:solidFill>
                            <a:srgbClr val="1F2937"/>
                          </a:solidFill>
                          <a:latin typeface="Calibri" pitchFamily="34" charset="0"/>
                          <a:ea typeface="Calibri" pitchFamily="34" charset="-122"/>
                          <a:cs typeface="Calibri" pitchFamily="34" charset="-120"/>
                        </a:rPr>
                        <a:t>23BIT0201</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Data and NLP extraction</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c>
                  <a:txBody>
                    <a:bodyPr/>
                    <a:lstStyle/>
                    <a:p>
                      <a:pPr indent="0" marL="0">
                        <a:buNone/>
                      </a:pPr>
                      <a:r>
                        <a:rPr lang="en-US" sz="1500" dirty="0">
                          <a:solidFill>
                            <a:srgbClr val="1F2937"/>
                          </a:solidFill>
                          <a:latin typeface="Calibri" pitchFamily="34" charset="0"/>
                          <a:ea typeface="Calibri" pitchFamily="34" charset="-122"/>
                          <a:cs typeface="Calibri" pitchFamily="34" charset="-120"/>
                        </a:rPr>
                        <a:t>OpenAlex and S2ORC pipelines, S3 data lake and ingest Lambda, SciBERT NER and RE models, SageMaker deployment</a:t>
                      </a:r>
                      <a:endParaRPr lang="en-US" sz="1500" dirty="0">
                        <a:latin typeface="Calibri" charset="0"/>
                        <a:ea typeface="Calibri" charset="0"/>
                        <a:cs typeface="Calibri" charset="0"/>
                      </a:endParaRPr>
                    </a:p>
                  </a:txBody>
                  <a:tcPr marL="91440" marR="91440" marT="45720" marB="45720" anchor="ctr">
                    <a:lnL w="12700" cap="flat" cmpd="sng" algn="ctr">
                      <a:solidFill>
                        <a:srgbClr val="D1D5DB"/>
                      </a:solidFill>
                      <a:prstDash val="solid"/>
                      <a:round/>
                      <a:headEnd type="none" w="med" len="med"/>
                      <a:tailEnd type="none" w="med" len="med"/>
                    </a:lnL>
                    <a:lnR w="12700" cap="flat" cmpd="sng" algn="ctr">
                      <a:solidFill>
                        <a:srgbClr val="D1D5DB"/>
                      </a:solidFill>
                      <a:prstDash val="solid"/>
                      <a:round/>
                      <a:headEnd type="none" w="med" len="med"/>
                      <a:tailEnd type="none" w="med" len="med"/>
                    </a:lnR>
                    <a:lnT w="12700" cap="flat" cmpd="sng" algn="ctr">
                      <a:solidFill>
                        <a:srgbClr val="D1D5DB"/>
                      </a:solidFill>
                      <a:prstDash val="solid"/>
                      <a:round/>
                      <a:headEnd type="none" w="med" len="med"/>
                      <a:tailEnd type="none" w="med" len="med"/>
                    </a:lnT>
                    <a:lnB w="12700" cap="flat" cmpd="sng" algn="ctr">
                      <a:solidFill>
                        <a:srgbClr val="D1D5DB"/>
                      </a:solidFill>
                      <a:prstDash val="solid"/>
                      <a:round/>
                      <a:headEnd type="none" w="med" len="med"/>
                      <a:tailEnd type="none" w="med" len="med"/>
                    </a:lnB>
                  </a:tcPr>
                </a:tc>
              </a:tr>
            </a:tbl>
          </a:graphicData>
        </a:graphic>
      </p:graphicFrame>
      <p:sp>
        <p:nvSpPr>
          <p:cNvPr id="4" name="Text 1"/>
          <p:cNvSpPr txBox="1"/>
          <p:nvPr/>
        </p:nvSpPr>
        <p:spPr>
          <a:xfrm>
            <a:off x="731520" y="5852160"/>
            <a:ext cx="10698480" cy="365760"/>
          </a:xfrm>
          <a:prstGeom prst="rect">
            <a:avLst/>
          </a:prstGeom>
          <a:noFill/>
          <a:ln/>
        </p:spPr>
        <p:txBody>
          <a:bodyPr wrap="square" lIns="0" tIns="0" rIns="0" bIns="0" rtlCol="0" anchor="t"/>
          <a:lstStyle/>
          <a:p>
            <a:pPr indent="0" marL="0">
              <a:buNone/>
            </a:pPr>
            <a:r>
              <a:rPr lang="en-US" sz="1300" i="1" dirty="0">
                <a:solidFill>
                  <a:srgbClr val="4B5563"/>
                </a:solidFill>
                <a:latin typeface="Calibri" pitchFamily="34" charset="0"/>
                <a:ea typeface="Calibri" pitchFamily="34" charset="-122"/>
                <a:cs typeface="Calibri" pitchFamily="34" charset="-120"/>
              </a:rPr>
              <a:t>Shared: system architecture, integration testing, code reviews and the final report.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31520"/>
          </a:xfrm>
          <a:prstGeom prst="rect">
            <a:avLst/>
          </a:prstGeom>
          <a:noFill/>
          <a:ln/>
        </p:spPr>
        <p:txBody>
          <a:bodyPr wrap="square" lIns="0" tIns="0" rIns="0" bIns="0" rtlCol="0" anchor="ctr"/>
          <a:lstStyle/>
          <a:p>
            <a:pPr algn="l" indent="0" marL="0">
              <a:buNone/>
            </a:pPr>
            <a:r>
              <a:rPr lang="en-US" sz="3000" b="1" dirty="0">
                <a:solidFill>
                  <a:srgbClr val="1F4E8C"/>
                </a:solidFill>
                <a:latin typeface="Calibri" pitchFamily="34" charset="0"/>
                <a:ea typeface="Calibri" pitchFamily="34" charset="-122"/>
                <a:cs typeface="Calibri" pitchFamily="34" charset="-120"/>
              </a:rPr>
              <a:t>Conclusion and future work</a:t>
            </a:r>
            <a:endParaRPr lang="en-US" sz="3000" dirty="0"/>
          </a:p>
        </p:txBody>
      </p:sp>
      <p:sp>
        <p:nvSpPr>
          <p:cNvPr id="3" name="Text 1"/>
          <p:cNvSpPr txBox="1"/>
          <p:nvPr/>
        </p:nvSpPr>
        <p:spPr>
          <a:xfrm>
            <a:off x="731520" y="1325880"/>
            <a:ext cx="5120640" cy="457200"/>
          </a:xfrm>
          <a:prstGeom prst="rect">
            <a:avLst/>
          </a:prstGeom>
          <a:noFill/>
          <a:ln/>
        </p:spPr>
        <p:txBody>
          <a:bodyPr wrap="square" lIns="0" tIns="0" rIns="0" bIns="0" rtlCol="0" anchor="ctr"/>
          <a:lstStyle/>
          <a:p>
            <a:pPr indent="0" marL="0">
              <a:buNone/>
            </a:pPr>
            <a:r>
              <a:rPr lang="en-US" sz="2000" b="1" dirty="0">
                <a:solidFill>
                  <a:srgbClr val="1F4E8C"/>
                </a:solidFill>
                <a:latin typeface="Calibri" pitchFamily="34" charset="0"/>
                <a:ea typeface="Calibri" pitchFamily="34" charset="-122"/>
                <a:cs typeface="Calibri" pitchFamily="34" charset="-120"/>
              </a:rPr>
              <a:t>Conclusion</a:t>
            </a:r>
            <a:endParaRPr lang="en-US" sz="2000" dirty="0"/>
          </a:p>
        </p:txBody>
      </p:sp>
      <p:sp>
        <p:nvSpPr>
          <p:cNvPr id="4" name="Text 2"/>
          <p:cNvSpPr txBox="1"/>
          <p:nvPr/>
        </p:nvSpPr>
        <p:spPr>
          <a:xfrm>
            <a:off x="731520" y="1874520"/>
            <a:ext cx="5120640" cy="4114800"/>
          </a:xfrm>
          <a:prstGeom prst="rect">
            <a:avLst/>
          </a:prstGeom>
          <a:noFill/>
          <a:ln/>
        </p:spPr>
        <p:txBody>
          <a:bodyPr wrap="square" lIns="0" tIns="0" rIns="0" bIns="0" rtlCol="0" anchor="t"/>
          <a:lstStyle/>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Built a working, serverless system on AWS that turns papers into a knowledge graph</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Answers questions with citations and 0% hallucination on our benchmark</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All six objectives met on the deployed system, at $0</a:t>
            </a:r>
            <a:endParaRPr lang="en-US" sz="1700" dirty="0"/>
          </a:p>
        </p:txBody>
      </p:sp>
      <p:sp>
        <p:nvSpPr>
          <p:cNvPr id="5" name="Text 3"/>
          <p:cNvSpPr txBox="1"/>
          <p:nvPr/>
        </p:nvSpPr>
        <p:spPr>
          <a:xfrm>
            <a:off x="6309360" y="1325880"/>
            <a:ext cx="5303520" cy="457200"/>
          </a:xfrm>
          <a:prstGeom prst="rect">
            <a:avLst/>
          </a:prstGeom>
          <a:noFill/>
          <a:ln/>
        </p:spPr>
        <p:txBody>
          <a:bodyPr wrap="square" lIns="0" tIns="0" rIns="0" bIns="0" rtlCol="0" anchor="ctr"/>
          <a:lstStyle/>
          <a:p>
            <a:pPr indent="0" marL="0">
              <a:buNone/>
            </a:pPr>
            <a:r>
              <a:rPr lang="en-US" sz="2000" b="1" dirty="0">
                <a:solidFill>
                  <a:srgbClr val="1F4E8C"/>
                </a:solidFill>
                <a:latin typeface="Calibri" pitchFamily="34" charset="0"/>
                <a:ea typeface="Calibri" pitchFamily="34" charset="-122"/>
                <a:cs typeface="Calibri" pitchFamily="34" charset="-120"/>
              </a:rPr>
              <a:t>Future work</a:t>
            </a:r>
            <a:endParaRPr lang="en-US" sz="2000" dirty="0"/>
          </a:p>
        </p:txBody>
      </p:sp>
      <p:sp>
        <p:nvSpPr>
          <p:cNvPr id="6" name="Text 4"/>
          <p:cNvSpPr txBox="1"/>
          <p:nvPr/>
        </p:nvSpPr>
        <p:spPr>
          <a:xfrm>
            <a:off x="6309360" y="1874520"/>
            <a:ext cx="5303520" cy="4114800"/>
          </a:xfrm>
          <a:prstGeom prst="rect">
            <a:avLst/>
          </a:prstGeom>
          <a:noFill/>
          <a:ln/>
        </p:spPr>
        <p:txBody>
          <a:bodyPr wrap="square" lIns="0" tIns="0" rIns="0" bIns="0" rtlCol="0" anchor="t"/>
          <a:lstStyle/>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Run on Neptune Analytics and Bedrock and compare latency and cost</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Ingest larger OpenAlex and S2ORC slices; OCR for scanned PDFs</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GPU training and end-to-end relation evaluation</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Secrets Manager, MFA and API rate limiting</a:t>
            </a:r>
            <a:endParaRPr lang="en-US" sz="1700" dirty="0"/>
          </a:p>
          <a:p>
            <a:pPr marL="279400" indent="-279400">
              <a:spcAft>
                <a:spcPts val="1600"/>
              </a:spcAft>
              <a:buSzPct val="100000"/>
              <a:buChar char="•"/>
            </a:pPr>
            <a:r>
              <a:rPr lang="en-US" sz="1700" dirty="0">
                <a:solidFill>
                  <a:srgbClr val="1F2937"/>
                </a:solidFill>
                <a:latin typeface="Calibri" pitchFamily="34" charset="0"/>
                <a:ea typeface="Calibri" pitchFamily="34" charset="-122"/>
                <a:cs typeface="Calibri" pitchFamily="34" charset="-120"/>
              </a:rPr>
              <a:t>User study with open-ended expert questions</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9CA3AF"/>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822960" y="1463040"/>
            <a:ext cx="10515600" cy="1737360"/>
          </a:xfrm>
          <a:prstGeom prst="rect">
            <a:avLst/>
          </a:prstGeom>
          <a:noFill/>
          <a:ln/>
        </p:spPr>
        <p:txBody>
          <a:bodyPr wrap="square" lIns="0" tIns="0" rIns="0" bIns="0" rtlCol="0" anchor="b"/>
          <a:lstStyle/>
          <a:p>
            <a:pPr algn="l" indent="0" marL="0">
              <a:buNone/>
            </a:pPr>
            <a:r>
              <a:rPr lang="en-US" sz="4000" b="1" dirty="0">
                <a:solidFill>
                  <a:srgbClr val="1F4E8C"/>
                </a:solidFill>
                <a:latin typeface="Calibri" pitchFamily="34" charset="0"/>
                <a:ea typeface="Calibri" pitchFamily="34" charset="-122"/>
                <a:cs typeface="Calibri" pitchFamily="34" charset="-120"/>
              </a:rPr>
              <a:t>Thank you</a:t>
            </a:r>
            <a:endParaRPr lang="en-US" sz="4000" dirty="0"/>
          </a:p>
        </p:txBody>
      </p:sp>
      <p:sp>
        <p:nvSpPr>
          <p:cNvPr id="3" name="Text 0"/>
          <p:cNvSpPr/>
          <p:nvPr>
            <p:ph idx="101" type="body" hasCustomPrompt="1"/>
          </p:nvPr>
        </p:nvSpPr>
        <p:spPr>
          <a:xfrm>
            <a:off x="822960" y="3383280"/>
            <a:ext cx="10515600" cy="548640"/>
          </a:xfrm>
          <a:prstGeom prst="rect">
            <a:avLst/>
          </a:prstGeom>
          <a:noFill/>
          <a:ln/>
        </p:spPr>
        <p:txBody>
          <a:bodyPr wrap="square" lIns="0" tIns="0" rIns="0" bIns="0" rtlCol="0" anchor="t"/>
          <a:lstStyle/>
          <a:p>
            <a:pPr algn="l" indent="0" marL="0">
              <a:buNone/>
            </a:pPr>
            <a:r>
              <a:rPr lang="en-US" sz="2200" dirty="0">
                <a:solidFill>
                  <a:srgbClr val="4B5563"/>
                </a:solidFill>
                <a:latin typeface="Calibri" pitchFamily="34" charset="0"/>
                <a:ea typeface="Calibri" pitchFamily="34" charset="-122"/>
                <a:cs typeface="Calibri" pitchFamily="34" charset="-120"/>
              </a:rPr>
              <a:t>Questions and live demo</a:t>
            </a:r>
            <a:endParaRPr lang="en-US" sz="2200" dirty="0"/>
          </a:p>
        </p:txBody>
      </p:sp>
      <p:sp>
        <p:nvSpPr>
          <p:cNvPr id="4" name="Text 2"/>
          <p:cNvSpPr txBox="1"/>
          <p:nvPr/>
        </p:nvSpPr>
        <p:spPr>
          <a:xfrm>
            <a:off x="822960" y="4572000"/>
            <a:ext cx="10515600" cy="914400"/>
          </a:xfrm>
          <a:prstGeom prst="rect">
            <a:avLst/>
          </a:prstGeom>
          <a:noFill/>
          <a:ln/>
        </p:spPr>
        <p:txBody>
          <a:bodyPr wrap="square" lIns="0" tIns="0" rIns="0" bIns="0" rtlCol="0" anchor="ctr"/>
          <a:lstStyle/>
          <a:p>
            <a:pPr indent="0" marL="0">
              <a:spcAft>
                <a:spcPts val="600"/>
              </a:spcAft>
              <a:buNone/>
            </a:pPr>
            <a:r>
              <a:rPr lang="en-US" sz="1500" dirty="0">
                <a:solidFill>
                  <a:srgbClr val="4B5563"/>
                </a:solidFill>
                <a:latin typeface="Calibri" pitchFamily="34" charset="0"/>
                <a:ea typeface="Calibri" pitchFamily="34" charset="-122"/>
                <a:cs typeface="Calibri" pitchFamily="34" charset="-120"/>
              </a:rPr>
              <a:t>Dashboard: https://main.d1gnkprv2sjfmv.amplifyapp.com</a:t>
            </a:r>
            <a:endParaRPr lang="en-US" sz="1500" dirty="0"/>
          </a:p>
          <a:p>
            <a:pPr indent="0" marL="0">
              <a:spcAft>
                <a:spcPts val="600"/>
              </a:spcAft>
              <a:buNone/>
            </a:pPr>
            <a:r>
              <a:rPr lang="en-US" sz="1500" dirty="0">
                <a:solidFill>
                  <a:srgbClr val="4B5563"/>
                </a:solidFill>
                <a:latin typeface="Calibri" pitchFamily="34" charset="0"/>
                <a:ea typeface="Calibri" pitchFamily="34" charset="-122"/>
                <a:cs typeface="Calibri" pitchFamily="34" charset="-120"/>
              </a:rPr>
              <a:t>Repository: github.com/DeveshAg30/Cloud_Based_Knowledge_Graph_Framework_for_Automated_Research_Intelligence_Aws_Project_2026</a:t>
            </a:r>
            <a:endParaRPr lang="en-US" sz="1500" dirty="0"/>
          </a:p>
        </p:txBody>
      </p:sp>
    </p:spTree>
  </p:cSld>
  <p:clrMapOvr>
    <a:masterClrMapping/>
  </p:clrMapOvr>
</p:sld>
</file>

<file path=ppt/theme/theme1.xml><?xml version="1.0" encoding="utf-8"?>
<a:theme xmlns:a="http://schemas.openxmlformats.org/drawingml/2006/main" name="Research Intelligence Simple">
  <a:themeElements>
    <a:clrScheme name="Research Intelligence Simple">
      <a:dk1>
        <a:srgbClr val="1F2937"/>
      </a:dk1>
      <a:lt1>
        <a:srgbClr val="FFFFFF"/>
      </a:lt1>
      <a:dk2>
        <a:srgbClr val="1F4E8C"/>
      </a:dk2>
      <a:lt2>
        <a:srgbClr val="F3F4F6"/>
      </a:lt2>
      <a:accent1>
        <a:srgbClr val="1F4E8C"/>
      </a:accent1>
      <a:accent2>
        <a:srgbClr val="4C78A8"/>
      </a:accent2>
      <a:accent3>
        <a:srgbClr val="2E7D32"/>
      </a:accent3>
      <a:accent4>
        <a:srgbClr val="C62828"/>
      </a:accent4>
      <a:accent5>
        <a:srgbClr val="F58518"/>
      </a:accent5>
      <a:accent6>
        <a:srgbClr val="B279A2"/>
      </a:accent6>
      <a:hlink>
        <a:srgbClr val="1F4E8C"/>
      </a:hlink>
      <a:folHlink>
        <a:srgbClr val="6B4C9A"/>
      </a:folHlink>
    </a:clrScheme>
    <a:fontScheme name="Research Intelligence Simpl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Cloud-Based Knowledge Graph Framework for Automated Research Intelligence</dc:title>
  <dc:subject>PptxGenJS Presentation</dc:subject>
  <dc:creator>Dhruv Gupta, Parth Sharma, Devesh Agarwal</dc:creator>
  <cp:lastModifiedBy>Dhruv Gupta, Parth Sharma, Devesh Agarwal</cp:lastModifiedBy>
  <cp:revision>1</cp:revision>
  <dcterms:created xsi:type="dcterms:W3CDTF">2026-10-15T13:57:12Z</dcterms:created>
  <dcterms:modified xsi:type="dcterms:W3CDTF">2026-10-15T13:57:12Z</dcterms:modified>
</cp:coreProperties>
</file>