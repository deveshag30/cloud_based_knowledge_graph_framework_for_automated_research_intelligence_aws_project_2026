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a1248e-992e-6aa0-bea1-f475c0ea680e}">
          <p14:sldIdLst>
            <p14:sldId id="256"/>
            <p14:sldId id="257"/>
            <p14:sldId id="258"/>
            <p14:sldId id="259"/>
            <p14:sldId id="260"/>
          </p14:sldIdLst>
        </p14:section>
        <p14:section name="Literature and gap" id="{a95bc530-7b2b-e1cd-897d-b7b134ae6155}">
          <p14:sldIdLst>
            <p14:sldId id="261"/>
            <p14:sldId id="262"/>
          </p14:sldIdLst>
        </p14:section>
        <p14:section name="Architecture" id="{6cf19ae6-be9e-980e-8004-b56f650aa771}">
          <p14:sldIdLst>
            <p14:sldId id="263"/>
            <p14:sldId id="264"/>
            <p14:sldId id="265"/>
          </p14:sldIdLst>
        </p14:section>
        <p14:section name="Data and models" id="{a0aaf0b2-6e9b-b4b2-ea1a-ee5713d636b3}">
          <p14:sldIdLst>
            <p14:sldId id="266"/>
            <p14:sldId id="267"/>
            <p14:sldId id="268"/>
            <p14:sldId id="269"/>
            <p14:sldId id="270"/>
          </p14:sldIdLst>
        </p14:section>
        <p14:section name="GraphRAG and results" id="{acbbae3d-a595-991d-0472-46b1446f8265}">
          <p14:sldIdLst>
            <p14:sldId id="271"/>
            <p14:sldId id="272"/>
          </p14:sldIdLst>
        </p14:section>
        <p14:section name="Demo" id="{3fd1fbd4-2f90-4962-4da4-6fb640db7eb8}">
          <p14:sldIdLst>
            <p14:sldId id="273"/>
            <p14:sldId id="274"/>
          </p14:sldIdLst>
        </p14:section>
        <p14:section name="Quality" id="{87895b44-fe74-8d16-72f6-edde44d8ccfb}">
          <p14:sldIdLst>
            <p14:sldId id="275"/>
            <p14:sldId id="276"/>
            <p14:sldId id="277"/>
            <p14:sldId id="278"/>
          </p14:sldIdLst>
        </p14:section>
        <p14:section name="Close" id="{ffe4f636-87ba-ba0c-823b-d13659830265}">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9EE"/>
                </a:solidFill>
                <a:latin typeface="+mn-lt"/>
              </a:defRPr>
            </a:pPr>
            <a:r>
              <a:rPr sz="1400" b="0" i="0" u="none" strike="noStrike">
                <a:solidFill>
                  <a:srgbClr val="E6E9EE"/>
                </a:solidFill>
                <a:latin typeface="+mn-lt"/>
              </a:rPr>
              <a:t>Test F1 per entity type (SciERC)</a:t>
            </a:r>
          </a:p>
        </c:rich>
      </c:tx>
      <c:layout/>
      <c:overlay val="0"/>
    </c:title>
    <c:autoTitleDeleted val="0"/>
    <c:plotArea>
      <c:layout/>
      <c:barChart>
        <c:barDir val="col"/>
        <c:grouping val="clustered"/>
        <c:varyColors val="0"/>
        <c:ser>
          <c:idx val="0"/>
          <c:order val="0"/>
          <c:tx>
            <c:strRef>
              <c:f>Sheet1!$B$1</c:f>
              <c:strCache>
                <c:ptCount val="1"/>
                <c:pt idx="0">
                  <c:v>F1</c:v>
                </c:pt>
              </c:strCache>
            </c:strRef>
          </c:tx>
          <c:spPr>
            <a:solidFill>
              <a:srgbClr val="54A24B"/>
            </a:solidFill>
            <a:effectLst/>
          </c:spPr>
          <c:invertIfNegative val="0"/>
          <c:dLbls>
            <c:numFmt formatCode="0.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dPt>
            <c:idx val="0"/>
            <c:invertIfNegative val="0"/>
            <c:bubble3D val="0"/>
            <c:spPr>
              <a:solidFill>
                <a:srgbClr val="54A24B"/>
              </a:solidFill>
              <a:effectLst/>
            </c:spPr>
          </c:dPt>
          <c:dPt>
            <c:idx val="1"/>
            <c:invertIfNegative val="0"/>
            <c:bubble3D val="0"/>
            <c:spPr>
              <a:solidFill>
                <a:srgbClr val="54A24B"/>
              </a:solidFill>
              <a:effectLst/>
            </c:spPr>
          </c:dPt>
          <c:dPt>
            <c:idx val="2"/>
            <c:invertIfNegative val="0"/>
            <c:bubble3D val="0"/>
            <c:spPr>
              <a:solidFill>
                <a:srgbClr val="54A24B"/>
              </a:solidFill>
              <a:effectLst/>
            </c:spPr>
          </c:dPt>
          <c:dPt>
            <c:idx val="3"/>
            <c:invertIfNegative val="0"/>
            <c:bubble3D val="0"/>
            <c:spPr>
              <a:solidFill>
                <a:srgbClr val="54A24B"/>
              </a:solidFill>
              <a:effectLst/>
            </c:spPr>
          </c:dPt>
          <c:dPt>
            <c:idx val="4"/>
            <c:invertIfNegative val="0"/>
            <c:bubble3D val="0"/>
            <c:spPr>
              <a:solidFill>
                <a:srgbClr val="54A24B"/>
              </a:solidFill>
              <a:effectLst/>
            </c:spPr>
          </c:dPt>
          <c:dPt>
            <c:idx val="5"/>
            <c:invertIfNegative val="0"/>
            <c:bubble3D val="0"/>
            <c:spPr>
              <a:solidFill>
                <a:srgbClr val="54A24B"/>
              </a:solidFill>
              <a:effectLst/>
            </c:spPr>
          </c:dPt>
          <c:dPt>
            <c:idx val="6"/>
            <c:invertIfNegative val="0"/>
            <c:bubble3D val="0"/>
            <c:spPr>
              <a:solidFill>
                <a:srgbClr val="F58518"/>
              </a:solidFill>
              <a:effectLst/>
            </c:spPr>
          </c:dPt>
          <c:cat>
            <c:multiLvlStrRef>
              <c:f>Sheet1!$A$2:$A$8</c:f>
              <c:multiLvlStrCache>
                <c:ptCount val="7"/>
                <c:lvl>
                  <c:pt idx="0">
                    <c:v>Method</c:v>
                  </c:pt>
                  <c:pt idx="1">
                    <c:v>Generic</c:v>
                  </c:pt>
                  <c:pt idx="2">
                    <c:v>Metric</c:v>
                  </c:pt>
                  <c:pt idx="3">
                    <c:v>Material</c:v>
                  </c:pt>
                  <c:pt idx="4">
                    <c:v>Task</c:v>
                  </c:pt>
                  <c:pt idx="5">
                    <c:v>Other term</c:v>
                  </c:pt>
                  <c:pt idx="6">
                    <c:v>All types</c:v>
                  </c:pt>
                </c:lvl>
              </c:multiLvlStrCache>
            </c:multiLvlStrRef>
          </c:cat>
          <c:val>
            <c:numRef>
              <c:f>Sheet1!$B$2:$B$8</c:f>
              <c:numCache>
                <c:formatCode>General</c:formatCode>
                <c:ptCount val="7"/>
                <c:pt idx="0">
                  <c:v>0.707</c:v>
                </c:pt>
                <c:pt idx="1">
                  <c:v>0.71</c:v>
                </c:pt>
                <c:pt idx="2">
                  <c:v>0.624</c:v>
                </c:pt>
                <c:pt idx="3">
                  <c:v>0.592</c:v>
                </c:pt>
                <c:pt idx="4">
                  <c:v>0.576</c:v>
                </c:pt>
                <c:pt idx="5">
                  <c:v>0.534</c:v>
                </c:pt>
                <c:pt idx="6">
                  <c:v>0.618</c:v>
                </c:pt>
              </c:numCache>
            </c:numRef>
          </c:val>
        </c:ser>
        <c:dLbls>
          <c:numFmt formatCode="0.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6E9EE"/>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2E343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9AA3B2"/>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9EE"/>
                </a:solidFill>
                <a:latin typeface="+mn-lt"/>
              </a:defRPr>
            </a:pPr>
            <a:r>
              <a:rPr sz="1400" b="0" i="0" u="none" strike="noStrike">
                <a:solidFill>
                  <a:srgbClr val="E6E9EE"/>
                </a:solidFill>
                <a:latin typeface="+mn-lt"/>
              </a:rPr>
              <a:t>SciERC test, calibrated on dev</a:t>
            </a:r>
          </a:p>
        </c:rich>
      </c:tx>
      <c:layout/>
      <c:overlay val="0"/>
    </c:title>
    <c:autoTitleDeleted val="0"/>
    <c:plotArea>
      <c:layout/>
      <c:barChart>
        <c:barDir val="col"/>
        <c:grouping val="clustered"/>
        <c:varyColors val="0"/>
        <c:ser>
          <c:idx val="0"/>
          <c:order val="0"/>
          <c:tx>
            <c:strRef>
              <c:f>Sheet1!$B$1</c:f>
              <c:strCache>
                <c:ptCount val="1"/>
                <c:pt idx="0">
                  <c:v>Previous model</c:v>
                </c:pt>
              </c:strCache>
            </c:strRef>
          </c:tx>
          <c:spPr>
            <a:solidFill>
              <a:srgbClr val="BAB0AC"/>
            </a:solidFill>
            <a:effectLst/>
          </c:spPr>
          <c:invertIfNegative val="0"/>
          <c:dLbls>
            <c:numFmt formatCode="0.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0.358</c:v>
                </c:pt>
                <c:pt idx="1">
                  <c:v>0.516</c:v>
                </c:pt>
                <c:pt idx="2">
                  <c:v>0.423</c:v>
                </c:pt>
              </c:numCache>
            </c:numRef>
          </c:val>
        </c:ser>
        <c:ser>
          <c:idx val="1"/>
          <c:order val="1"/>
          <c:tx>
            <c:strRef>
              <c:f>Sheet1!$C$1</c:f>
              <c:strCache>
                <c:ptCount val="1"/>
                <c:pt idx="0">
                  <c:v>Final model</c:v>
                </c:pt>
              </c:strCache>
            </c:strRef>
          </c:tx>
          <c:spPr>
            <a:solidFill>
              <a:srgbClr val="54A24B"/>
            </a:solidFill>
            <a:effectLst/>
          </c:spPr>
          <c:invertIfNegative val="0"/>
          <c:dLbls>
            <c:numFmt formatCode="0.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0.658</c:v>
                </c:pt>
                <c:pt idx="1">
                  <c:v>0.664</c:v>
                </c:pt>
                <c:pt idx="2">
                  <c:v>0.661</c:v>
                </c:pt>
              </c:numCache>
            </c:numRef>
          </c:val>
        </c:ser>
        <c:dLbls>
          <c:numFmt formatCode="0.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6E9EE"/>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2E343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9AA3B2"/>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E6E9E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9EE"/>
                </a:solidFill>
                <a:latin typeface="+mn-lt"/>
              </a:defRPr>
            </a:pPr>
            <a:r>
              <a:rPr sz="1400" b="0" i="0" u="none" strike="noStrike">
                <a:solidFill>
                  <a:srgbClr val="E6E9EE"/>
                </a:solidFill>
                <a:latin typeface="+mn-lt"/>
              </a:rPr>
              <a:t>28 questions with known answers, same model (gpt-oss-120b), %</a:t>
            </a:r>
          </a:p>
        </c:rich>
      </c:tx>
      <c:layout/>
      <c:overlay val="0"/>
    </c:title>
    <c:autoTitleDeleted val="0"/>
    <c:plotArea>
      <c:layout/>
      <c:barChart>
        <c:barDir val="col"/>
        <c:grouping val="clustered"/>
        <c:varyColors val="0"/>
        <c:ser>
          <c:idx val="0"/>
          <c:order val="0"/>
          <c:tx>
            <c:strRef>
              <c:f>Sheet1!$B$1</c:f>
              <c:strCache>
                <c:ptCount val="1"/>
                <c:pt idx="0">
                  <c:v>GraphRAG</c:v>
                </c:pt>
              </c:strCache>
            </c:strRef>
          </c:tx>
          <c:spPr>
            <a:solidFill>
              <a:srgbClr val="6B9CF0"/>
            </a:solidFill>
            <a:effectLst/>
          </c:spPr>
          <c:invertIfNegative val="0"/>
          <c:dLbls>
            <c:numFmt formatCode="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cat>
            <c:multiLvlStrRef>
              <c:f>Sheet1!$A$2:$A$5</c:f>
              <c:multiLvlStrCache>
                <c:ptCount val="4"/>
                <c:lvl>
                  <c:pt idx="0">
                    <c:v>Answer recall</c:v>
                  </c:pt>
                  <c:pt idx="1">
                    <c:v>Fully correct</c:v>
                  </c:pt>
                  <c:pt idx="2">
                    <c:v>With citations</c:v>
                  </c:pt>
                  <c:pt idx="3">
                    <c:v>Citation precision</c:v>
                  </c:pt>
                </c:lvl>
              </c:multiLvlStrCache>
            </c:multiLvlStrRef>
          </c:cat>
          <c:val>
            <c:numRef>
              <c:f>Sheet1!$B$2:$B$5</c:f>
              <c:numCache>
                <c:formatCode>General</c:formatCode>
                <c:ptCount val="4"/>
                <c:pt idx="0">
                  <c:v>100</c:v>
                </c:pt>
                <c:pt idx="1">
                  <c:v>100</c:v>
                </c:pt>
                <c:pt idx="2">
                  <c:v>100</c:v>
                </c:pt>
                <c:pt idx="3">
                  <c:v>98.3</c:v>
                </c:pt>
              </c:numCache>
            </c:numRef>
          </c:val>
        </c:ser>
        <c:ser>
          <c:idx val="1"/>
          <c:order val="1"/>
          <c:tx>
            <c:strRef>
              <c:f>Sheet1!$C$1</c:f>
              <c:strCache>
                <c:ptCount val="1"/>
                <c:pt idx="0">
                  <c:v>LLM only</c:v>
                </c:pt>
              </c:strCache>
            </c:strRef>
          </c:tx>
          <c:spPr>
            <a:solidFill>
              <a:srgbClr val="F08075"/>
            </a:solidFill>
            <a:effectLst/>
          </c:spPr>
          <c:invertIfNegative val="0"/>
          <c:dLbls>
            <c:numFmt formatCode="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cat>
            <c:multiLvlStrRef>
              <c:f>Sheet1!$A$2:$A$5</c:f>
              <c:multiLvlStrCache>
                <c:ptCount val="4"/>
                <c:lvl>
                  <c:pt idx="0">
                    <c:v>Answer recall</c:v>
                  </c:pt>
                  <c:pt idx="1">
                    <c:v>Fully correct</c:v>
                  </c:pt>
                  <c:pt idx="2">
                    <c:v>With citations</c:v>
                  </c:pt>
                  <c:pt idx="3">
                    <c:v>Citation precision</c:v>
                  </c:pt>
                </c:lvl>
              </c:multiLvlStrCache>
            </c:multiLvlStrRef>
          </c:cat>
          <c:val>
            <c:numRef>
              <c:f>Sheet1!$C$2:$C$5</c:f>
              <c:numCache>
                <c:formatCode>General</c:formatCode>
                <c:ptCount val="4"/>
                <c:pt idx="0">
                  <c:v>2.1</c:v>
                </c:pt>
                <c:pt idx="1">
                  <c:v>0</c:v>
                </c:pt>
                <c:pt idx="2">
                  <c:v>0</c:v>
                </c:pt>
                <c:pt idx="3">
                  <c:v>0</c:v>
                </c:pt>
              </c:numCache>
            </c:numRef>
          </c:val>
        </c:ser>
        <c:dLbls>
          <c:numFmt formatCode="0.0" sourceLinked="0"/>
          <c:txPr>
            <a:bodyPr/>
            <a:lstStyle/>
            <a:p>
              <a:pPr>
                <a:defRPr b="0" i="0" strike="noStrike" sz="1100" u="none">
                  <a:solidFill>
                    <a:srgbClr val="E6E9E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6E9EE"/>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E343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9AA3B2"/>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E6E9E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we turn scientific papers into a knowledge graph on AWS, and answer questions only from facts in that graph, with citations. The coloured circles are the node types in our graph: papers, authors, methods, tasks, datasets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First, volume: no one can read everything. Second, keyword search finds documents but cannot connect facts that are spread across papers. Third, a standalone LLM writes fluent answers but invents authors, venues and results, and gives no sources, so the answer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Keyword search is grounded but cannot answer or connect facts. An LLM can answer but is not grounded and cannot cite. Our system combines both: it answers in plain English, but only from facts retrieved from a knowledge graph, and every statement carries a 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in three verbs. Extract: NLP models read the papers. Store: the results become a graph. Ask: questions are answered from the graph with citations. Everything is serverless on AWS, so it scales up when papers arrive and costs nothing when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objective had a numeric success criterion set before we built the system. All six were met on the deployed system. The rest of the talk shows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15 papers and grouped them. Construction papers build graphs but rely on manual work or noisy extractors. Reasoning papers improve inference but are offline experiments. Grounded-generation papers, like ChatTf and the GraphRAG survey, show graphs reduce hallucination. Note: one proposal paper was retracted and one could not be verified, so we replaced them with two verified papers from IEEE TKDE and ACM TOIS.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reviewed paper covers one or two of these four pieces. None combines all four. That combination is our contribution; we do not claim any single part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flow. Left: researchers use the dashboard on Amplify and sign in with Cognito. Every API call goes through API Gateway, which checks the token, to the API Lambda. That Lambda reads the knowledge graph and calls the LLM. Bottom: papers land in S3, an S3 event starts the ingest Lambda, which calls SciBERT on SageMaker and writes the graph. Failures go to an SQS dead-letter queue. CloudWatch, X-Ray and SNS monitor everything. Because the AWS Free plan blocks Neptune and Bedrock, the graph runs on Neo4j AuraDB and the LLM on Groq and Gemini; one deployment parameter switches back to the AWS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paths share one graph. Path A, top: a paper is uploaded, parsed and enriched, run through the two SciBERT models, cleaned up and merged into the graph. Path B, bottom: a question passes Cognito and API Gateway, the graph retrieval finds the relevant facts and paths, the LLM writes an answer from them, and the dashboard shows the answer with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AWS services, all defined in one AWS SAM template, so the whole stack deploys with one command. The last card is external: on the AWS Free plan, Neptune and Bedrock are blocked, so we use Neo4j AuraDB Free and the Groq and Gemini free tiers. The same openCypher queries run on Neptune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OpenAlex gives clean metadata and citation links; S2ORC gives full text with inline citations; SciERC is the labelled dataset we trained our models on. Raw data is fetched by scripts and kept in S3, not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starts the pipeline by hand. An upload creates an S3 event, Lambda processes the paper, SageMaker runs the models and the graph is updated, usually within a minute. A failed paper is retried, then kept in a dead-letter queue. We rebuilt the whole graph, 306 documents, in 13.5 minutes with no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model finds entities. Overall F1 is 0.618, close to the published SciBERT result even though we trained on a CPU. Methods score 0.707. Compared with our earlier rule-based extractor, every paper now gets entities, and paper-to-entity links went from 377 to 6,063.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model labels how two entities are related, for example a method applied to a task. Following the PURE approach we added typed entity markers and read the encoder at those markers. F1 rose from 0.423 to 0.661. The threshold was tuned on the development set only, so the test score 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ontology: the node types and edges we store. Paper, author, institution and venue come from metadata; method, task, dataset and metric come from the SciBERT models. The graph has 29,320 nodes and 42,015 relationships. Most paper nodes are cited references; 306 documents were fully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Find the entities in the question, collect connected facts and multi-hop paths, rank them, and give only the top 30 to the LLM with the instruction to answer from them and cite each one. Retrieval takes about half a second. If every LLM provider is slow, the user still gets the cited facts, so a request never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result. Same model, same 28 questions, with and without our graph. Without the graph the model answered 62.5% of questions confidently and wrongly, for example inventing a survey's authors, venue and year. With GraphRAG every answerable question was correct, every answer cited its sources, and 98.3% of citations were correct. Both versions refused questions about made-up entities, so the gain comes from grounding, not from the model being more cautious.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point. Ask: which methods are used for link prediction. The answer lists methods, and each line has a citation you can click. The graph in the middle shows exactly which facts were retrieved, so the answer is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shows everything connected to an entity. Connect finds the shortest chain between two entities: TransE is used by a survey, which is cited by KG-CF, which uses BERT. This is the multi-hop discovery that keyword search cannot do. Clicking a node opens its Research 360 profile: papers per year, collaborators and related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part of the design, not an add-on. Only signed-in users reach the API, and only project members can upload. Each function has the minimum permissions it needs. Data is encrypted and private. On the reliability side: retries, a dead-letter queue, LLM failover and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end-to-end test signs in with a temporary user, calls every API route, uploads a paper and follows it through to the graph, then deletes the user. It passes 13 of 13. We also ran UI and accessibility tests in the browser. Testing found real issues, which we fixed: repeated paths in Connect, duplicate nodes from parallel writes, placeholder sample data, and one contrast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spend was zero. The table is an estimate if the system ran on the full AWS design with Neptune and Bedrock: about 90 dollars a month, mostly the Neptune graph, which bills per hour while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constraint was the AWS Free plan. Instead of giving up on the AWS design, we made the graph and the LLM provider deployment parameters, so the same code runs on Neptune and Bedrock on a paid account. Each other row is a problem we measured and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split equally by layer. Each member owned one part of the system end to end and analysed five of the fifteen papers. Architecture, integration testing and the report were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short: the system works end to end on the cloud and its answers can be verified. Next steps are mostly about scale and the paid AWS services, plus a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live demo: ask a question, explore an entity, connect two entities. Before the demo, resume the Neo4j AuraDB instance if it has paused and send one question to warm up the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4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7680960" cy="2651760"/>
          </a:xfrm>
          <a:prstGeom prst="rect">
            <a:avLst/>
          </a:prstGeom>
          <a:noFill/>
          <a:ln/>
        </p:spPr>
        <p:txBody>
          <a:bodyPr wrap="square" rtlCol="0"/>
          <a:lstStyle>
            <a:lvl1pPr algn="l" indent="0" marL="0">
              <a:buNone/>
              <a:defRPr lang="en-US" sz="3800" b="1" dirty="0">
                <a:solidFill>
                  <a:srgbClr val="E6E9EE"/>
                </a:solidFill>
                <a:latin typeface="Segoe UI Semibold" pitchFamily="34" charset="0"/>
                <a:ea typeface="Segoe UI Semibold" pitchFamily="34" charset="-122"/>
                <a:cs typeface="Segoe UI Semibold" pitchFamily="34" charset="-120"/>
              </a:defRPr>
            </a:lvl1pPr>
          </a:lstStyle>
          <a:p>
            <a:pPr algn="l" indent="0" marL="0">
              <a:buNone/>
            </a:pPr>
            <a:endParaRPr lang="en-US" sz="3800" dirty="0"/>
          </a:p>
        </p:txBody>
      </p:sp>
      <p:sp>
        <p:nvSpPr>
          <p:cNvPr id="3" name="Text 0"/>
          <p:cNvSpPr/>
          <p:nvPr>
            <p:ph idx="101" type="body" hasCustomPrompt="1"/>
          </p:nvPr>
        </p:nvSpPr>
        <p:spPr>
          <a:xfrm>
            <a:off x="640080" y="3977640"/>
            <a:ext cx="7315200" cy="822960"/>
          </a:xfrm>
          <a:prstGeom prst="rect">
            <a:avLst/>
          </a:prstGeom>
          <a:noFill/>
          <a:ln/>
        </p:spPr>
        <p:txBody>
          <a:bodyPr wrap="square" rtlCol="0"/>
          <a:lstStyle>
            <a:lvl1pPr algn="l" indent="0" marL="0">
              <a:buNone/>
              <a:defRPr lang="en-US" sz="2000" dirty="0">
                <a:solidFill>
                  <a:srgbClr val="6B9CF0"/>
                </a:solidFill>
                <a:latin typeface="Segoe UI" pitchFamily="34" charset="0"/>
                <a:ea typeface="Segoe UI" pitchFamily="34" charset="-122"/>
                <a:cs typeface="Segoe U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4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rgbClr val="E6E9EE"/>
                </a:solidFill>
                <a:latin typeface="Segoe UI Semibold" pitchFamily="34" charset="0"/>
                <a:ea typeface="Segoe UI Semibold" pitchFamily="34" charset="-122"/>
                <a:cs typeface="Segoe UI Semibold"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3.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7680960" cy="2651760"/>
          </a:xfrm>
          <a:prstGeom prst="rect">
            <a:avLst/>
          </a:prstGeom>
          <a:noFill/>
          <a:ln/>
        </p:spPr>
        <p:txBody>
          <a:bodyPr wrap="square" lIns="0" tIns="0" rIns="0" bIns="0" rtlCol="0" anchor="b"/>
          <a:lstStyle/>
          <a:p>
            <a:pPr algn="l" indent="0" marL="0">
              <a:buNone/>
            </a:pPr>
            <a:r>
              <a:rPr lang="en-US" sz="3800" b="1" dirty="0">
                <a:solidFill>
                  <a:srgbClr val="E6E9EE"/>
                </a:solidFill>
                <a:latin typeface="Segoe UI Semibold" pitchFamily="34" charset="0"/>
                <a:ea typeface="Segoe UI Semibold" pitchFamily="34" charset="-122"/>
                <a:cs typeface="Segoe UI Semibold" pitchFamily="34" charset="-120"/>
              </a:rPr>
              <a:t>Cloud-Based Knowledge Graph Framework for Automated Research Intelligence</a:t>
            </a:r>
            <a:endParaRPr lang="en-US" sz="3800" dirty="0"/>
          </a:p>
        </p:txBody>
      </p:sp>
      <p:sp>
        <p:nvSpPr>
          <p:cNvPr id="3" name="Text 0"/>
          <p:cNvSpPr/>
          <p:nvPr>
            <p:ph idx="101" type="body" hasCustomPrompt="1"/>
          </p:nvPr>
        </p:nvSpPr>
        <p:spPr>
          <a:xfrm>
            <a:off x="640080" y="3977640"/>
            <a:ext cx="7315200" cy="822960"/>
          </a:xfrm>
          <a:prstGeom prst="rect">
            <a:avLst/>
          </a:prstGeom>
          <a:noFill/>
          <a:ln/>
        </p:spPr>
        <p:txBody>
          <a:bodyPr wrap="square" lIns="0" tIns="0" rIns="0" bIns="0" rtlCol="0" anchor="t"/>
          <a:lstStyle/>
          <a:p>
            <a:pPr algn="l" indent="0" marL="0">
              <a:buNone/>
            </a:pPr>
            <a:r>
              <a:rPr lang="en-US" sz="2000" dirty="0">
                <a:solidFill>
                  <a:srgbClr val="6B9CF0"/>
                </a:solidFill>
                <a:latin typeface="Segoe UI" pitchFamily="34" charset="0"/>
                <a:ea typeface="Segoe UI" pitchFamily="34" charset="-122"/>
                <a:cs typeface="Segoe UI" pitchFamily="34" charset="-120"/>
              </a:rPr>
              <a:t>Ask research questions. Get answers grounded in the literature.</a:t>
            </a:r>
            <a:endParaRPr lang="en-US" sz="2000" dirty="0"/>
          </a:p>
        </p:txBody>
      </p:sp>
      <p:sp>
        <p:nvSpPr>
          <p:cNvPr id="4" name="Text 2"/>
          <p:cNvSpPr txBox="1"/>
          <p:nvPr/>
        </p:nvSpPr>
        <p:spPr>
          <a:xfrm>
            <a:off x="640080" y="5120640"/>
            <a:ext cx="7315200" cy="822960"/>
          </a:xfrm>
          <a:prstGeom prst="rect">
            <a:avLst/>
          </a:prstGeom>
          <a:noFill/>
          <a:ln/>
        </p:spPr>
        <p:txBody>
          <a:bodyPr wrap="square" lIns="0" tIns="0" rIns="0" bIns="0" rtlCol="0" anchor="t"/>
          <a:lstStyle/>
          <a:p>
            <a:pPr indent="0" marL="0">
              <a:spcAft>
                <a:spcPts val="600"/>
              </a:spcAft>
              <a:buNone/>
            </a:pPr>
            <a:r>
              <a:rPr lang="en-US" sz="1500" dirty="0">
                <a:solidFill>
                  <a:srgbClr val="E6E9EE"/>
                </a:solidFill>
                <a:latin typeface="Segoe UI" pitchFamily="34" charset="0"/>
                <a:ea typeface="Segoe UI" pitchFamily="34" charset="-122"/>
                <a:cs typeface="Segoe UI" pitchFamily="34" charset="-120"/>
              </a:rPr>
              <a:t>Dhruv Gupta (23BIT0350)  ·  Parth Sharma (23BIT0211)  ·  Devesh Agarwal (23BIT0201)</a:t>
            </a:r>
            <a:endParaRPr lang="en-US" sz="1500" dirty="0"/>
          </a:p>
          <a:p>
            <a:pPr indent="0" marL="0">
              <a:spcAft>
                <a:spcPts val="600"/>
              </a:spcAft>
              <a:buNone/>
            </a:pPr>
            <a:r>
              <a:rPr lang="en-US" sz="1500" dirty="0">
                <a:solidFill>
                  <a:srgbClr val="9AA3B2"/>
                </a:solidFill>
                <a:latin typeface="Segoe UI" pitchFamily="34" charset="0"/>
                <a:ea typeface="Segoe UI" pitchFamily="34" charset="-122"/>
                <a:cs typeface="Segoe UI" pitchFamily="34" charset="-120"/>
              </a:rPr>
              <a:t>BITE412L Cloud Computing  ·  Dr. Priya V  ·  SCOPE, VIT Vellore</a:t>
            </a:r>
            <a:endParaRPr lang="en-US" sz="1500" dirty="0"/>
          </a:p>
        </p:txBody>
      </p:sp>
      <p:sp>
        <p:nvSpPr>
          <p:cNvPr id="5" name="Shape 3"/>
          <p:cNvSpPr/>
          <p:nvPr/>
        </p:nvSpPr>
        <p:spPr>
          <a:xfrm flipH="1">
            <a:off x="9144000" y="1280160"/>
            <a:ext cx="1828800" cy="365760"/>
          </a:xfrm>
          <a:prstGeom prst="line">
            <a:avLst/>
          </a:prstGeom>
          <a:noFill/>
          <a:ln w="25400">
            <a:solidFill>
              <a:srgbClr val="2E343E"/>
            </a:solidFill>
            <a:prstDash val="solid"/>
          </a:ln>
        </p:spPr>
      </p:sp>
      <p:sp>
        <p:nvSpPr>
          <p:cNvPr id="6" name="Shape 4"/>
          <p:cNvSpPr/>
          <p:nvPr/>
        </p:nvSpPr>
        <p:spPr>
          <a:xfrm>
            <a:off x="9144000" y="1645920"/>
            <a:ext cx="1005840" cy="1371600"/>
          </a:xfrm>
          <a:prstGeom prst="line">
            <a:avLst/>
          </a:prstGeom>
          <a:noFill/>
          <a:ln w="25400">
            <a:solidFill>
              <a:srgbClr val="2E343E"/>
            </a:solidFill>
            <a:prstDash val="solid"/>
          </a:ln>
        </p:spPr>
      </p:sp>
      <p:sp>
        <p:nvSpPr>
          <p:cNvPr id="7" name="Shape 5"/>
          <p:cNvSpPr/>
          <p:nvPr/>
        </p:nvSpPr>
        <p:spPr>
          <a:xfrm>
            <a:off x="10149840" y="3017520"/>
            <a:ext cx="1371600" cy="365760"/>
          </a:xfrm>
          <a:prstGeom prst="line">
            <a:avLst/>
          </a:prstGeom>
          <a:noFill/>
          <a:ln w="25400">
            <a:solidFill>
              <a:srgbClr val="2E343E"/>
            </a:solidFill>
            <a:prstDash val="solid"/>
          </a:ln>
        </p:spPr>
      </p:sp>
      <p:sp>
        <p:nvSpPr>
          <p:cNvPr id="8" name="Shape 6"/>
          <p:cNvSpPr/>
          <p:nvPr/>
        </p:nvSpPr>
        <p:spPr>
          <a:xfrm flipH="1">
            <a:off x="8869680" y="3017520"/>
            <a:ext cx="1280160" cy="1280160"/>
          </a:xfrm>
          <a:prstGeom prst="line">
            <a:avLst/>
          </a:prstGeom>
          <a:noFill/>
          <a:ln w="25400">
            <a:solidFill>
              <a:srgbClr val="2E343E"/>
            </a:solidFill>
            <a:prstDash val="solid"/>
          </a:ln>
        </p:spPr>
      </p:sp>
      <p:sp>
        <p:nvSpPr>
          <p:cNvPr id="9" name="Shape 7"/>
          <p:cNvSpPr/>
          <p:nvPr/>
        </p:nvSpPr>
        <p:spPr>
          <a:xfrm>
            <a:off x="10149840" y="3017520"/>
            <a:ext cx="457200" cy="1920240"/>
          </a:xfrm>
          <a:prstGeom prst="line">
            <a:avLst/>
          </a:prstGeom>
          <a:noFill/>
          <a:ln w="25400">
            <a:solidFill>
              <a:srgbClr val="2E343E"/>
            </a:solidFill>
            <a:prstDash val="solid"/>
          </a:ln>
        </p:spPr>
      </p:sp>
      <p:sp>
        <p:nvSpPr>
          <p:cNvPr id="10" name="Shape 8"/>
          <p:cNvSpPr/>
          <p:nvPr/>
        </p:nvSpPr>
        <p:spPr>
          <a:xfrm flipH="1">
            <a:off x="10149840" y="1280160"/>
            <a:ext cx="822960" cy="1737360"/>
          </a:xfrm>
          <a:prstGeom prst="line">
            <a:avLst/>
          </a:prstGeom>
          <a:noFill/>
          <a:ln w="25400">
            <a:solidFill>
              <a:srgbClr val="2E343E"/>
            </a:solidFill>
            <a:prstDash val="solid"/>
          </a:ln>
        </p:spPr>
      </p:sp>
      <p:sp>
        <p:nvSpPr>
          <p:cNvPr id="11" name="Shape 9"/>
          <p:cNvSpPr/>
          <p:nvPr/>
        </p:nvSpPr>
        <p:spPr>
          <a:xfrm>
            <a:off x="8869680" y="4297680"/>
            <a:ext cx="1737360" cy="640080"/>
          </a:xfrm>
          <a:prstGeom prst="line">
            <a:avLst/>
          </a:prstGeom>
          <a:noFill/>
          <a:ln w="25400">
            <a:solidFill>
              <a:srgbClr val="2E343E"/>
            </a:solidFill>
            <a:prstDash val="solid"/>
          </a:ln>
        </p:spPr>
      </p:sp>
      <p:sp>
        <p:nvSpPr>
          <p:cNvPr id="12" name="title-node-0-circle"/>
          <p:cNvSpPr/>
          <p:nvPr/>
        </p:nvSpPr>
        <p:spPr>
          <a:xfrm>
            <a:off x="8778240" y="1280160"/>
            <a:ext cx="731520" cy="731520"/>
          </a:xfrm>
          <a:prstGeom prst="ellipse">
            <a:avLst/>
          </a:prstGeom>
          <a:solidFill>
            <a:srgbClr val="4C78A8"/>
          </a:solidFill>
          <a:ln w="12700">
            <a:solidFill>
              <a:srgbClr val="4C78A8"/>
            </a:solidFill>
            <a:prstDash val="solid"/>
          </a:ln>
        </p:spPr>
      </p:sp>
      <p:pic>
        <p:nvPicPr>
          <p:cNvPr id="13" name="title-node-0-icon" descr="preencoded.png">    </p:cNvPr>
          <p:cNvPicPr>
            <a:picLocks noChangeAspect="1"/>
          </p:cNvPicPr>
          <p:nvPr/>
        </p:nvPicPr>
        <p:blipFill>
          <a:blip r:embed="rId1"/>
          <a:stretch>
            <a:fillRect/>
          </a:stretch>
        </p:blipFill>
        <p:spPr>
          <a:xfrm>
            <a:off x="8961120" y="1463040"/>
            <a:ext cx="365760" cy="365760"/>
          </a:xfrm>
          <a:prstGeom prst="rect">
            <a:avLst/>
          </a:prstGeom>
        </p:spPr>
      </p:pic>
      <p:sp>
        <p:nvSpPr>
          <p:cNvPr id="14" name="title-node-1-circle"/>
          <p:cNvSpPr/>
          <p:nvPr/>
        </p:nvSpPr>
        <p:spPr>
          <a:xfrm>
            <a:off x="10607040" y="914400"/>
            <a:ext cx="731520" cy="731520"/>
          </a:xfrm>
          <a:prstGeom prst="ellipse">
            <a:avLst/>
          </a:prstGeom>
          <a:solidFill>
            <a:srgbClr val="F58518"/>
          </a:solidFill>
          <a:ln w="12700">
            <a:solidFill>
              <a:srgbClr val="F58518"/>
            </a:solidFill>
            <a:prstDash val="solid"/>
          </a:ln>
        </p:spPr>
      </p:sp>
      <p:pic>
        <p:nvPicPr>
          <p:cNvPr id="15" name="title-node-1-icon" descr="preencoded.png">    </p:cNvPr>
          <p:cNvPicPr>
            <a:picLocks noChangeAspect="1"/>
          </p:cNvPicPr>
          <p:nvPr/>
        </p:nvPicPr>
        <p:blipFill>
          <a:blip r:embed="rId2"/>
          <a:stretch>
            <a:fillRect/>
          </a:stretch>
        </p:blipFill>
        <p:spPr>
          <a:xfrm>
            <a:off x="10789920" y="1097280"/>
            <a:ext cx="365760" cy="365760"/>
          </a:xfrm>
          <a:prstGeom prst="rect">
            <a:avLst/>
          </a:prstGeom>
        </p:spPr>
      </p:pic>
      <p:sp>
        <p:nvSpPr>
          <p:cNvPr id="16" name="title-node-2-circle"/>
          <p:cNvSpPr/>
          <p:nvPr/>
        </p:nvSpPr>
        <p:spPr>
          <a:xfrm>
            <a:off x="9784080" y="2651760"/>
            <a:ext cx="731520" cy="731520"/>
          </a:xfrm>
          <a:prstGeom prst="ellipse">
            <a:avLst/>
          </a:prstGeom>
          <a:solidFill>
            <a:srgbClr val="54A24B"/>
          </a:solidFill>
          <a:ln w="12700">
            <a:solidFill>
              <a:srgbClr val="54A24B"/>
            </a:solidFill>
            <a:prstDash val="solid"/>
          </a:ln>
        </p:spPr>
      </p:sp>
      <p:pic>
        <p:nvPicPr>
          <p:cNvPr id="17" name="title-node-2-icon" descr="preencoded.png">    </p:cNvPr>
          <p:cNvPicPr>
            <a:picLocks noChangeAspect="1"/>
          </p:cNvPicPr>
          <p:nvPr/>
        </p:nvPicPr>
        <p:blipFill>
          <a:blip r:embed="rId3"/>
          <a:stretch>
            <a:fillRect/>
          </a:stretch>
        </p:blipFill>
        <p:spPr>
          <a:xfrm>
            <a:off x="9966960" y="2834640"/>
            <a:ext cx="365760" cy="365760"/>
          </a:xfrm>
          <a:prstGeom prst="rect">
            <a:avLst/>
          </a:prstGeom>
        </p:spPr>
      </p:pic>
      <p:sp>
        <p:nvSpPr>
          <p:cNvPr id="18" name="title-node-3-circle"/>
          <p:cNvSpPr/>
          <p:nvPr/>
        </p:nvSpPr>
        <p:spPr>
          <a:xfrm>
            <a:off x="11155680" y="3017520"/>
            <a:ext cx="731520" cy="731520"/>
          </a:xfrm>
          <a:prstGeom prst="ellipse">
            <a:avLst/>
          </a:prstGeom>
          <a:solidFill>
            <a:srgbClr val="EECA3B"/>
          </a:solidFill>
          <a:ln w="12700">
            <a:solidFill>
              <a:srgbClr val="EECA3B"/>
            </a:solidFill>
            <a:prstDash val="solid"/>
          </a:ln>
        </p:spPr>
      </p:sp>
      <p:pic>
        <p:nvPicPr>
          <p:cNvPr id="19" name="title-node-3-icon" descr="preencoded.png">    </p:cNvPr>
          <p:cNvPicPr>
            <a:picLocks noChangeAspect="1"/>
          </p:cNvPicPr>
          <p:nvPr/>
        </p:nvPicPr>
        <p:blipFill>
          <a:blip r:embed="rId4"/>
          <a:stretch>
            <a:fillRect/>
          </a:stretch>
        </p:blipFill>
        <p:spPr>
          <a:xfrm>
            <a:off x="11338560" y="3200400"/>
            <a:ext cx="365760" cy="365760"/>
          </a:xfrm>
          <a:prstGeom prst="rect">
            <a:avLst/>
          </a:prstGeom>
        </p:spPr>
      </p:pic>
      <p:sp>
        <p:nvSpPr>
          <p:cNvPr id="20" name="title-node-4-circle"/>
          <p:cNvSpPr/>
          <p:nvPr/>
        </p:nvSpPr>
        <p:spPr>
          <a:xfrm>
            <a:off x="8503920" y="3931920"/>
            <a:ext cx="731520" cy="731520"/>
          </a:xfrm>
          <a:prstGeom prst="ellipse">
            <a:avLst/>
          </a:prstGeom>
          <a:solidFill>
            <a:srgbClr val="E45756"/>
          </a:solidFill>
          <a:ln w="12700">
            <a:solidFill>
              <a:srgbClr val="E45756"/>
            </a:solidFill>
            <a:prstDash val="solid"/>
          </a:ln>
        </p:spPr>
      </p:sp>
      <p:pic>
        <p:nvPicPr>
          <p:cNvPr id="21" name="title-node-4-icon" descr="preencoded.png">    </p:cNvPr>
          <p:cNvPicPr>
            <a:picLocks noChangeAspect="1"/>
          </p:cNvPicPr>
          <p:nvPr/>
        </p:nvPicPr>
        <p:blipFill>
          <a:blip r:embed="rId5"/>
          <a:stretch>
            <a:fillRect/>
          </a:stretch>
        </p:blipFill>
        <p:spPr>
          <a:xfrm>
            <a:off x="8686800" y="4114800"/>
            <a:ext cx="365760" cy="365760"/>
          </a:xfrm>
          <a:prstGeom prst="rect">
            <a:avLst/>
          </a:prstGeom>
        </p:spPr>
      </p:pic>
      <p:sp>
        <p:nvSpPr>
          <p:cNvPr id="22" name="title-node-5-circle"/>
          <p:cNvSpPr/>
          <p:nvPr/>
        </p:nvSpPr>
        <p:spPr>
          <a:xfrm>
            <a:off x="10241280" y="4572000"/>
            <a:ext cx="731520" cy="731520"/>
          </a:xfrm>
          <a:prstGeom prst="ellipse">
            <a:avLst/>
          </a:prstGeom>
          <a:solidFill>
            <a:srgbClr val="BAB0AC"/>
          </a:solidFill>
          <a:ln w="12700">
            <a:solidFill>
              <a:srgbClr val="BAB0AC"/>
            </a:solidFill>
            <a:prstDash val="solid"/>
          </a:ln>
        </p:spPr>
      </p:sp>
      <p:pic>
        <p:nvPicPr>
          <p:cNvPr id="23" name="title-node-5-icon" descr="preencoded.png">    </p:cNvPr>
          <p:cNvPicPr>
            <a:picLocks noChangeAspect="1"/>
          </p:cNvPicPr>
          <p:nvPr/>
        </p:nvPicPr>
        <p:blipFill>
          <a:blip r:embed="rId6"/>
          <a:stretch>
            <a:fillRect/>
          </a:stretch>
        </p:blipFill>
        <p:spPr>
          <a:xfrm>
            <a:off x="10424160" y="4754880"/>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Researchers cannot keep up with the literature</a:t>
            </a:r>
            <a:endParaRPr lang="en-US" sz="3200" dirty="0"/>
          </a:p>
        </p:txBody>
      </p:sp>
      <p:sp>
        <p:nvSpPr>
          <p:cNvPr id="3" name="problem-card-0"/>
          <p:cNvSpPr/>
          <p:nvPr/>
        </p:nvSpPr>
        <p:spPr>
          <a:xfrm>
            <a:off x="548640" y="1463040"/>
            <a:ext cx="3474720" cy="4206240"/>
          </a:xfrm>
          <a:prstGeom prst="roundRect">
            <a:avLst>
              <a:gd name="adj" fmla="val 3158"/>
            </a:avLst>
          </a:prstGeom>
          <a:solidFill>
            <a:srgbClr val="1D2128"/>
          </a:solidFill>
          <a:ln w="12700">
            <a:solidFill>
              <a:srgbClr val="2E343E"/>
            </a:solidFill>
            <a:prstDash val="solid"/>
          </a:ln>
        </p:spPr>
      </p:sp>
      <p:sp>
        <p:nvSpPr>
          <p:cNvPr id="4" name="problem-0-circle"/>
          <p:cNvSpPr/>
          <p:nvPr/>
        </p:nvSpPr>
        <p:spPr>
          <a:xfrm>
            <a:off x="868680" y="1783080"/>
            <a:ext cx="822960" cy="822960"/>
          </a:xfrm>
          <a:prstGeom prst="ellipse">
            <a:avLst/>
          </a:prstGeom>
          <a:solidFill>
            <a:srgbClr val="4C78A8"/>
          </a:solidFill>
          <a:ln w="12700">
            <a:solidFill>
              <a:srgbClr val="4C78A8"/>
            </a:solidFill>
            <a:prstDash val="solid"/>
          </a:ln>
        </p:spPr>
      </p:sp>
      <p:pic>
        <p:nvPicPr>
          <p:cNvPr id="5" name="problem-0-icon" descr="preencoded.png">    </p:cNvPr>
          <p:cNvPicPr>
            <a:picLocks noChangeAspect="1"/>
          </p:cNvPicPr>
          <p:nvPr/>
        </p:nvPicPr>
        <p:blipFill>
          <a:blip r:embed="rId1"/>
          <a:stretch>
            <a:fillRect/>
          </a:stretch>
        </p:blipFill>
        <p:spPr>
          <a:xfrm>
            <a:off x="1074420" y="1988820"/>
            <a:ext cx="411480" cy="411480"/>
          </a:xfrm>
          <a:prstGeom prst="rect">
            <a:avLst/>
          </a:prstGeom>
        </p:spPr>
      </p:pic>
      <p:sp>
        <p:nvSpPr>
          <p:cNvPr id="6" name="Text 3"/>
          <p:cNvSpPr txBox="1"/>
          <p:nvPr/>
        </p:nvSpPr>
        <p:spPr>
          <a:xfrm>
            <a:off x="868680" y="2834640"/>
            <a:ext cx="2926080" cy="1051560"/>
          </a:xfrm>
          <a:prstGeom prst="rect">
            <a:avLst/>
          </a:prstGeom>
          <a:noFill/>
          <a:ln/>
        </p:spPr>
        <p:txBody>
          <a:bodyPr wrap="square" lIns="0" tIns="0" rIns="0" bIns="0" rtlCol="0" anchor="t"/>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Too much to read</a:t>
            </a:r>
            <a:endParaRPr lang="en-US" sz="2000" dirty="0"/>
          </a:p>
        </p:txBody>
      </p:sp>
      <p:sp>
        <p:nvSpPr>
          <p:cNvPr id="7" name="Text 4"/>
          <p:cNvSpPr txBox="1"/>
          <p:nvPr/>
        </p:nvSpPr>
        <p:spPr>
          <a:xfrm>
            <a:off x="868680" y="3977640"/>
            <a:ext cx="2834640" cy="155448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OpenAlex indexes over 300 million scholarly works. Finding which methods solve which tasks means reading papers by hand.</a:t>
            </a:r>
            <a:endParaRPr lang="en-US" sz="1500" dirty="0"/>
          </a:p>
        </p:txBody>
      </p:sp>
      <p:sp>
        <p:nvSpPr>
          <p:cNvPr id="8" name="problem-card-1"/>
          <p:cNvSpPr/>
          <p:nvPr/>
        </p:nvSpPr>
        <p:spPr>
          <a:xfrm>
            <a:off x="4297680" y="1463040"/>
            <a:ext cx="3474720" cy="4206240"/>
          </a:xfrm>
          <a:prstGeom prst="roundRect">
            <a:avLst>
              <a:gd name="adj" fmla="val 3158"/>
            </a:avLst>
          </a:prstGeom>
          <a:solidFill>
            <a:srgbClr val="1D2128"/>
          </a:solidFill>
          <a:ln w="12700">
            <a:solidFill>
              <a:srgbClr val="2E343E"/>
            </a:solidFill>
            <a:prstDash val="solid"/>
          </a:ln>
        </p:spPr>
      </p:sp>
      <p:sp>
        <p:nvSpPr>
          <p:cNvPr id="9" name="problem-1-circle"/>
          <p:cNvSpPr/>
          <p:nvPr/>
        </p:nvSpPr>
        <p:spPr>
          <a:xfrm>
            <a:off x="4617720" y="1783080"/>
            <a:ext cx="822960" cy="822960"/>
          </a:xfrm>
          <a:prstGeom prst="ellipse">
            <a:avLst/>
          </a:prstGeom>
          <a:solidFill>
            <a:srgbClr val="EECA3B"/>
          </a:solidFill>
          <a:ln w="12700">
            <a:solidFill>
              <a:srgbClr val="EECA3B"/>
            </a:solidFill>
            <a:prstDash val="solid"/>
          </a:ln>
        </p:spPr>
      </p:sp>
      <p:pic>
        <p:nvPicPr>
          <p:cNvPr id="10" name="problem-1-icon" descr="preencoded.png">    </p:cNvPr>
          <p:cNvPicPr>
            <a:picLocks noChangeAspect="1"/>
          </p:cNvPicPr>
          <p:nvPr/>
        </p:nvPicPr>
        <p:blipFill>
          <a:blip r:embed="rId2"/>
          <a:stretch>
            <a:fillRect/>
          </a:stretch>
        </p:blipFill>
        <p:spPr>
          <a:xfrm>
            <a:off x="4823460" y="1988820"/>
            <a:ext cx="411480" cy="411480"/>
          </a:xfrm>
          <a:prstGeom prst="rect">
            <a:avLst/>
          </a:prstGeom>
        </p:spPr>
      </p:pic>
      <p:sp>
        <p:nvSpPr>
          <p:cNvPr id="11" name="Text 7"/>
          <p:cNvSpPr txBox="1"/>
          <p:nvPr/>
        </p:nvSpPr>
        <p:spPr>
          <a:xfrm>
            <a:off x="4617720" y="2834640"/>
            <a:ext cx="2926080" cy="1051560"/>
          </a:xfrm>
          <a:prstGeom prst="rect">
            <a:avLst/>
          </a:prstGeom>
          <a:noFill/>
          <a:ln/>
        </p:spPr>
        <p:txBody>
          <a:bodyPr wrap="square" lIns="0" tIns="0" rIns="0" bIns="0" rtlCol="0" anchor="t"/>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Search returns documents, not answers</a:t>
            </a:r>
            <a:endParaRPr lang="en-US" sz="2000" dirty="0"/>
          </a:p>
        </p:txBody>
      </p:sp>
      <p:sp>
        <p:nvSpPr>
          <p:cNvPr id="12" name="Text 8"/>
          <p:cNvSpPr txBox="1"/>
          <p:nvPr/>
        </p:nvSpPr>
        <p:spPr>
          <a:xfrm>
            <a:off x="4617720" y="3977640"/>
            <a:ext cx="2834640" cy="155448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Keyword search cannot follow links across papers, e.g. a method used in one paper and evaluated in another.</a:t>
            </a:r>
            <a:endParaRPr lang="en-US" sz="1500" dirty="0"/>
          </a:p>
        </p:txBody>
      </p:sp>
      <p:sp>
        <p:nvSpPr>
          <p:cNvPr id="13" name="problem-card-2"/>
          <p:cNvSpPr/>
          <p:nvPr/>
        </p:nvSpPr>
        <p:spPr>
          <a:xfrm>
            <a:off x="8046720" y="1463040"/>
            <a:ext cx="3474720" cy="4206240"/>
          </a:xfrm>
          <a:prstGeom prst="roundRect">
            <a:avLst>
              <a:gd name="adj" fmla="val 3158"/>
            </a:avLst>
          </a:prstGeom>
          <a:solidFill>
            <a:srgbClr val="1D2128"/>
          </a:solidFill>
          <a:ln w="12700">
            <a:solidFill>
              <a:srgbClr val="2E343E"/>
            </a:solidFill>
            <a:prstDash val="solid"/>
          </a:ln>
        </p:spPr>
      </p:sp>
      <p:sp>
        <p:nvSpPr>
          <p:cNvPr id="14" name="problem-2-circle"/>
          <p:cNvSpPr/>
          <p:nvPr/>
        </p:nvSpPr>
        <p:spPr>
          <a:xfrm>
            <a:off x="8366760" y="1783080"/>
            <a:ext cx="822960" cy="822960"/>
          </a:xfrm>
          <a:prstGeom prst="ellipse">
            <a:avLst/>
          </a:prstGeom>
          <a:solidFill>
            <a:srgbClr val="E45756"/>
          </a:solidFill>
          <a:ln w="12700">
            <a:solidFill>
              <a:srgbClr val="E45756"/>
            </a:solidFill>
            <a:prstDash val="solid"/>
          </a:ln>
        </p:spPr>
      </p:sp>
      <p:pic>
        <p:nvPicPr>
          <p:cNvPr id="15" name="problem-2-icon" descr="preencoded.png">    </p:cNvPr>
          <p:cNvPicPr>
            <a:picLocks noChangeAspect="1"/>
          </p:cNvPicPr>
          <p:nvPr/>
        </p:nvPicPr>
        <p:blipFill>
          <a:blip r:embed="rId3"/>
          <a:stretch>
            <a:fillRect/>
          </a:stretch>
        </p:blipFill>
        <p:spPr>
          <a:xfrm>
            <a:off x="8572500" y="1988820"/>
            <a:ext cx="411480" cy="411480"/>
          </a:xfrm>
          <a:prstGeom prst="rect">
            <a:avLst/>
          </a:prstGeom>
        </p:spPr>
      </p:pic>
      <p:sp>
        <p:nvSpPr>
          <p:cNvPr id="16" name="Text 11"/>
          <p:cNvSpPr txBox="1"/>
          <p:nvPr/>
        </p:nvSpPr>
        <p:spPr>
          <a:xfrm>
            <a:off x="8366760" y="2834640"/>
            <a:ext cx="2926080" cy="1051560"/>
          </a:xfrm>
          <a:prstGeom prst="rect">
            <a:avLst/>
          </a:prstGeom>
          <a:noFill/>
          <a:ln/>
        </p:spPr>
        <p:txBody>
          <a:bodyPr wrap="square" lIns="0" tIns="0" rIns="0" bIns="0" rtlCol="0" anchor="t"/>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LLMs answer confidently, and wrongly</a:t>
            </a:r>
            <a:endParaRPr lang="en-US" sz="2000" dirty="0"/>
          </a:p>
        </p:txBody>
      </p:sp>
      <p:sp>
        <p:nvSpPr>
          <p:cNvPr id="17" name="Text 12"/>
          <p:cNvSpPr txBox="1"/>
          <p:nvPr/>
        </p:nvSpPr>
        <p:spPr>
          <a:xfrm>
            <a:off x="8366760" y="3977640"/>
            <a:ext cx="2834640" cy="155448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In our test the same LLM without our graph gave confident wrong answers to 62.5% of questions and cited nothing.</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Existing tools each solve only part of the problem</a:t>
            </a:r>
            <a:endParaRPr lang="en-US" sz="3200" dirty="0"/>
          </a:p>
        </p:txBody>
      </p:sp>
      <p:graphicFrame>
        <p:nvGraphicFramePr>
          <p:cNvPr id="4" name="comparison-table"/>
          <p:cNvGraphicFramePr>
            <a:graphicFrameLocks noGrp="1"/>
          </p:cNvGraphicFramePr>
          <p:nvPr>
            <p:extLst>
              <p:ext uri="{D42A27DB-BD31-4B8C-83A1-F6EECF244321}">
                <p14:modId xmlns:p14="http://schemas.microsoft.com/office/powerpoint/2010/main" val="1579011935"/>
              </p:ext>
            </p:extLst>
          </p:nvPr>
        </p:nvGraphicFramePr>
        <p:xfrm>
          <a:off x="822960" y="1554480"/>
          <a:ext cx="10515600" cy="914400"/>
        </p:xfrm>
        <a:graphic>
          <a:graphicData uri="http://schemas.openxmlformats.org/drawingml/2006/table">
            <a:tbl>
              <a:tblPr/>
              <a:tblGrid>
                <a:gridCol w="4754880"/>
                <a:gridCol w="1920240"/>
                <a:gridCol w="1920240"/>
                <a:gridCol w="1920240"/>
              </a:tblGrid>
              <a:tr h="685800">
                <a:tc>
                  <a:txBody>
                    <a:bodyPr/>
                    <a:lstStyle/>
                    <a:p>
                      <a:pPr indent="0" marL="0">
                        <a:buNone/>
                      </a:pPr>
                      <a:endParaRPr lang="en-US" sz="1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c>
                  <a:txBody>
                    <a:bodyPr/>
                    <a:lstStyle/>
                    <a:p>
                      <a:pPr algn="ctr" indent="0" marL="0">
                        <a:buNone/>
                      </a:pPr>
                      <a:r>
                        <a:rPr lang="en-US" sz="1600" b="1" dirty="0">
                          <a:solidFill>
                            <a:srgbClr val="E6E9EE"/>
                          </a:solidFill>
                          <a:latin typeface="Segoe UI" pitchFamily="34" charset="0"/>
                          <a:ea typeface="Segoe UI" pitchFamily="34" charset="-122"/>
                          <a:cs typeface="Segoe UI" pitchFamily="34" charset="-120"/>
                        </a:rPr>
                        <a:t>Keyword search</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c>
                  <a:txBody>
                    <a:bodyPr/>
                    <a:lstStyle/>
                    <a:p>
                      <a:pPr algn="ctr" indent="0" marL="0">
                        <a:buNone/>
                      </a:pPr>
                      <a:r>
                        <a:rPr lang="en-US" sz="1600" b="1" dirty="0">
                          <a:solidFill>
                            <a:srgbClr val="E6E9EE"/>
                          </a:solidFill>
                          <a:latin typeface="Segoe UI" pitchFamily="34" charset="0"/>
                          <a:ea typeface="Segoe UI" pitchFamily="34" charset="-122"/>
                          <a:cs typeface="Segoe UI" pitchFamily="34" charset="-120"/>
                        </a:rPr>
                        <a:t>LLM on its own</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c>
                  <a:txBody>
                    <a:bodyPr/>
                    <a:lstStyle/>
                    <a:p>
                      <a:pPr algn="ctr" indent="0" marL="0">
                        <a:buNone/>
                      </a:pPr>
                      <a:r>
                        <a:rPr lang="en-US" sz="1600" b="1" dirty="0">
                          <a:solidFill>
                            <a:srgbClr val="E6E9EE"/>
                          </a:solidFill>
                          <a:latin typeface="Segoe UI" pitchFamily="34" charset="0"/>
                          <a:ea typeface="Segoe UI" pitchFamily="34" charset="-122"/>
                          <a:cs typeface="Segoe UI" pitchFamily="34" charset="-120"/>
                        </a:rPr>
                        <a:t>Our GraphRAG system</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r>
              <a:tr h="685800">
                <a:tc>
                  <a:txBody>
                    <a:bodyPr/>
                    <a:lstStyle/>
                    <a:p>
                      <a:pPr indent="0" marL="0">
                        <a:buNone/>
                      </a:pPr>
                      <a:r>
                        <a:rPr lang="en-US" sz="1600" dirty="0">
                          <a:solidFill>
                            <a:srgbClr val="E6E9EE"/>
                          </a:solidFill>
                          <a:latin typeface="Segoe UI" pitchFamily="34" charset="0"/>
                          <a:ea typeface="Segoe UI" pitchFamily="34" charset="-122"/>
                          <a:cs typeface="Segoe UI" pitchFamily="34" charset="-120"/>
                        </a:rPr>
                        <a:t>Answers questions in plain English</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685800">
                <a:tc>
                  <a:txBody>
                    <a:bodyPr/>
                    <a:lstStyle/>
                    <a:p>
                      <a:pPr indent="0" marL="0">
                        <a:buNone/>
                      </a:pPr>
                      <a:r>
                        <a:rPr lang="en-US" sz="1600" dirty="0">
                          <a:solidFill>
                            <a:srgbClr val="E6E9EE"/>
                          </a:solidFill>
                          <a:latin typeface="Segoe UI" pitchFamily="34" charset="0"/>
                          <a:ea typeface="Segoe UI" pitchFamily="34" charset="-122"/>
                          <a:cs typeface="Segoe UI" pitchFamily="34" charset="-120"/>
                        </a:rPr>
                        <a:t>Connects facts across many papers</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685800">
                <a:tc>
                  <a:txBody>
                    <a:bodyPr/>
                    <a:lstStyle/>
                    <a:p>
                      <a:pPr indent="0" marL="0">
                        <a:buNone/>
                      </a:pPr>
                      <a:r>
                        <a:rPr lang="en-US" sz="1600" dirty="0">
                          <a:solidFill>
                            <a:srgbClr val="E6E9EE"/>
                          </a:solidFill>
                          <a:latin typeface="Segoe UI" pitchFamily="34" charset="0"/>
                          <a:ea typeface="Segoe UI" pitchFamily="34" charset="-122"/>
                          <a:cs typeface="Segoe UI" pitchFamily="34" charset="-120"/>
                        </a:rPr>
                        <a:t>Cites the source of every statement</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685800">
                <a:tc>
                  <a:txBody>
                    <a:bodyPr/>
                    <a:lstStyle/>
                    <a:p>
                      <a:pPr indent="0" marL="0">
                        <a:buNone/>
                      </a:pPr>
                      <a:r>
                        <a:rPr lang="en-US" sz="1600" dirty="0">
                          <a:solidFill>
                            <a:srgbClr val="E6E9EE"/>
                          </a:solidFill>
                          <a:latin typeface="Segoe UI" pitchFamily="34" charset="0"/>
                          <a:ea typeface="Segoe UI" pitchFamily="34" charset="-122"/>
                          <a:cs typeface="Segoe UI" pitchFamily="34" charset="-120"/>
                        </a:rPr>
                        <a:t>Grounded in verifiable data, no invented facts</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685800">
                <a:tc>
                  <a:txBody>
                    <a:bodyPr/>
                    <a:lstStyle/>
                    <a:p>
                      <a:pPr indent="0" marL="0">
                        <a:buNone/>
                      </a:pPr>
                      <a:r>
                        <a:rPr lang="en-US" sz="1600" dirty="0">
                          <a:solidFill>
                            <a:srgbClr val="E6E9EE"/>
                          </a:solidFill>
                          <a:latin typeface="Segoe UI" pitchFamily="34" charset="0"/>
                          <a:ea typeface="Segoe UI" pitchFamily="34" charset="-122"/>
                          <a:cs typeface="Segoe UI" pitchFamily="34" charset="-120"/>
                        </a:rPr>
                        <a:t>Updates automatically as papers arrive</a:t>
                      </a:r>
                      <a:endParaRPr lang="en-US" sz="16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F08075"/>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algn="ctr" indent="0" marL="0">
                        <a:buNone/>
                      </a:pPr>
                      <a:r>
                        <a:rPr lang="en-US" sz="2200" b="1" dirty="0">
                          <a:solidFill>
                            <a:srgbClr val="5CC98A"/>
                          </a:solidFill>
                          <a:latin typeface="Segoe UI" pitchFamily="34" charset="0"/>
                          <a:ea typeface="Segoe UI" pitchFamily="34" charset="-122"/>
                          <a:cs typeface="Segoe UI" pitchFamily="34" charset="-120"/>
                        </a:rPr>
                        <a:t>✓</a:t>
                      </a:r>
                      <a:endParaRPr lang="en-US" sz="22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bl>
          </a:graphicData>
        </a:graphic>
      </p:graphicFrame>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Our solution: extract, store, then ask</a:t>
            </a:r>
            <a:endParaRPr lang="en-US" sz="3200" dirty="0"/>
          </a:p>
        </p:txBody>
      </p:sp>
      <p:sp>
        <p:nvSpPr>
          <p:cNvPr id="3" name="pillar-0-circle"/>
          <p:cNvSpPr/>
          <p:nvPr/>
        </p:nvSpPr>
        <p:spPr>
          <a:xfrm>
            <a:off x="1874520" y="1554480"/>
            <a:ext cx="1188720" cy="1188720"/>
          </a:xfrm>
          <a:prstGeom prst="ellipse">
            <a:avLst/>
          </a:prstGeom>
          <a:solidFill>
            <a:srgbClr val="54A24B"/>
          </a:solidFill>
          <a:ln w="12700">
            <a:solidFill>
              <a:srgbClr val="54A24B"/>
            </a:solidFill>
            <a:prstDash val="solid"/>
          </a:ln>
        </p:spPr>
      </p:sp>
      <p:pic>
        <p:nvPicPr>
          <p:cNvPr id="4" name="pillar-0-icon" descr="preencoded.png">    </p:cNvPr>
          <p:cNvPicPr>
            <a:picLocks noChangeAspect="1"/>
          </p:cNvPicPr>
          <p:nvPr/>
        </p:nvPicPr>
        <p:blipFill>
          <a:blip r:embed="rId1"/>
          <a:stretch>
            <a:fillRect/>
          </a:stretch>
        </p:blipFill>
        <p:spPr>
          <a:xfrm>
            <a:off x="2171700" y="1851660"/>
            <a:ext cx="594360" cy="594360"/>
          </a:xfrm>
          <a:prstGeom prst="rect">
            <a:avLst/>
          </a:prstGeom>
        </p:spPr>
      </p:pic>
      <p:sp>
        <p:nvSpPr>
          <p:cNvPr id="5" name="Text 2"/>
          <p:cNvSpPr txBox="1"/>
          <p:nvPr/>
        </p:nvSpPr>
        <p:spPr>
          <a:xfrm>
            <a:off x="731520" y="2971800"/>
            <a:ext cx="3474720" cy="548640"/>
          </a:xfrm>
          <a:prstGeom prst="rect">
            <a:avLst/>
          </a:prstGeom>
          <a:noFill/>
          <a:ln/>
        </p:spPr>
        <p:txBody>
          <a:bodyPr wrap="square" lIns="0" tIns="0" rIns="0" bIns="0" rtlCol="0" anchor="t"/>
          <a:lstStyle/>
          <a:p>
            <a:pPr algn="ctr" indent="0" marL="0">
              <a:buNone/>
            </a:pPr>
            <a:r>
              <a:rPr lang="en-US" sz="2600" b="1" dirty="0">
                <a:solidFill>
                  <a:srgbClr val="54A24B"/>
                </a:solidFill>
                <a:latin typeface="Segoe UI Semibold" pitchFamily="34" charset="0"/>
                <a:ea typeface="Segoe UI Semibold" pitchFamily="34" charset="-122"/>
                <a:cs typeface="Segoe UI Semibold" pitchFamily="34" charset="-120"/>
              </a:rPr>
              <a:t>Extract</a:t>
            </a:r>
            <a:endParaRPr lang="en-US" sz="2600" dirty="0"/>
          </a:p>
        </p:txBody>
      </p:sp>
      <p:sp>
        <p:nvSpPr>
          <p:cNvPr id="6" name="Text 3"/>
          <p:cNvSpPr txBox="1"/>
          <p:nvPr/>
        </p:nvSpPr>
        <p:spPr>
          <a:xfrm>
            <a:off x="914400" y="3611880"/>
            <a:ext cx="3108960" cy="1645920"/>
          </a:xfrm>
          <a:prstGeom prst="rect">
            <a:avLst/>
          </a:prstGeom>
          <a:noFill/>
          <a:ln/>
        </p:spPr>
        <p:txBody>
          <a:bodyPr wrap="square" lIns="0" tIns="0" rIns="0" bIns="0" rtlCol="0" anchor="t"/>
          <a:lstStyle/>
          <a:p>
            <a:pPr algn="ctr" indent="0" marL="0">
              <a:buNone/>
            </a:pPr>
            <a:r>
              <a:rPr lang="en-US" sz="1600" dirty="0">
                <a:solidFill>
                  <a:srgbClr val="E6E9EE"/>
                </a:solidFill>
                <a:latin typeface="Segoe UI" pitchFamily="34" charset="0"/>
                <a:ea typeface="Segoe UI" pitchFamily="34" charset="-122"/>
                <a:cs typeface="Segoe UI" pitchFamily="34" charset="-120"/>
              </a:rPr>
              <a:t>Two SciBERT models on Amazon SageMaker find methods, tasks, datasets, metrics and the relations between them.</a:t>
            </a:r>
            <a:endParaRPr lang="en-US" sz="1600" dirty="0"/>
          </a:p>
        </p:txBody>
      </p:sp>
      <p:sp>
        <p:nvSpPr>
          <p:cNvPr id="7" name="Shape 4"/>
          <p:cNvSpPr/>
          <p:nvPr/>
        </p:nvSpPr>
        <p:spPr>
          <a:xfrm>
            <a:off x="3337560" y="2148840"/>
            <a:ext cx="914400" cy="0"/>
          </a:xfrm>
          <a:prstGeom prst="line">
            <a:avLst/>
          </a:prstGeom>
          <a:noFill/>
          <a:ln w="25400">
            <a:solidFill>
              <a:srgbClr val="9AA3B2"/>
            </a:solidFill>
            <a:prstDash val="solid"/>
            <a:tailEnd type="triangle"/>
          </a:ln>
        </p:spPr>
      </p:sp>
      <p:sp>
        <p:nvSpPr>
          <p:cNvPr id="8" name="pillar-1-circle"/>
          <p:cNvSpPr/>
          <p:nvPr/>
        </p:nvSpPr>
        <p:spPr>
          <a:xfrm>
            <a:off x="5669280" y="1554480"/>
            <a:ext cx="1188720" cy="1188720"/>
          </a:xfrm>
          <a:prstGeom prst="ellipse">
            <a:avLst/>
          </a:prstGeom>
          <a:solidFill>
            <a:srgbClr val="4C78A8"/>
          </a:solidFill>
          <a:ln w="12700">
            <a:solidFill>
              <a:srgbClr val="4C78A8"/>
            </a:solidFill>
            <a:prstDash val="solid"/>
          </a:ln>
        </p:spPr>
      </p:sp>
      <p:pic>
        <p:nvPicPr>
          <p:cNvPr id="9" name="pillar-1-icon" descr="preencoded.png">    </p:cNvPr>
          <p:cNvPicPr>
            <a:picLocks noChangeAspect="1"/>
          </p:cNvPicPr>
          <p:nvPr/>
        </p:nvPicPr>
        <p:blipFill>
          <a:blip r:embed="rId2"/>
          <a:stretch>
            <a:fillRect/>
          </a:stretch>
        </p:blipFill>
        <p:spPr>
          <a:xfrm>
            <a:off x="5966460" y="1851660"/>
            <a:ext cx="594360" cy="594360"/>
          </a:xfrm>
          <a:prstGeom prst="rect">
            <a:avLst/>
          </a:prstGeom>
        </p:spPr>
      </p:pic>
      <p:sp>
        <p:nvSpPr>
          <p:cNvPr id="10" name="Text 6"/>
          <p:cNvSpPr txBox="1"/>
          <p:nvPr/>
        </p:nvSpPr>
        <p:spPr>
          <a:xfrm>
            <a:off x="4526280" y="2971800"/>
            <a:ext cx="3474720" cy="548640"/>
          </a:xfrm>
          <a:prstGeom prst="rect">
            <a:avLst/>
          </a:prstGeom>
          <a:noFill/>
          <a:ln/>
        </p:spPr>
        <p:txBody>
          <a:bodyPr wrap="square" lIns="0" tIns="0" rIns="0" bIns="0" rtlCol="0" anchor="t"/>
          <a:lstStyle/>
          <a:p>
            <a:pPr algn="ctr" indent="0" marL="0">
              <a:buNone/>
            </a:pPr>
            <a:r>
              <a:rPr lang="en-US" sz="2600" b="1" dirty="0">
                <a:solidFill>
                  <a:srgbClr val="4C78A8"/>
                </a:solidFill>
                <a:latin typeface="Segoe UI Semibold" pitchFamily="34" charset="0"/>
                <a:ea typeface="Segoe UI Semibold" pitchFamily="34" charset="-122"/>
                <a:cs typeface="Segoe UI Semibold" pitchFamily="34" charset="-120"/>
              </a:rPr>
              <a:t>Store</a:t>
            </a:r>
            <a:endParaRPr lang="en-US" sz="2600" dirty="0"/>
          </a:p>
        </p:txBody>
      </p:sp>
      <p:sp>
        <p:nvSpPr>
          <p:cNvPr id="11" name="Text 7"/>
          <p:cNvSpPr txBox="1"/>
          <p:nvPr/>
        </p:nvSpPr>
        <p:spPr>
          <a:xfrm>
            <a:off x="4709160" y="3611880"/>
            <a:ext cx="3108960" cy="1645920"/>
          </a:xfrm>
          <a:prstGeom prst="rect">
            <a:avLst/>
          </a:prstGeom>
          <a:noFill/>
          <a:ln/>
        </p:spPr>
        <p:txBody>
          <a:bodyPr wrap="square" lIns="0" tIns="0" rIns="0" bIns="0" rtlCol="0" anchor="t"/>
          <a:lstStyle/>
          <a:p>
            <a:pPr algn="ctr" indent="0" marL="0">
              <a:buNone/>
            </a:pPr>
            <a:r>
              <a:rPr lang="en-US" sz="1600" dirty="0">
                <a:solidFill>
                  <a:srgbClr val="E6E9EE"/>
                </a:solidFill>
                <a:latin typeface="Segoe UI" pitchFamily="34" charset="0"/>
                <a:ea typeface="Segoe UI" pitchFamily="34" charset="-122"/>
                <a:cs typeface="Segoe UI" pitchFamily="34" charset="-120"/>
              </a:rPr>
              <a:t>Everything goes into a knowledge graph: papers, authors, institutions and the extracted entities, linked by typed edges.</a:t>
            </a:r>
            <a:endParaRPr lang="en-US" sz="1600" dirty="0"/>
          </a:p>
        </p:txBody>
      </p:sp>
      <p:sp>
        <p:nvSpPr>
          <p:cNvPr id="12" name="Shape 8"/>
          <p:cNvSpPr/>
          <p:nvPr/>
        </p:nvSpPr>
        <p:spPr>
          <a:xfrm>
            <a:off x="7132320" y="2148840"/>
            <a:ext cx="914400" cy="0"/>
          </a:xfrm>
          <a:prstGeom prst="line">
            <a:avLst/>
          </a:prstGeom>
          <a:noFill/>
          <a:ln w="25400">
            <a:solidFill>
              <a:srgbClr val="9AA3B2"/>
            </a:solidFill>
            <a:prstDash val="solid"/>
            <a:tailEnd type="triangle"/>
          </a:ln>
        </p:spPr>
      </p:sp>
      <p:sp>
        <p:nvSpPr>
          <p:cNvPr id="13" name="pillar-2-circle"/>
          <p:cNvSpPr/>
          <p:nvPr/>
        </p:nvSpPr>
        <p:spPr>
          <a:xfrm>
            <a:off x="9464040" y="1554480"/>
            <a:ext cx="1188720" cy="1188720"/>
          </a:xfrm>
          <a:prstGeom prst="ellipse">
            <a:avLst/>
          </a:prstGeom>
          <a:solidFill>
            <a:srgbClr val="6B9CF0"/>
          </a:solidFill>
          <a:ln w="12700">
            <a:solidFill>
              <a:srgbClr val="6B9CF0"/>
            </a:solidFill>
            <a:prstDash val="solid"/>
          </a:ln>
        </p:spPr>
      </p:sp>
      <p:pic>
        <p:nvPicPr>
          <p:cNvPr id="14" name="pillar-2-icon" descr="preencoded.png">    </p:cNvPr>
          <p:cNvPicPr>
            <a:picLocks noChangeAspect="1"/>
          </p:cNvPicPr>
          <p:nvPr/>
        </p:nvPicPr>
        <p:blipFill>
          <a:blip r:embed="rId3"/>
          <a:stretch>
            <a:fillRect/>
          </a:stretch>
        </p:blipFill>
        <p:spPr>
          <a:xfrm>
            <a:off x="9761220" y="1851660"/>
            <a:ext cx="594360" cy="594360"/>
          </a:xfrm>
          <a:prstGeom prst="rect">
            <a:avLst/>
          </a:prstGeom>
        </p:spPr>
      </p:pic>
      <p:sp>
        <p:nvSpPr>
          <p:cNvPr id="15" name="Text 10"/>
          <p:cNvSpPr txBox="1"/>
          <p:nvPr/>
        </p:nvSpPr>
        <p:spPr>
          <a:xfrm>
            <a:off x="8321040" y="2971800"/>
            <a:ext cx="3474720" cy="548640"/>
          </a:xfrm>
          <a:prstGeom prst="rect">
            <a:avLst/>
          </a:prstGeom>
          <a:noFill/>
          <a:ln/>
        </p:spPr>
        <p:txBody>
          <a:bodyPr wrap="square" lIns="0" tIns="0" rIns="0" bIns="0" rtlCol="0" anchor="t"/>
          <a:lstStyle/>
          <a:p>
            <a:pPr algn="ctr" indent="0" marL="0">
              <a:buNone/>
            </a:pPr>
            <a:r>
              <a:rPr lang="en-US" sz="2600" b="1" dirty="0">
                <a:solidFill>
                  <a:srgbClr val="6B9CF0"/>
                </a:solidFill>
                <a:latin typeface="Segoe UI Semibold" pitchFamily="34" charset="0"/>
                <a:ea typeface="Segoe UI Semibold" pitchFamily="34" charset="-122"/>
                <a:cs typeface="Segoe UI Semibold" pitchFamily="34" charset="-120"/>
              </a:rPr>
              <a:t>Ask</a:t>
            </a:r>
            <a:endParaRPr lang="en-US" sz="2600" dirty="0"/>
          </a:p>
        </p:txBody>
      </p:sp>
      <p:sp>
        <p:nvSpPr>
          <p:cNvPr id="16" name="Text 11"/>
          <p:cNvSpPr txBox="1"/>
          <p:nvPr/>
        </p:nvSpPr>
        <p:spPr>
          <a:xfrm>
            <a:off x="8503920" y="3611880"/>
            <a:ext cx="3108960" cy="1645920"/>
          </a:xfrm>
          <a:prstGeom prst="rect">
            <a:avLst/>
          </a:prstGeom>
          <a:noFill/>
          <a:ln/>
        </p:spPr>
        <p:txBody>
          <a:bodyPr wrap="square" lIns="0" tIns="0" rIns="0" bIns="0" rtlCol="0" anchor="t"/>
          <a:lstStyle/>
          <a:p>
            <a:pPr algn="ctr" indent="0" marL="0">
              <a:buNone/>
            </a:pPr>
            <a:r>
              <a:rPr lang="en-US" sz="1600" dirty="0">
                <a:solidFill>
                  <a:srgbClr val="E6E9EE"/>
                </a:solidFill>
                <a:latin typeface="Segoe UI" pitchFamily="34" charset="0"/>
                <a:ea typeface="Segoe UI" pitchFamily="34" charset="-122"/>
                <a:cs typeface="Segoe UI" pitchFamily="34" charset="-120"/>
              </a:rPr>
              <a:t>GraphRAG retrieves the relevant facts and the LLM answers only from them, citing each source paper.</a:t>
            </a:r>
            <a:endParaRPr lang="en-US" sz="1600" dirty="0"/>
          </a:p>
        </p:txBody>
      </p:sp>
      <p:sp>
        <p:nvSpPr>
          <p:cNvPr id="17" name="solution-strip"/>
          <p:cNvSpPr/>
          <p:nvPr/>
        </p:nvSpPr>
        <p:spPr>
          <a:xfrm>
            <a:off x="731520" y="5486400"/>
            <a:ext cx="10698480" cy="685800"/>
          </a:xfrm>
          <a:prstGeom prst="roundRect">
            <a:avLst>
              <a:gd name="adj" fmla="val 16000"/>
            </a:avLst>
          </a:prstGeom>
          <a:solidFill>
            <a:srgbClr val="232832"/>
          </a:solidFill>
          <a:ln w="12700">
            <a:solidFill>
              <a:srgbClr val="2E343E"/>
            </a:solidFill>
            <a:prstDash val="solid"/>
          </a:ln>
        </p:spPr>
      </p:sp>
      <p:sp>
        <p:nvSpPr>
          <p:cNvPr id="18" name="Text 13"/>
          <p:cNvSpPr txBox="1"/>
          <p:nvPr/>
        </p:nvSpPr>
        <p:spPr>
          <a:xfrm>
            <a:off x="914400" y="5577840"/>
            <a:ext cx="10332720" cy="502920"/>
          </a:xfrm>
          <a:prstGeom prst="rect">
            <a:avLst/>
          </a:prstGeom>
          <a:noFill/>
          <a:ln/>
        </p:spPr>
        <p:txBody>
          <a:bodyPr wrap="square" lIns="0" tIns="0" rIns="0" bIns="0" rtlCol="0" anchor="ctr"/>
          <a:lstStyle/>
          <a:p>
            <a:pPr indent="0" marL="0">
              <a:buNone/>
            </a:pPr>
            <a:r>
              <a:rPr lang="en-US" sz="1500" dirty="0">
                <a:solidFill>
                  <a:srgbClr val="9AA3B2"/>
                </a:solidFill>
                <a:latin typeface="Segoe UI" pitchFamily="34" charset="0"/>
                <a:ea typeface="Segoe UI" pitchFamily="34" charset="-122"/>
                <a:cs typeface="Segoe UI" pitchFamily="34" charset="-120"/>
              </a:rPr>
              <a:t>All of it runs serverless on AWS: papers dropped into S3 are processed automatically, and researchers use a secure web dashboard.</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Six measurable objectives, all achieved</a:t>
            </a:r>
            <a:endParaRPr lang="en-US" sz="3200" dirty="0"/>
          </a:p>
        </p:txBody>
      </p:sp>
      <p:sp>
        <p:nvSpPr>
          <p:cNvPr id="3" name="objective-card-0"/>
          <p:cNvSpPr/>
          <p:nvPr/>
        </p:nvSpPr>
        <p:spPr>
          <a:xfrm>
            <a:off x="548640" y="1463040"/>
            <a:ext cx="3474720" cy="2148840"/>
          </a:xfrm>
          <a:prstGeom prst="roundRect">
            <a:avLst>
              <a:gd name="adj" fmla="val 5106"/>
            </a:avLst>
          </a:prstGeom>
          <a:solidFill>
            <a:srgbClr val="1D2128"/>
          </a:solidFill>
          <a:ln w="12700">
            <a:solidFill>
              <a:srgbClr val="2E343E"/>
            </a:solidFill>
            <a:prstDash val="solid"/>
          </a:ln>
        </p:spPr>
      </p:sp>
      <p:sp>
        <p:nvSpPr>
          <p:cNvPr id="4" name="objective-0-circle"/>
          <p:cNvSpPr/>
          <p:nvPr/>
        </p:nvSpPr>
        <p:spPr>
          <a:xfrm>
            <a:off x="822960" y="1737360"/>
            <a:ext cx="640080" cy="640080"/>
          </a:xfrm>
          <a:prstGeom prst="ellipse">
            <a:avLst/>
          </a:prstGeom>
          <a:solidFill>
            <a:srgbClr val="54A24B"/>
          </a:solidFill>
          <a:ln w="12700">
            <a:solidFill>
              <a:srgbClr val="54A24B"/>
            </a:solidFill>
            <a:prstDash val="solid"/>
          </a:ln>
        </p:spPr>
      </p:sp>
      <p:pic>
        <p:nvPicPr>
          <p:cNvPr id="5" name="objective-0-icon" descr="preencoded.png">    </p:cNvPr>
          <p:cNvPicPr>
            <a:picLocks noChangeAspect="1"/>
          </p:cNvPicPr>
          <p:nvPr/>
        </p:nvPicPr>
        <p:blipFill>
          <a:blip r:embed="rId1"/>
          <a:stretch>
            <a:fillRect/>
          </a:stretch>
        </p:blipFill>
        <p:spPr>
          <a:xfrm>
            <a:off x="982980" y="1897380"/>
            <a:ext cx="320040" cy="320040"/>
          </a:xfrm>
          <a:prstGeom prst="rect">
            <a:avLst/>
          </a:prstGeom>
        </p:spPr>
      </p:pic>
      <p:sp>
        <p:nvSpPr>
          <p:cNvPr id="6" name="Text 3"/>
          <p:cNvSpPr txBox="1"/>
          <p:nvPr/>
        </p:nvSpPr>
        <p:spPr>
          <a:xfrm>
            <a:off x="1600200" y="1783080"/>
            <a:ext cx="2286000" cy="594360"/>
          </a:xfrm>
          <a:prstGeom prst="rect">
            <a:avLst/>
          </a:prstGeom>
          <a:noFill/>
          <a:ln/>
        </p:spPr>
        <p:txBody>
          <a:bodyPr wrap="square" lIns="0" tIns="0" rIns="0" bIns="0" rtlCol="0" anchor="ctr"/>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1. Automated extraction</a:t>
            </a:r>
            <a:endParaRPr lang="en-US" sz="1700" dirty="0"/>
          </a:p>
        </p:txBody>
      </p:sp>
      <p:sp>
        <p:nvSpPr>
          <p:cNvPr id="7" name="Text 4"/>
          <p:cNvSpPr txBox="1"/>
          <p:nvPr/>
        </p:nvSpPr>
        <p:spPr>
          <a:xfrm>
            <a:off x="822960" y="2560320"/>
            <a:ext cx="2971800" cy="9144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Entity F1 0.618, relation F1 0.661 (target 0.60)</a:t>
            </a:r>
            <a:endParaRPr lang="en-US" sz="1500" dirty="0"/>
          </a:p>
        </p:txBody>
      </p:sp>
      <p:sp>
        <p:nvSpPr>
          <p:cNvPr id="8" name="objective-card-1"/>
          <p:cNvSpPr/>
          <p:nvPr/>
        </p:nvSpPr>
        <p:spPr>
          <a:xfrm>
            <a:off x="4297680" y="1463040"/>
            <a:ext cx="3474720" cy="2148840"/>
          </a:xfrm>
          <a:prstGeom prst="roundRect">
            <a:avLst>
              <a:gd name="adj" fmla="val 5106"/>
            </a:avLst>
          </a:prstGeom>
          <a:solidFill>
            <a:srgbClr val="1D2128"/>
          </a:solidFill>
          <a:ln w="12700">
            <a:solidFill>
              <a:srgbClr val="2E343E"/>
            </a:solidFill>
            <a:prstDash val="solid"/>
          </a:ln>
        </p:spPr>
      </p:sp>
      <p:sp>
        <p:nvSpPr>
          <p:cNvPr id="9" name="objective-1-circle"/>
          <p:cNvSpPr/>
          <p:nvPr/>
        </p:nvSpPr>
        <p:spPr>
          <a:xfrm>
            <a:off x="4572000" y="1737360"/>
            <a:ext cx="640080" cy="640080"/>
          </a:xfrm>
          <a:prstGeom prst="ellipse">
            <a:avLst/>
          </a:prstGeom>
          <a:solidFill>
            <a:srgbClr val="EECA3B"/>
          </a:solidFill>
          <a:ln w="12700">
            <a:solidFill>
              <a:srgbClr val="EECA3B"/>
            </a:solidFill>
            <a:prstDash val="solid"/>
          </a:ln>
        </p:spPr>
      </p:sp>
      <p:pic>
        <p:nvPicPr>
          <p:cNvPr id="10" name="objective-1-icon" descr="preencoded.png">    </p:cNvPr>
          <p:cNvPicPr>
            <a:picLocks noChangeAspect="1"/>
          </p:cNvPicPr>
          <p:nvPr/>
        </p:nvPicPr>
        <p:blipFill>
          <a:blip r:embed="rId2"/>
          <a:stretch>
            <a:fillRect/>
          </a:stretch>
        </p:blipFill>
        <p:spPr>
          <a:xfrm>
            <a:off x="4732020" y="1897380"/>
            <a:ext cx="320040" cy="320040"/>
          </a:xfrm>
          <a:prstGeom prst="rect">
            <a:avLst/>
          </a:prstGeom>
        </p:spPr>
      </p:pic>
      <p:sp>
        <p:nvSpPr>
          <p:cNvPr id="11" name="Text 7"/>
          <p:cNvSpPr txBox="1"/>
          <p:nvPr/>
        </p:nvSpPr>
        <p:spPr>
          <a:xfrm>
            <a:off x="5349240" y="1783080"/>
            <a:ext cx="2286000" cy="594360"/>
          </a:xfrm>
          <a:prstGeom prst="rect">
            <a:avLst/>
          </a:prstGeom>
          <a:noFill/>
          <a:ln/>
        </p:spPr>
        <p:txBody>
          <a:bodyPr wrap="square" lIns="0" tIns="0" rIns="0" bIns="0" rtlCol="0" anchor="ctr"/>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2. Serverless processing</a:t>
            </a:r>
            <a:endParaRPr lang="en-US" sz="1700" dirty="0"/>
          </a:p>
        </p:txBody>
      </p:sp>
      <p:sp>
        <p:nvSpPr>
          <p:cNvPr id="12" name="Text 8"/>
          <p:cNvSpPr txBox="1"/>
          <p:nvPr/>
        </p:nvSpPr>
        <p:spPr>
          <a:xfrm>
            <a:off x="4572000" y="2560320"/>
            <a:ext cx="2971800" cy="9144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About 1,350 papers/hour, 0 failures (target 1,000)</a:t>
            </a:r>
            <a:endParaRPr lang="en-US" sz="1500" dirty="0"/>
          </a:p>
        </p:txBody>
      </p:sp>
      <p:sp>
        <p:nvSpPr>
          <p:cNvPr id="13" name="objective-card-2"/>
          <p:cNvSpPr/>
          <p:nvPr/>
        </p:nvSpPr>
        <p:spPr>
          <a:xfrm>
            <a:off x="8046720" y="1463040"/>
            <a:ext cx="3474720" cy="2148840"/>
          </a:xfrm>
          <a:prstGeom prst="roundRect">
            <a:avLst>
              <a:gd name="adj" fmla="val 5106"/>
            </a:avLst>
          </a:prstGeom>
          <a:solidFill>
            <a:srgbClr val="1D2128"/>
          </a:solidFill>
          <a:ln w="12700">
            <a:solidFill>
              <a:srgbClr val="2E343E"/>
            </a:solidFill>
            <a:prstDash val="solid"/>
          </a:ln>
        </p:spPr>
      </p:sp>
      <p:sp>
        <p:nvSpPr>
          <p:cNvPr id="14" name="objective-2-circle"/>
          <p:cNvSpPr/>
          <p:nvPr/>
        </p:nvSpPr>
        <p:spPr>
          <a:xfrm>
            <a:off x="8321040" y="1737360"/>
            <a:ext cx="640080" cy="640080"/>
          </a:xfrm>
          <a:prstGeom prst="ellipse">
            <a:avLst/>
          </a:prstGeom>
          <a:solidFill>
            <a:srgbClr val="6B9CF0"/>
          </a:solidFill>
          <a:ln w="12700">
            <a:solidFill>
              <a:srgbClr val="6B9CF0"/>
            </a:solidFill>
            <a:prstDash val="solid"/>
          </a:ln>
        </p:spPr>
      </p:sp>
      <p:pic>
        <p:nvPicPr>
          <p:cNvPr id="15" name="objective-2-icon" descr="preencoded.png">    </p:cNvPr>
          <p:cNvPicPr>
            <a:picLocks noChangeAspect="1"/>
          </p:cNvPicPr>
          <p:nvPr/>
        </p:nvPicPr>
        <p:blipFill>
          <a:blip r:embed="rId3"/>
          <a:stretch>
            <a:fillRect/>
          </a:stretch>
        </p:blipFill>
        <p:spPr>
          <a:xfrm>
            <a:off x="8481060" y="1897380"/>
            <a:ext cx="320040" cy="320040"/>
          </a:xfrm>
          <a:prstGeom prst="rect">
            <a:avLst/>
          </a:prstGeom>
        </p:spPr>
      </p:pic>
      <p:sp>
        <p:nvSpPr>
          <p:cNvPr id="16" name="Text 11"/>
          <p:cNvSpPr txBox="1"/>
          <p:nvPr/>
        </p:nvSpPr>
        <p:spPr>
          <a:xfrm>
            <a:off x="9098280" y="1783080"/>
            <a:ext cx="2286000" cy="594360"/>
          </a:xfrm>
          <a:prstGeom prst="rect">
            <a:avLst/>
          </a:prstGeom>
          <a:noFill/>
          <a:ln/>
        </p:spPr>
        <p:txBody>
          <a:bodyPr wrap="square" lIns="0" tIns="0" rIns="0" bIns="0" rtlCol="0" anchor="ctr"/>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3. Grounded answers</a:t>
            </a:r>
            <a:endParaRPr lang="en-US" sz="1700" dirty="0"/>
          </a:p>
        </p:txBody>
      </p:sp>
      <p:sp>
        <p:nvSpPr>
          <p:cNvPr id="17" name="Text 12"/>
          <p:cNvSpPr txBox="1"/>
          <p:nvPr/>
        </p:nvSpPr>
        <p:spPr>
          <a:xfrm>
            <a:off x="8321040" y="2560320"/>
            <a:ext cx="2971800" cy="9144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0% hallucination vs 62.5% without the graph</a:t>
            </a:r>
            <a:endParaRPr lang="en-US" sz="1500" dirty="0"/>
          </a:p>
        </p:txBody>
      </p:sp>
      <p:sp>
        <p:nvSpPr>
          <p:cNvPr id="18" name="objective-card-3"/>
          <p:cNvSpPr/>
          <p:nvPr/>
        </p:nvSpPr>
        <p:spPr>
          <a:xfrm>
            <a:off x="548640" y="3886200"/>
            <a:ext cx="3474720" cy="2148840"/>
          </a:xfrm>
          <a:prstGeom prst="roundRect">
            <a:avLst>
              <a:gd name="adj" fmla="val 5106"/>
            </a:avLst>
          </a:prstGeom>
          <a:solidFill>
            <a:srgbClr val="1D2128"/>
          </a:solidFill>
          <a:ln w="12700">
            <a:solidFill>
              <a:srgbClr val="2E343E"/>
            </a:solidFill>
            <a:prstDash val="solid"/>
          </a:ln>
        </p:spPr>
      </p:sp>
      <p:sp>
        <p:nvSpPr>
          <p:cNvPr id="19" name="objective-3-circle"/>
          <p:cNvSpPr/>
          <p:nvPr/>
        </p:nvSpPr>
        <p:spPr>
          <a:xfrm>
            <a:off x="822960" y="4160520"/>
            <a:ext cx="640080" cy="640080"/>
          </a:xfrm>
          <a:prstGeom prst="ellipse">
            <a:avLst/>
          </a:prstGeom>
          <a:solidFill>
            <a:srgbClr val="4C78A8"/>
          </a:solidFill>
          <a:ln w="12700">
            <a:solidFill>
              <a:srgbClr val="4C78A8"/>
            </a:solidFill>
            <a:prstDash val="solid"/>
          </a:ln>
        </p:spPr>
      </p:sp>
      <p:pic>
        <p:nvPicPr>
          <p:cNvPr id="20" name="objective-3-icon" descr="preencoded.png">    </p:cNvPr>
          <p:cNvPicPr>
            <a:picLocks noChangeAspect="1"/>
          </p:cNvPicPr>
          <p:nvPr/>
        </p:nvPicPr>
        <p:blipFill>
          <a:blip r:embed="rId4"/>
          <a:stretch>
            <a:fillRect/>
          </a:stretch>
        </p:blipFill>
        <p:spPr>
          <a:xfrm>
            <a:off x="982980" y="4320540"/>
            <a:ext cx="320040" cy="320040"/>
          </a:xfrm>
          <a:prstGeom prst="rect">
            <a:avLst/>
          </a:prstGeom>
        </p:spPr>
      </p:pic>
      <p:sp>
        <p:nvSpPr>
          <p:cNvPr id="21" name="Text 15"/>
          <p:cNvSpPr txBox="1"/>
          <p:nvPr/>
        </p:nvSpPr>
        <p:spPr>
          <a:xfrm>
            <a:off x="1600200" y="4206240"/>
            <a:ext cx="2286000" cy="594360"/>
          </a:xfrm>
          <a:prstGeom prst="rect">
            <a:avLst/>
          </a:prstGeom>
          <a:noFill/>
          <a:ln/>
        </p:spPr>
        <p:txBody>
          <a:bodyPr wrap="square" lIns="0" tIns="0" rIns="0" bIns="0" rtlCol="0" anchor="ctr"/>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4. Graph storage</a:t>
            </a:r>
            <a:endParaRPr lang="en-US" sz="1700" dirty="0"/>
          </a:p>
        </p:txBody>
      </p:sp>
      <p:sp>
        <p:nvSpPr>
          <p:cNvPr id="22" name="Text 16"/>
          <p:cNvSpPr txBox="1"/>
          <p:nvPr/>
        </p:nvSpPr>
        <p:spPr>
          <a:xfrm>
            <a:off x="822960" y="4983480"/>
            <a:ext cx="2971800" cy="9144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29,320 nodes, retrieval 0.535 s (target &lt; 1 s)</a:t>
            </a:r>
            <a:endParaRPr lang="en-US" sz="1500" dirty="0"/>
          </a:p>
        </p:txBody>
      </p:sp>
      <p:sp>
        <p:nvSpPr>
          <p:cNvPr id="23" name="objective-card-4"/>
          <p:cNvSpPr/>
          <p:nvPr/>
        </p:nvSpPr>
        <p:spPr>
          <a:xfrm>
            <a:off x="4297680" y="3886200"/>
            <a:ext cx="3474720" cy="2148840"/>
          </a:xfrm>
          <a:prstGeom prst="roundRect">
            <a:avLst>
              <a:gd name="adj" fmla="val 5106"/>
            </a:avLst>
          </a:prstGeom>
          <a:solidFill>
            <a:srgbClr val="1D2128"/>
          </a:solidFill>
          <a:ln w="12700">
            <a:solidFill>
              <a:srgbClr val="2E343E"/>
            </a:solidFill>
            <a:prstDash val="solid"/>
          </a:ln>
        </p:spPr>
      </p:sp>
      <p:sp>
        <p:nvSpPr>
          <p:cNvPr id="24" name="objective-4-circle"/>
          <p:cNvSpPr/>
          <p:nvPr/>
        </p:nvSpPr>
        <p:spPr>
          <a:xfrm>
            <a:off x="4572000" y="4160520"/>
            <a:ext cx="640080" cy="640080"/>
          </a:xfrm>
          <a:prstGeom prst="ellipse">
            <a:avLst/>
          </a:prstGeom>
          <a:solidFill>
            <a:srgbClr val="B279A2"/>
          </a:solidFill>
          <a:ln w="12700">
            <a:solidFill>
              <a:srgbClr val="B279A2"/>
            </a:solidFill>
            <a:prstDash val="solid"/>
          </a:ln>
        </p:spPr>
      </p:sp>
      <p:pic>
        <p:nvPicPr>
          <p:cNvPr id="25" name="objective-4-icon" descr="preencoded.png">    </p:cNvPr>
          <p:cNvPicPr>
            <a:picLocks noChangeAspect="1"/>
          </p:cNvPicPr>
          <p:nvPr/>
        </p:nvPicPr>
        <p:blipFill>
          <a:blip r:embed="rId5"/>
          <a:stretch>
            <a:fillRect/>
          </a:stretch>
        </p:blipFill>
        <p:spPr>
          <a:xfrm>
            <a:off x="4732020" y="4320540"/>
            <a:ext cx="320040" cy="320040"/>
          </a:xfrm>
          <a:prstGeom prst="rect">
            <a:avLst/>
          </a:prstGeom>
        </p:spPr>
      </p:pic>
      <p:sp>
        <p:nvSpPr>
          <p:cNvPr id="26" name="Text 19"/>
          <p:cNvSpPr txBox="1"/>
          <p:nvPr/>
        </p:nvSpPr>
        <p:spPr>
          <a:xfrm>
            <a:off x="5349240" y="4206240"/>
            <a:ext cx="2286000" cy="594360"/>
          </a:xfrm>
          <a:prstGeom prst="rect">
            <a:avLst/>
          </a:prstGeom>
          <a:noFill/>
          <a:ln/>
        </p:spPr>
        <p:txBody>
          <a:bodyPr wrap="square" lIns="0" tIns="0" rIns="0" bIns="0" rtlCol="0" anchor="ctr"/>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5. Interactive dashboard</a:t>
            </a:r>
            <a:endParaRPr lang="en-US" sz="1700" dirty="0"/>
          </a:p>
        </p:txBody>
      </p:sp>
      <p:sp>
        <p:nvSpPr>
          <p:cNvPr id="27" name="Text 20"/>
          <p:cNvSpPr txBox="1"/>
          <p:nvPr/>
        </p:nvSpPr>
        <p:spPr>
          <a:xfrm>
            <a:off x="4572000" y="4983480"/>
            <a:ext cx="2971800" cy="9144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Ask, Explore, Connect, Research 360, Upload</a:t>
            </a:r>
            <a:endParaRPr lang="en-US" sz="1500" dirty="0"/>
          </a:p>
        </p:txBody>
      </p:sp>
      <p:sp>
        <p:nvSpPr>
          <p:cNvPr id="28" name="objective-card-5"/>
          <p:cNvSpPr/>
          <p:nvPr/>
        </p:nvSpPr>
        <p:spPr>
          <a:xfrm>
            <a:off x="8046720" y="3886200"/>
            <a:ext cx="3474720" cy="2148840"/>
          </a:xfrm>
          <a:prstGeom prst="roundRect">
            <a:avLst>
              <a:gd name="adj" fmla="val 5106"/>
            </a:avLst>
          </a:prstGeom>
          <a:solidFill>
            <a:srgbClr val="1D2128"/>
          </a:solidFill>
          <a:ln w="12700">
            <a:solidFill>
              <a:srgbClr val="2E343E"/>
            </a:solidFill>
            <a:prstDash val="solid"/>
          </a:ln>
        </p:spPr>
      </p:sp>
      <p:sp>
        <p:nvSpPr>
          <p:cNvPr id="29" name="objective-5-circle"/>
          <p:cNvSpPr/>
          <p:nvPr/>
        </p:nvSpPr>
        <p:spPr>
          <a:xfrm>
            <a:off x="8321040" y="4160520"/>
            <a:ext cx="640080" cy="640080"/>
          </a:xfrm>
          <a:prstGeom prst="ellipse">
            <a:avLst/>
          </a:prstGeom>
          <a:solidFill>
            <a:srgbClr val="E45756"/>
          </a:solidFill>
          <a:ln w="12700">
            <a:solidFill>
              <a:srgbClr val="E45756"/>
            </a:solidFill>
            <a:prstDash val="solid"/>
          </a:ln>
        </p:spPr>
      </p:sp>
      <p:pic>
        <p:nvPicPr>
          <p:cNvPr id="30" name="objective-5-icon"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86000" cy="594360"/>
          </a:xfrm>
          <a:prstGeom prst="rect">
            <a:avLst/>
          </a:prstGeom>
          <a:noFill/>
          <a:ln/>
        </p:spPr>
        <p:txBody>
          <a:bodyPr wrap="square" lIns="0" tIns="0" rIns="0" bIns="0" rtlCol="0" anchor="ctr"/>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6. Operability</a:t>
            </a:r>
            <a:endParaRPr lang="en-US" sz="1700" dirty="0"/>
          </a:p>
        </p:txBody>
      </p:sp>
      <p:sp>
        <p:nvSpPr>
          <p:cNvPr id="32" name="Text 24"/>
          <p:cNvSpPr txBox="1"/>
          <p:nvPr/>
        </p:nvSpPr>
        <p:spPr>
          <a:xfrm>
            <a:off x="8321040" y="4983480"/>
            <a:ext cx="2971800" cy="9144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Monitoring, alarms, 13/13 end-to-end checks, $0</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Literature survey: 15 papers in three groups</a:t>
            </a:r>
            <a:endParaRPr lang="en-US" sz="3200" dirty="0"/>
          </a:p>
        </p:txBody>
      </p:sp>
      <p:sp>
        <p:nvSpPr>
          <p:cNvPr id="3" name="lit-card-0"/>
          <p:cNvSpPr/>
          <p:nvPr/>
        </p:nvSpPr>
        <p:spPr>
          <a:xfrm>
            <a:off x="548640" y="1463040"/>
            <a:ext cx="3474720" cy="4023360"/>
          </a:xfrm>
          <a:prstGeom prst="roundRect">
            <a:avLst>
              <a:gd name="adj" fmla="val 3158"/>
            </a:avLst>
          </a:prstGeom>
          <a:solidFill>
            <a:srgbClr val="1D2128"/>
          </a:solidFill>
          <a:ln w="12700">
            <a:solidFill>
              <a:srgbClr val="2E343E"/>
            </a:solidFill>
            <a:prstDash val="solid"/>
          </a:ln>
        </p:spPr>
      </p:sp>
      <p:sp>
        <p:nvSpPr>
          <p:cNvPr id="4" name="lit-0-circle"/>
          <p:cNvSpPr/>
          <p:nvPr/>
        </p:nvSpPr>
        <p:spPr>
          <a:xfrm>
            <a:off x="868680" y="1783080"/>
            <a:ext cx="777240" cy="777240"/>
          </a:xfrm>
          <a:prstGeom prst="ellipse">
            <a:avLst/>
          </a:prstGeom>
          <a:solidFill>
            <a:srgbClr val="54A24B"/>
          </a:solidFill>
          <a:ln w="12700">
            <a:solidFill>
              <a:srgbClr val="54A24B"/>
            </a:solidFill>
            <a:prstDash val="solid"/>
          </a:ln>
        </p:spPr>
      </p:sp>
      <p:pic>
        <p:nvPicPr>
          <p:cNvPr id="5" name="lit-0-icon" descr="preencoded.png">    </p:cNvPr>
          <p:cNvPicPr>
            <a:picLocks noChangeAspect="1"/>
          </p:cNvPicPr>
          <p:nvPr/>
        </p:nvPicPr>
        <p:blipFill>
          <a:blip r:embed="rId1"/>
          <a:stretch>
            <a:fillRect/>
          </a:stretch>
        </p:blipFill>
        <p:spPr>
          <a:xfrm>
            <a:off x="1062990" y="1977390"/>
            <a:ext cx="388620" cy="388620"/>
          </a:xfrm>
          <a:prstGeom prst="rect">
            <a:avLst/>
          </a:prstGeom>
        </p:spPr>
      </p:pic>
      <p:sp>
        <p:nvSpPr>
          <p:cNvPr id="6" name="Text 3"/>
          <p:cNvSpPr txBox="1"/>
          <p:nvPr/>
        </p:nvSpPr>
        <p:spPr>
          <a:xfrm>
            <a:off x="868680" y="2743200"/>
            <a:ext cx="2926080" cy="45720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Building graphs</a:t>
            </a:r>
            <a:endParaRPr lang="en-US" sz="1900" dirty="0"/>
          </a:p>
        </p:txBody>
      </p:sp>
      <p:sp>
        <p:nvSpPr>
          <p:cNvPr id="7" name="Text 4"/>
          <p:cNvSpPr txBox="1"/>
          <p:nvPr/>
        </p:nvSpPr>
        <p:spPr>
          <a:xfrm>
            <a:off x="868680" y="3246120"/>
            <a:ext cx="2926080" cy="365760"/>
          </a:xfrm>
          <a:prstGeom prst="rect">
            <a:avLst/>
          </a:prstGeom>
          <a:noFill/>
          <a:ln/>
        </p:spPr>
        <p:txBody>
          <a:bodyPr wrap="square" lIns="0" tIns="0" rIns="0" bIns="0" rtlCol="0" anchor="t"/>
          <a:lstStyle/>
          <a:p>
            <a:pPr indent="0" marL="0">
              <a:buNone/>
            </a:pPr>
            <a:r>
              <a:rPr lang="en-US" sz="1400" b="1" dirty="0">
                <a:solidFill>
                  <a:srgbClr val="54A24B"/>
                </a:solidFill>
                <a:latin typeface="Segoe UI" pitchFamily="34" charset="0"/>
                <a:ea typeface="Segoe UI" pitchFamily="34" charset="-122"/>
                <a:cs typeface="Segoe UI" pitchFamily="34" charset="-120"/>
              </a:rPr>
              <a:t>P1 P2 P5 P11 P14</a:t>
            </a:r>
            <a:endParaRPr lang="en-US" sz="1400" dirty="0"/>
          </a:p>
        </p:txBody>
      </p:sp>
      <p:sp>
        <p:nvSpPr>
          <p:cNvPr id="8" name="Text 5"/>
          <p:cNvSpPr txBox="1"/>
          <p:nvPr/>
        </p:nvSpPr>
        <p:spPr>
          <a:xfrm>
            <a:off x="868680" y="3703320"/>
            <a:ext cx="2880360" cy="16459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Manual ontologies or general-purpose extractors; LLM extraction can hallucinate triples.</a:t>
            </a:r>
            <a:endParaRPr lang="en-US" sz="1500" dirty="0"/>
          </a:p>
        </p:txBody>
      </p:sp>
      <p:sp>
        <p:nvSpPr>
          <p:cNvPr id="9" name="lit-card-1"/>
          <p:cNvSpPr/>
          <p:nvPr/>
        </p:nvSpPr>
        <p:spPr>
          <a:xfrm>
            <a:off x="4297680" y="1463040"/>
            <a:ext cx="3474720" cy="4023360"/>
          </a:xfrm>
          <a:prstGeom prst="roundRect">
            <a:avLst>
              <a:gd name="adj" fmla="val 3158"/>
            </a:avLst>
          </a:prstGeom>
          <a:solidFill>
            <a:srgbClr val="1D2128"/>
          </a:solidFill>
          <a:ln w="12700">
            <a:solidFill>
              <a:srgbClr val="2E343E"/>
            </a:solidFill>
            <a:prstDash val="solid"/>
          </a:ln>
        </p:spPr>
      </p:sp>
      <p:sp>
        <p:nvSpPr>
          <p:cNvPr id="10" name="lit-1-circle"/>
          <p:cNvSpPr/>
          <p:nvPr/>
        </p:nvSpPr>
        <p:spPr>
          <a:xfrm>
            <a:off x="4617720" y="1783080"/>
            <a:ext cx="777240" cy="777240"/>
          </a:xfrm>
          <a:prstGeom prst="ellipse">
            <a:avLst/>
          </a:prstGeom>
          <a:solidFill>
            <a:srgbClr val="4C78A8"/>
          </a:solidFill>
          <a:ln w="12700">
            <a:solidFill>
              <a:srgbClr val="4C78A8"/>
            </a:solidFill>
            <a:prstDash val="solid"/>
          </a:ln>
        </p:spPr>
      </p:sp>
      <p:pic>
        <p:nvPicPr>
          <p:cNvPr id="11" name="lit-1-icon" descr="preencoded.png">    </p:cNvPr>
          <p:cNvPicPr>
            <a:picLocks noChangeAspect="1"/>
          </p:cNvPicPr>
          <p:nvPr/>
        </p:nvPicPr>
        <p:blipFill>
          <a:blip r:embed="rId2"/>
          <a:stretch>
            <a:fillRect/>
          </a:stretch>
        </p:blipFill>
        <p:spPr>
          <a:xfrm>
            <a:off x="4812030" y="1977390"/>
            <a:ext cx="388620" cy="388620"/>
          </a:xfrm>
          <a:prstGeom prst="rect">
            <a:avLst/>
          </a:prstGeom>
        </p:spPr>
      </p:pic>
      <p:sp>
        <p:nvSpPr>
          <p:cNvPr id="12" name="Text 8"/>
          <p:cNvSpPr txBox="1"/>
          <p:nvPr/>
        </p:nvSpPr>
        <p:spPr>
          <a:xfrm>
            <a:off x="4617720" y="2743200"/>
            <a:ext cx="2926080" cy="45720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Reasoning and systems</a:t>
            </a:r>
            <a:endParaRPr lang="en-US" sz="1900" dirty="0"/>
          </a:p>
        </p:txBody>
      </p:sp>
      <p:sp>
        <p:nvSpPr>
          <p:cNvPr id="13" name="Text 9"/>
          <p:cNvSpPr txBox="1"/>
          <p:nvPr/>
        </p:nvSpPr>
        <p:spPr>
          <a:xfrm>
            <a:off x="4617720" y="3246120"/>
            <a:ext cx="2926080" cy="365760"/>
          </a:xfrm>
          <a:prstGeom prst="rect">
            <a:avLst/>
          </a:prstGeom>
          <a:noFill/>
          <a:ln/>
        </p:spPr>
        <p:txBody>
          <a:bodyPr wrap="square" lIns="0" tIns="0" rIns="0" bIns="0" rtlCol="0" anchor="t"/>
          <a:lstStyle/>
          <a:p>
            <a:pPr indent="0" marL="0">
              <a:buNone/>
            </a:pPr>
            <a:r>
              <a:rPr lang="en-US" sz="1400" b="1" dirty="0">
                <a:solidFill>
                  <a:srgbClr val="4C78A8"/>
                </a:solidFill>
                <a:latin typeface="Segoe UI" pitchFamily="34" charset="0"/>
                <a:ea typeface="Segoe UI" pitchFamily="34" charset="-122"/>
                <a:cs typeface="Segoe UI" pitchFamily="34" charset="-120"/>
              </a:rPr>
              <a:t>P6 P7 P10 P12 P15</a:t>
            </a:r>
            <a:endParaRPr lang="en-US" sz="1400" dirty="0"/>
          </a:p>
        </p:txBody>
      </p:sp>
      <p:sp>
        <p:nvSpPr>
          <p:cNvPr id="14" name="Text 10"/>
          <p:cNvSpPr txBox="1"/>
          <p:nvPr/>
        </p:nvSpPr>
        <p:spPr>
          <a:xfrm>
            <a:off x="4617720" y="3703320"/>
            <a:ext cx="2880360" cy="16459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Better completion and reasoning, but offline or simulated; multi-hop reasoning is costly.</a:t>
            </a:r>
            <a:endParaRPr lang="en-US" sz="1500" dirty="0"/>
          </a:p>
        </p:txBody>
      </p:sp>
      <p:sp>
        <p:nvSpPr>
          <p:cNvPr id="15" name="lit-card-2"/>
          <p:cNvSpPr/>
          <p:nvPr/>
        </p:nvSpPr>
        <p:spPr>
          <a:xfrm>
            <a:off x="8046720" y="1463040"/>
            <a:ext cx="3474720" cy="4023360"/>
          </a:xfrm>
          <a:prstGeom prst="roundRect">
            <a:avLst>
              <a:gd name="adj" fmla="val 3158"/>
            </a:avLst>
          </a:prstGeom>
          <a:solidFill>
            <a:srgbClr val="1D2128"/>
          </a:solidFill>
          <a:ln w="12700">
            <a:solidFill>
              <a:srgbClr val="2E343E"/>
            </a:solidFill>
            <a:prstDash val="solid"/>
          </a:ln>
        </p:spPr>
      </p:sp>
      <p:sp>
        <p:nvSpPr>
          <p:cNvPr id="16" name="lit-2-circle"/>
          <p:cNvSpPr/>
          <p:nvPr/>
        </p:nvSpPr>
        <p:spPr>
          <a:xfrm>
            <a:off x="8366760" y="1783080"/>
            <a:ext cx="777240" cy="777240"/>
          </a:xfrm>
          <a:prstGeom prst="ellipse">
            <a:avLst/>
          </a:prstGeom>
          <a:solidFill>
            <a:srgbClr val="6B9CF0"/>
          </a:solidFill>
          <a:ln w="12700">
            <a:solidFill>
              <a:srgbClr val="6B9CF0"/>
            </a:solidFill>
            <a:prstDash val="solid"/>
          </a:ln>
        </p:spPr>
      </p:sp>
      <p:pic>
        <p:nvPicPr>
          <p:cNvPr id="17" name="lit-2-icon" descr="preencoded.png">    </p:cNvPr>
          <p:cNvPicPr>
            <a:picLocks noChangeAspect="1"/>
          </p:cNvPicPr>
          <p:nvPr/>
        </p:nvPicPr>
        <p:blipFill>
          <a:blip r:embed="rId3"/>
          <a:stretch>
            <a:fillRect/>
          </a:stretch>
        </p:blipFill>
        <p:spPr>
          <a:xfrm>
            <a:off x="8561070" y="1977390"/>
            <a:ext cx="388620" cy="388620"/>
          </a:xfrm>
          <a:prstGeom prst="rect">
            <a:avLst/>
          </a:prstGeom>
        </p:spPr>
      </p:pic>
      <p:sp>
        <p:nvSpPr>
          <p:cNvPr id="18" name="Text 13"/>
          <p:cNvSpPr txBox="1"/>
          <p:nvPr/>
        </p:nvSpPr>
        <p:spPr>
          <a:xfrm>
            <a:off x="8366760" y="2743200"/>
            <a:ext cx="2926080" cy="45720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KG-grounded generation</a:t>
            </a:r>
            <a:endParaRPr lang="en-US" sz="1900" dirty="0"/>
          </a:p>
        </p:txBody>
      </p:sp>
      <p:sp>
        <p:nvSpPr>
          <p:cNvPr id="19" name="Text 14"/>
          <p:cNvSpPr txBox="1"/>
          <p:nvPr/>
        </p:nvSpPr>
        <p:spPr>
          <a:xfrm>
            <a:off x="8366760" y="3246120"/>
            <a:ext cx="2926080" cy="365760"/>
          </a:xfrm>
          <a:prstGeom prst="rect">
            <a:avLst/>
          </a:prstGeom>
          <a:noFill/>
          <a:ln/>
        </p:spPr>
        <p:txBody>
          <a:bodyPr wrap="square" lIns="0" tIns="0" rIns="0" bIns="0" rtlCol="0" anchor="t"/>
          <a:lstStyle/>
          <a:p>
            <a:pPr indent="0" marL="0">
              <a:buNone/>
            </a:pPr>
            <a:r>
              <a:rPr lang="en-US" sz="1400" b="1" dirty="0">
                <a:solidFill>
                  <a:srgbClr val="6B9CF0"/>
                </a:solidFill>
                <a:latin typeface="Segoe UI" pitchFamily="34" charset="0"/>
                <a:ea typeface="Segoe UI" pitchFamily="34" charset="-122"/>
                <a:cs typeface="Segoe UI" pitchFamily="34" charset="-120"/>
              </a:rPr>
              <a:t>P3 P4 P8 P9 P13</a:t>
            </a:r>
            <a:endParaRPr lang="en-US" sz="1400" dirty="0"/>
          </a:p>
        </p:txBody>
      </p:sp>
      <p:sp>
        <p:nvSpPr>
          <p:cNvPr id="20" name="Text 15"/>
          <p:cNvSpPr txBox="1"/>
          <p:nvPr/>
        </p:nvSpPr>
        <p:spPr>
          <a:xfrm>
            <a:off x="8366760" y="3703320"/>
            <a:ext cx="2880360" cy="16459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Graphs reduce LLM hallucination, but no cloud deployment or same-model comparison.</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12 papers from IEEE, ACM, Springer, Elsevier and MDPI venues plus 3 recent arXiv preprints; 11 published in 2024-2026. Each member analysed five.</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The gap: no system combines all four</a:t>
            </a:r>
            <a:endParaRPr lang="en-US" sz="3200" dirty="0"/>
          </a:p>
        </p:txBody>
      </p:sp>
      <p:sp>
        <p:nvSpPr>
          <p:cNvPr id="3" name="Shape 1"/>
          <p:cNvSpPr/>
          <p:nvPr/>
        </p:nvSpPr>
        <p:spPr>
          <a:xfrm>
            <a:off x="4754880" y="2286000"/>
            <a:ext cx="1344168" cy="1508760"/>
          </a:xfrm>
          <a:prstGeom prst="line">
            <a:avLst/>
          </a:prstGeom>
          <a:noFill/>
          <a:ln w="25400">
            <a:solidFill>
              <a:srgbClr val="2E343E"/>
            </a:solidFill>
            <a:prstDash val="solid"/>
          </a:ln>
        </p:spPr>
      </p:sp>
      <p:sp>
        <p:nvSpPr>
          <p:cNvPr id="4" name="gap-0-circle"/>
          <p:cNvSpPr/>
          <p:nvPr/>
        </p:nvSpPr>
        <p:spPr>
          <a:xfrm>
            <a:off x="4389120" y="1920240"/>
            <a:ext cx="731520" cy="731520"/>
          </a:xfrm>
          <a:prstGeom prst="ellipse">
            <a:avLst/>
          </a:prstGeom>
          <a:solidFill>
            <a:srgbClr val="54A24B"/>
          </a:solidFill>
          <a:ln w="12700">
            <a:solidFill>
              <a:srgbClr val="54A24B"/>
            </a:solidFill>
            <a:prstDash val="solid"/>
          </a:ln>
        </p:spPr>
      </p:sp>
      <p:pic>
        <p:nvPicPr>
          <p:cNvPr id="5" name="gap-0-icon" descr="preencoded.png">    </p:cNvPr>
          <p:cNvPicPr>
            <a:picLocks noChangeAspect="1"/>
          </p:cNvPicPr>
          <p:nvPr/>
        </p:nvPicPr>
        <p:blipFill>
          <a:blip r:embed="rId1"/>
          <a:stretch>
            <a:fillRect/>
          </a:stretch>
        </p:blipFill>
        <p:spPr>
          <a:xfrm>
            <a:off x="4572000" y="2103120"/>
            <a:ext cx="365760" cy="365760"/>
          </a:xfrm>
          <a:prstGeom prst="rect">
            <a:avLst/>
          </a:prstGeom>
        </p:spPr>
      </p:pic>
      <p:sp>
        <p:nvSpPr>
          <p:cNvPr id="6" name="gap-card-0"/>
          <p:cNvSpPr/>
          <p:nvPr/>
        </p:nvSpPr>
        <p:spPr>
          <a:xfrm>
            <a:off x="731520" y="1508760"/>
            <a:ext cx="3474720" cy="1554480"/>
          </a:xfrm>
          <a:prstGeom prst="roundRect">
            <a:avLst>
              <a:gd name="adj" fmla="val 7059"/>
            </a:avLst>
          </a:prstGeom>
          <a:solidFill>
            <a:srgbClr val="1D2128"/>
          </a:solidFill>
          <a:ln w="12700">
            <a:solidFill>
              <a:srgbClr val="2E343E"/>
            </a:solidFill>
            <a:prstDash val="solid"/>
          </a:ln>
        </p:spPr>
      </p:sp>
      <p:sp>
        <p:nvSpPr>
          <p:cNvPr id="7" name="Text 4"/>
          <p:cNvSpPr txBox="1"/>
          <p:nvPr/>
        </p:nvSpPr>
        <p:spPr>
          <a:xfrm>
            <a:off x="1005840" y="1737360"/>
            <a:ext cx="2926080" cy="1097280"/>
          </a:xfrm>
          <a:prstGeom prst="rect">
            <a:avLst/>
          </a:prstGeom>
          <a:noFill/>
          <a:ln/>
        </p:spPr>
        <p:txBody>
          <a:bodyPr wrap="square" lIns="0" tIns="0" rIns="0" bIns="0" rtlCol="0" anchor="ctr"/>
          <a:lstStyle/>
          <a:p>
            <a:pPr indent="0" marL="0">
              <a:buNone/>
            </a:pPr>
            <a:r>
              <a:rPr lang="en-US" sz="1700" dirty="0">
                <a:solidFill>
                  <a:srgbClr val="E6E9EE"/>
                </a:solidFill>
                <a:latin typeface="Segoe UI" pitchFamily="34" charset="0"/>
                <a:ea typeface="Segoe UI" pitchFamily="34" charset="-122"/>
                <a:cs typeface="Segoe UI" pitchFamily="34" charset="-120"/>
              </a:rPr>
              <a:t>Automatic extraction of scientific entities and typed relations</a:t>
            </a:r>
            <a:endParaRPr lang="en-US" sz="1700" dirty="0"/>
          </a:p>
        </p:txBody>
      </p:sp>
      <p:sp>
        <p:nvSpPr>
          <p:cNvPr id="8" name="Shape 5"/>
          <p:cNvSpPr/>
          <p:nvPr/>
        </p:nvSpPr>
        <p:spPr>
          <a:xfrm flipH="1">
            <a:off x="6099048" y="2286000"/>
            <a:ext cx="713232" cy="1508760"/>
          </a:xfrm>
          <a:prstGeom prst="line">
            <a:avLst/>
          </a:prstGeom>
          <a:noFill/>
          <a:ln w="25400">
            <a:solidFill>
              <a:srgbClr val="2E343E"/>
            </a:solidFill>
            <a:prstDash val="solid"/>
          </a:ln>
        </p:spPr>
      </p:sp>
      <p:sp>
        <p:nvSpPr>
          <p:cNvPr id="9" name="gap-1-circle"/>
          <p:cNvSpPr/>
          <p:nvPr/>
        </p:nvSpPr>
        <p:spPr>
          <a:xfrm>
            <a:off x="6446520" y="1920240"/>
            <a:ext cx="731520" cy="731520"/>
          </a:xfrm>
          <a:prstGeom prst="ellipse">
            <a:avLst/>
          </a:prstGeom>
          <a:solidFill>
            <a:srgbClr val="4C78A8"/>
          </a:solidFill>
          <a:ln w="12700">
            <a:solidFill>
              <a:srgbClr val="4C78A8"/>
            </a:solidFill>
            <a:prstDash val="solid"/>
          </a:ln>
        </p:spPr>
      </p:sp>
      <p:pic>
        <p:nvPicPr>
          <p:cNvPr id="10" name="gap-1-icon" descr="preencoded.png">    </p:cNvPr>
          <p:cNvPicPr>
            <a:picLocks noChangeAspect="1"/>
          </p:cNvPicPr>
          <p:nvPr/>
        </p:nvPicPr>
        <p:blipFill>
          <a:blip r:embed="rId2"/>
          <a:stretch>
            <a:fillRect/>
          </a:stretch>
        </p:blipFill>
        <p:spPr>
          <a:xfrm>
            <a:off x="6629400" y="2103120"/>
            <a:ext cx="365760" cy="365760"/>
          </a:xfrm>
          <a:prstGeom prst="rect">
            <a:avLst/>
          </a:prstGeom>
        </p:spPr>
      </p:pic>
      <p:sp>
        <p:nvSpPr>
          <p:cNvPr id="11" name="gap-card-1"/>
          <p:cNvSpPr/>
          <p:nvPr/>
        </p:nvSpPr>
        <p:spPr>
          <a:xfrm>
            <a:off x="7315200" y="1508760"/>
            <a:ext cx="3657600" cy="1554480"/>
          </a:xfrm>
          <a:prstGeom prst="roundRect">
            <a:avLst>
              <a:gd name="adj" fmla="val 7059"/>
            </a:avLst>
          </a:prstGeom>
          <a:solidFill>
            <a:srgbClr val="1D2128"/>
          </a:solidFill>
          <a:ln w="12700">
            <a:solidFill>
              <a:srgbClr val="2E343E"/>
            </a:solidFill>
            <a:prstDash val="solid"/>
          </a:ln>
        </p:spPr>
      </p:sp>
      <p:sp>
        <p:nvSpPr>
          <p:cNvPr id="12" name="Text 8"/>
          <p:cNvSpPr txBox="1"/>
          <p:nvPr/>
        </p:nvSpPr>
        <p:spPr>
          <a:xfrm>
            <a:off x="7589520" y="1737360"/>
            <a:ext cx="3108960" cy="1097280"/>
          </a:xfrm>
          <a:prstGeom prst="rect">
            <a:avLst/>
          </a:prstGeom>
          <a:noFill/>
          <a:ln/>
        </p:spPr>
        <p:txBody>
          <a:bodyPr wrap="square" lIns="0" tIns="0" rIns="0" bIns="0" rtlCol="0" anchor="ctr"/>
          <a:lstStyle/>
          <a:p>
            <a:pPr indent="0" marL="0">
              <a:buNone/>
            </a:pPr>
            <a:r>
              <a:rPr lang="en-US" sz="1700" dirty="0">
                <a:solidFill>
                  <a:srgbClr val="E6E9EE"/>
                </a:solidFill>
                <a:latin typeface="Segoe UI" pitchFamily="34" charset="0"/>
                <a:ea typeface="Segoe UI" pitchFamily="34" charset="-122"/>
                <a:cs typeface="Segoe UI" pitchFamily="34" charset="-120"/>
              </a:rPr>
              <a:t>A graph that updates automatically as new papers arrive</a:t>
            </a:r>
            <a:endParaRPr lang="en-US" sz="1700" dirty="0"/>
          </a:p>
        </p:txBody>
      </p:sp>
      <p:sp>
        <p:nvSpPr>
          <p:cNvPr id="13" name="Shape 9"/>
          <p:cNvSpPr/>
          <p:nvPr/>
        </p:nvSpPr>
        <p:spPr>
          <a:xfrm flipH="1">
            <a:off x="4754880" y="3794760"/>
            <a:ext cx="1344168" cy="1143000"/>
          </a:xfrm>
          <a:prstGeom prst="line">
            <a:avLst/>
          </a:prstGeom>
          <a:noFill/>
          <a:ln w="25400">
            <a:solidFill>
              <a:srgbClr val="2E343E"/>
            </a:solidFill>
            <a:prstDash val="solid"/>
          </a:ln>
        </p:spPr>
      </p:sp>
      <p:sp>
        <p:nvSpPr>
          <p:cNvPr id="14" name="gap-2-circle"/>
          <p:cNvSpPr/>
          <p:nvPr/>
        </p:nvSpPr>
        <p:spPr>
          <a:xfrm>
            <a:off x="4389120" y="4572000"/>
            <a:ext cx="731520" cy="731520"/>
          </a:xfrm>
          <a:prstGeom prst="ellipse">
            <a:avLst/>
          </a:prstGeom>
          <a:solidFill>
            <a:srgbClr val="6B9CF0"/>
          </a:solidFill>
          <a:ln w="12700">
            <a:solidFill>
              <a:srgbClr val="6B9CF0"/>
            </a:solidFill>
            <a:prstDash val="solid"/>
          </a:ln>
        </p:spPr>
      </p:sp>
      <p:pic>
        <p:nvPicPr>
          <p:cNvPr id="15" name="gap-2-icon" descr="preencoded.png">    </p:cNvPr>
          <p:cNvPicPr>
            <a:picLocks noChangeAspect="1"/>
          </p:cNvPicPr>
          <p:nvPr/>
        </p:nvPicPr>
        <p:blipFill>
          <a:blip r:embed="rId3"/>
          <a:stretch>
            <a:fillRect/>
          </a:stretch>
        </p:blipFill>
        <p:spPr>
          <a:xfrm>
            <a:off x="4572000" y="4754880"/>
            <a:ext cx="365760" cy="365760"/>
          </a:xfrm>
          <a:prstGeom prst="rect">
            <a:avLst/>
          </a:prstGeom>
        </p:spPr>
      </p:pic>
      <p:sp>
        <p:nvSpPr>
          <p:cNvPr id="16" name="gap-card-2"/>
          <p:cNvSpPr/>
          <p:nvPr/>
        </p:nvSpPr>
        <p:spPr>
          <a:xfrm>
            <a:off x="731520" y="4160520"/>
            <a:ext cx="3474720" cy="1554480"/>
          </a:xfrm>
          <a:prstGeom prst="roundRect">
            <a:avLst>
              <a:gd name="adj" fmla="val 7059"/>
            </a:avLst>
          </a:prstGeom>
          <a:solidFill>
            <a:srgbClr val="1D2128"/>
          </a:solidFill>
          <a:ln w="12700">
            <a:solidFill>
              <a:srgbClr val="2E343E"/>
            </a:solidFill>
            <a:prstDash val="solid"/>
          </a:ln>
        </p:spPr>
      </p:sp>
      <p:sp>
        <p:nvSpPr>
          <p:cNvPr id="17" name="Text 12"/>
          <p:cNvSpPr txBox="1"/>
          <p:nvPr/>
        </p:nvSpPr>
        <p:spPr>
          <a:xfrm>
            <a:off x="1005840" y="4389120"/>
            <a:ext cx="2926080" cy="1097280"/>
          </a:xfrm>
          <a:prstGeom prst="rect">
            <a:avLst/>
          </a:prstGeom>
          <a:noFill/>
          <a:ln/>
        </p:spPr>
        <p:txBody>
          <a:bodyPr wrap="square" lIns="0" tIns="0" rIns="0" bIns="0" rtlCol="0" anchor="ctr"/>
          <a:lstStyle/>
          <a:p>
            <a:pPr indent="0" marL="0">
              <a:buNone/>
            </a:pPr>
            <a:r>
              <a:rPr lang="en-US" sz="1700" dirty="0">
                <a:solidFill>
                  <a:srgbClr val="E6E9EE"/>
                </a:solidFill>
                <a:latin typeface="Segoe UI" pitchFamily="34" charset="0"/>
                <a:ea typeface="Segoe UI" pitchFamily="34" charset="-122"/>
                <a:cs typeface="Segoe UI" pitchFamily="34" charset="-120"/>
              </a:rPr>
              <a:t>Cited answers, tested against the same LLM without the graph</a:t>
            </a:r>
            <a:endParaRPr lang="en-US" sz="1700" dirty="0"/>
          </a:p>
        </p:txBody>
      </p:sp>
      <p:sp>
        <p:nvSpPr>
          <p:cNvPr id="18" name="Shape 13"/>
          <p:cNvSpPr/>
          <p:nvPr/>
        </p:nvSpPr>
        <p:spPr>
          <a:xfrm>
            <a:off x="6099048" y="3794760"/>
            <a:ext cx="713232" cy="1143000"/>
          </a:xfrm>
          <a:prstGeom prst="line">
            <a:avLst/>
          </a:prstGeom>
          <a:noFill/>
          <a:ln w="25400">
            <a:solidFill>
              <a:srgbClr val="2E343E"/>
            </a:solidFill>
            <a:prstDash val="solid"/>
          </a:ln>
        </p:spPr>
      </p:sp>
      <p:sp>
        <p:nvSpPr>
          <p:cNvPr id="19" name="gap-3-circle"/>
          <p:cNvSpPr/>
          <p:nvPr/>
        </p:nvSpPr>
        <p:spPr>
          <a:xfrm>
            <a:off x="6446520" y="4572000"/>
            <a:ext cx="731520" cy="731520"/>
          </a:xfrm>
          <a:prstGeom prst="ellipse">
            <a:avLst/>
          </a:prstGeom>
          <a:solidFill>
            <a:srgbClr val="F58518"/>
          </a:solidFill>
          <a:ln w="12700">
            <a:solidFill>
              <a:srgbClr val="F58518"/>
            </a:solidFill>
            <a:prstDash val="solid"/>
          </a:ln>
        </p:spPr>
      </p:sp>
      <p:pic>
        <p:nvPicPr>
          <p:cNvPr id="20" name="gap-3-icon" descr="preencoded.png">    </p:cNvPr>
          <p:cNvPicPr>
            <a:picLocks noChangeAspect="1"/>
          </p:cNvPicPr>
          <p:nvPr/>
        </p:nvPicPr>
        <p:blipFill>
          <a:blip r:embed="rId4"/>
          <a:stretch>
            <a:fillRect/>
          </a:stretch>
        </p:blipFill>
        <p:spPr>
          <a:xfrm>
            <a:off x="6629400" y="4754880"/>
            <a:ext cx="365760" cy="365760"/>
          </a:xfrm>
          <a:prstGeom prst="rect">
            <a:avLst/>
          </a:prstGeom>
        </p:spPr>
      </p:pic>
      <p:sp>
        <p:nvSpPr>
          <p:cNvPr id="21" name="gap-card-3"/>
          <p:cNvSpPr/>
          <p:nvPr/>
        </p:nvSpPr>
        <p:spPr>
          <a:xfrm>
            <a:off x="7315200" y="4160520"/>
            <a:ext cx="3657600" cy="1554480"/>
          </a:xfrm>
          <a:prstGeom prst="roundRect">
            <a:avLst>
              <a:gd name="adj" fmla="val 7059"/>
            </a:avLst>
          </a:prstGeom>
          <a:solidFill>
            <a:srgbClr val="1D2128"/>
          </a:solidFill>
          <a:ln w="12700">
            <a:solidFill>
              <a:srgbClr val="2E343E"/>
            </a:solidFill>
            <a:prstDash val="solid"/>
          </a:ln>
        </p:spPr>
      </p:sp>
      <p:sp>
        <p:nvSpPr>
          <p:cNvPr id="22" name="Text 16"/>
          <p:cNvSpPr txBox="1"/>
          <p:nvPr/>
        </p:nvSpPr>
        <p:spPr>
          <a:xfrm>
            <a:off x="7589520" y="4389120"/>
            <a:ext cx="3108960" cy="1097280"/>
          </a:xfrm>
          <a:prstGeom prst="rect">
            <a:avLst/>
          </a:prstGeom>
          <a:noFill/>
          <a:ln/>
        </p:spPr>
        <p:txBody>
          <a:bodyPr wrap="square" lIns="0" tIns="0" rIns="0" bIns="0" rtlCol="0" anchor="ctr"/>
          <a:lstStyle/>
          <a:p>
            <a:pPr indent="0" marL="0">
              <a:buNone/>
            </a:pPr>
            <a:r>
              <a:rPr lang="en-US" sz="1700" dirty="0">
                <a:solidFill>
                  <a:srgbClr val="E6E9EE"/>
                </a:solidFill>
                <a:latin typeface="Segoe UI" pitchFamily="34" charset="0"/>
                <a:ea typeface="Segoe UI" pitchFamily="34" charset="-122"/>
                <a:cs typeface="Segoe UI" pitchFamily="34" charset="-120"/>
              </a:rPr>
              <a:t>A secure, monitored, low-cost cloud deployment</a:t>
            </a:r>
            <a:endParaRPr lang="en-US" sz="1700" dirty="0"/>
          </a:p>
        </p:txBody>
      </p:sp>
      <p:sp>
        <p:nvSpPr>
          <p:cNvPr id="23" name="gap-centre"/>
          <p:cNvSpPr/>
          <p:nvPr/>
        </p:nvSpPr>
        <p:spPr>
          <a:xfrm>
            <a:off x="5230368" y="2926080"/>
            <a:ext cx="1737360" cy="1737360"/>
          </a:xfrm>
          <a:prstGeom prst="ellipse">
            <a:avLst/>
          </a:prstGeom>
          <a:solidFill>
            <a:srgbClr val="232832"/>
          </a:solidFill>
          <a:ln w="25400">
            <a:solidFill>
              <a:srgbClr val="6B9CF0"/>
            </a:solidFill>
            <a:prstDash val="solid"/>
          </a:ln>
        </p:spPr>
      </p:sp>
      <p:sp>
        <p:nvSpPr>
          <p:cNvPr id="24" name="Text 18"/>
          <p:cNvSpPr txBox="1"/>
          <p:nvPr/>
        </p:nvSpPr>
        <p:spPr>
          <a:xfrm>
            <a:off x="5276088" y="3520440"/>
            <a:ext cx="1645920" cy="548640"/>
          </a:xfrm>
          <a:prstGeom prst="rect">
            <a:avLst/>
          </a:prstGeom>
          <a:noFill/>
          <a:ln/>
        </p:spPr>
        <p:txBody>
          <a:bodyPr wrap="square" lIns="0" tIns="0" rIns="0" bIns="0" rtlCol="0" anchor="ctr"/>
          <a:lstStyle/>
          <a:p>
            <a:pPr algn="ctr" indent="0" marL="0">
              <a:buNone/>
            </a:pPr>
            <a:r>
              <a:rPr lang="en-US" sz="1600" b="1" dirty="0">
                <a:solidFill>
                  <a:srgbClr val="6B9CF0"/>
                </a:solidFill>
                <a:latin typeface="Segoe UI Semibold" pitchFamily="34" charset="0"/>
                <a:ea typeface="Segoe UI Semibold" pitchFamily="34" charset="-122"/>
                <a:cs typeface="Segoe UI Semibold" pitchFamily="34" charset="-120"/>
              </a:rPr>
              <a:t>This project</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Cloud architecture on AWS</a:t>
            </a:r>
            <a:endParaRPr lang="en-US" sz="3200" dirty="0"/>
          </a:p>
        </p:txBody>
      </p:sp>
      <p:pic>
        <p:nvPicPr>
          <p:cNvPr id="3" name="cloud-architecture" descr="C:\Users\dell\AppData\Local\Temp\claude\c--Users-dell-kg-team-repo\8863a82a-6178-4951-84c1-f342b336f3d8\scratchpad\deck\img\fig1_cloud_architecture.png">    </p:cNvPr>
          <p:cNvPicPr>
            <a:picLocks noChangeAspect="1"/>
          </p:cNvPicPr>
          <p:nvPr/>
        </p:nvPicPr>
        <p:blipFill>
          <a:blip r:embed="rId1"/>
          <a:stretch>
            <a:fillRect/>
          </a:stretch>
        </p:blipFill>
        <p:spPr>
          <a:xfrm>
            <a:off x="2369668" y="1234440"/>
            <a:ext cx="7452360" cy="5221224"/>
          </a:xfrm>
          <a:prstGeom prst="rect">
            <a:avLst/>
          </a:prstGeom>
        </p:spPr>
      </p:pic>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End-to-end workflow: ingestion and question answering</a:t>
            </a:r>
            <a:endParaRPr lang="en-US" sz="3200" dirty="0"/>
          </a:p>
        </p:txBody>
      </p:sp>
      <p:pic>
        <p:nvPicPr>
          <p:cNvPr id="3" name="system-workflow" descr="C:\Users\dell\AppData\Local\Temp\claude\c--Users-dell-kg-team-repo\8863a82a-6178-4951-84c1-f342b336f3d8\scratchpad\deck\img\fig2_system_workflow.png">    </p:cNvPr>
          <p:cNvPicPr>
            <a:picLocks noChangeAspect="1"/>
          </p:cNvPicPr>
          <p:nvPr/>
        </p:nvPicPr>
        <p:blipFill>
          <a:blip r:embed="rId1"/>
          <a:stretch>
            <a:fillRect/>
          </a:stretch>
        </p:blipFill>
        <p:spPr>
          <a:xfrm>
            <a:off x="1981048" y="1234440"/>
            <a:ext cx="8229600" cy="5212080"/>
          </a:xfrm>
          <a:prstGeom prst="rect">
            <a:avLst/>
          </a:prstGeom>
        </p:spPr>
      </p:pic>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AWS services and their roles</a:t>
            </a:r>
            <a:endParaRPr lang="en-US" sz="3200" dirty="0"/>
          </a:p>
        </p:txBody>
      </p:sp>
      <p:sp>
        <p:nvSpPr>
          <p:cNvPr id="3" name="service-card-0"/>
          <p:cNvSpPr/>
          <p:nvPr/>
        </p:nvSpPr>
        <p:spPr>
          <a:xfrm>
            <a:off x="548640" y="1463040"/>
            <a:ext cx="2057400" cy="2194560"/>
          </a:xfrm>
          <a:prstGeom prst="roundRect">
            <a:avLst>
              <a:gd name="adj" fmla="val 5333"/>
            </a:avLst>
          </a:prstGeom>
          <a:solidFill>
            <a:srgbClr val="1D2128"/>
          </a:solidFill>
          <a:ln w="12700">
            <a:solidFill>
              <a:srgbClr val="2E343E"/>
            </a:solidFill>
            <a:prstDash val="solid"/>
          </a:ln>
        </p:spPr>
      </p:sp>
      <p:sp>
        <p:nvSpPr>
          <p:cNvPr id="4" name="service-0-circle"/>
          <p:cNvSpPr/>
          <p:nvPr/>
        </p:nvSpPr>
        <p:spPr>
          <a:xfrm>
            <a:off x="777240" y="1691640"/>
            <a:ext cx="640080" cy="640080"/>
          </a:xfrm>
          <a:prstGeom prst="ellipse">
            <a:avLst/>
          </a:prstGeom>
          <a:solidFill>
            <a:srgbClr val="54A24B"/>
          </a:solidFill>
          <a:ln w="12700">
            <a:solidFill>
              <a:srgbClr val="54A24B"/>
            </a:solidFill>
            <a:prstDash val="solid"/>
          </a:ln>
        </p:spPr>
      </p:sp>
      <p:pic>
        <p:nvPicPr>
          <p:cNvPr id="5" name="service-0-icon"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6" name="Text 3"/>
          <p:cNvSpPr txBox="1"/>
          <p:nvPr/>
        </p:nvSpPr>
        <p:spPr>
          <a:xfrm>
            <a:off x="777240" y="242316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Amazon S3</a:t>
            </a:r>
            <a:endParaRPr lang="en-US" sz="1500" dirty="0"/>
          </a:p>
        </p:txBody>
      </p:sp>
      <p:sp>
        <p:nvSpPr>
          <p:cNvPr id="7" name="Text 4"/>
          <p:cNvSpPr txBox="1"/>
          <p:nvPr/>
        </p:nvSpPr>
        <p:spPr>
          <a:xfrm>
            <a:off x="777240" y="301752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Data lake for papers</a:t>
            </a:r>
            <a:endParaRPr lang="en-US" sz="1300" dirty="0"/>
          </a:p>
        </p:txBody>
      </p:sp>
      <p:sp>
        <p:nvSpPr>
          <p:cNvPr id="8" name="service-card-1"/>
          <p:cNvSpPr/>
          <p:nvPr/>
        </p:nvSpPr>
        <p:spPr>
          <a:xfrm>
            <a:off x="2788920" y="1463040"/>
            <a:ext cx="2057400" cy="2194560"/>
          </a:xfrm>
          <a:prstGeom prst="roundRect">
            <a:avLst>
              <a:gd name="adj" fmla="val 5333"/>
            </a:avLst>
          </a:prstGeom>
          <a:solidFill>
            <a:srgbClr val="1D2128"/>
          </a:solidFill>
          <a:ln w="12700">
            <a:solidFill>
              <a:srgbClr val="2E343E"/>
            </a:solidFill>
            <a:prstDash val="solid"/>
          </a:ln>
        </p:spPr>
      </p:sp>
      <p:sp>
        <p:nvSpPr>
          <p:cNvPr id="9" name="service-1-circle"/>
          <p:cNvSpPr/>
          <p:nvPr/>
        </p:nvSpPr>
        <p:spPr>
          <a:xfrm>
            <a:off x="3017520" y="1691640"/>
            <a:ext cx="640080" cy="640080"/>
          </a:xfrm>
          <a:prstGeom prst="ellipse">
            <a:avLst/>
          </a:prstGeom>
          <a:solidFill>
            <a:srgbClr val="EECA3B"/>
          </a:solidFill>
          <a:ln w="12700">
            <a:solidFill>
              <a:srgbClr val="EECA3B"/>
            </a:solidFill>
            <a:prstDash val="solid"/>
          </a:ln>
        </p:spPr>
      </p:sp>
      <p:pic>
        <p:nvPicPr>
          <p:cNvPr id="10" name="service-1-icon" descr="preencoded.png">    </p:cNvPr>
          <p:cNvPicPr>
            <a:picLocks noChangeAspect="1"/>
          </p:cNvPicPr>
          <p:nvPr/>
        </p:nvPicPr>
        <p:blipFill>
          <a:blip r:embed="rId2"/>
          <a:stretch>
            <a:fillRect/>
          </a:stretch>
        </p:blipFill>
        <p:spPr>
          <a:xfrm>
            <a:off x="3177540" y="1851660"/>
            <a:ext cx="320040" cy="320040"/>
          </a:xfrm>
          <a:prstGeom prst="rect">
            <a:avLst/>
          </a:prstGeom>
        </p:spPr>
      </p:pic>
      <p:sp>
        <p:nvSpPr>
          <p:cNvPr id="11" name="Text 7"/>
          <p:cNvSpPr txBox="1"/>
          <p:nvPr/>
        </p:nvSpPr>
        <p:spPr>
          <a:xfrm>
            <a:off x="3017520" y="242316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AWS Lambda</a:t>
            </a:r>
            <a:endParaRPr lang="en-US" sz="1500" dirty="0"/>
          </a:p>
        </p:txBody>
      </p:sp>
      <p:sp>
        <p:nvSpPr>
          <p:cNvPr id="12" name="Text 8"/>
          <p:cNvSpPr txBox="1"/>
          <p:nvPr/>
        </p:nvSpPr>
        <p:spPr>
          <a:xfrm>
            <a:off x="3017520" y="301752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Ingest and API functions</a:t>
            </a:r>
            <a:endParaRPr lang="en-US" sz="1300" dirty="0"/>
          </a:p>
        </p:txBody>
      </p:sp>
      <p:sp>
        <p:nvSpPr>
          <p:cNvPr id="13" name="service-card-2"/>
          <p:cNvSpPr/>
          <p:nvPr/>
        </p:nvSpPr>
        <p:spPr>
          <a:xfrm>
            <a:off x="5029200" y="1463040"/>
            <a:ext cx="2057400" cy="2194560"/>
          </a:xfrm>
          <a:prstGeom prst="roundRect">
            <a:avLst>
              <a:gd name="adj" fmla="val 5333"/>
            </a:avLst>
          </a:prstGeom>
          <a:solidFill>
            <a:srgbClr val="1D2128"/>
          </a:solidFill>
          <a:ln w="12700">
            <a:solidFill>
              <a:srgbClr val="2E343E"/>
            </a:solidFill>
            <a:prstDash val="solid"/>
          </a:ln>
        </p:spPr>
      </p:sp>
      <p:sp>
        <p:nvSpPr>
          <p:cNvPr id="14" name="service-2-circle"/>
          <p:cNvSpPr/>
          <p:nvPr/>
        </p:nvSpPr>
        <p:spPr>
          <a:xfrm>
            <a:off x="5257800" y="1691640"/>
            <a:ext cx="640080" cy="640080"/>
          </a:xfrm>
          <a:prstGeom prst="ellipse">
            <a:avLst/>
          </a:prstGeom>
          <a:solidFill>
            <a:srgbClr val="F58518"/>
          </a:solidFill>
          <a:ln w="12700">
            <a:solidFill>
              <a:srgbClr val="F58518"/>
            </a:solidFill>
            <a:prstDash val="solid"/>
          </a:ln>
        </p:spPr>
      </p:sp>
      <p:pic>
        <p:nvPicPr>
          <p:cNvPr id="15" name="service-2-icon" descr="preencoded.png">    </p:cNvPr>
          <p:cNvPicPr>
            <a:picLocks noChangeAspect="1"/>
          </p:cNvPicPr>
          <p:nvPr/>
        </p:nvPicPr>
        <p:blipFill>
          <a:blip r:embed="rId3"/>
          <a:stretch>
            <a:fillRect/>
          </a:stretch>
        </p:blipFill>
        <p:spPr>
          <a:xfrm>
            <a:off x="5417820" y="1851660"/>
            <a:ext cx="320040" cy="320040"/>
          </a:xfrm>
          <a:prstGeom prst="rect">
            <a:avLst/>
          </a:prstGeom>
        </p:spPr>
      </p:pic>
      <p:sp>
        <p:nvSpPr>
          <p:cNvPr id="16" name="Text 11"/>
          <p:cNvSpPr txBox="1"/>
          <p:nvPr/>
        </p:nvSpPr>
        <p:spPr>
          <a:xfrm>
            <a:off x="5257800" y="242316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Amazon SageMaker</a:t>
            </a:r>
            <a:endParaRPr lang="en-US" sz="1500" dirty="0"/>
          </a:p>
        </p:txBody>
      </p:sp>
      <p:sp>
        <p:nvSpPr>
          <p:cNvPr id="17" name="Text 12"/>
          <p:cNvSpPr txBox="1"/>
          <p:nvPr/>
        </p:nvSpPr>
        <p:spPr>
          <a:xfrm>
            <a:off x="5257800" y="301752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Serverless SciBERT endpoint</a:t>
            </a:r>
            <a:endParaRPr lang="en-US" sz="1300" dirty="0"/>
          </a:p>
        </p:txBody>
      </p:sp>
      <p:sp>
        <p:nvSpPr>
          <p:cNvPr id="18" name="service-card-3"/>
          <p:cNvSpPr/>
          <p:nvPr/>
        </p:nvSpPr>
        <p:spPr>
          <a:xfrm>
            <a:off x="7269480" y="1463040"/>
            <a:ext cx="2057400" cy="2194560"/>
          </a:xfrm>
          <a:prstGeom prst="roundRect">
            <a:avLst>
              <a:gd name="adj" fmla="val 5333"/>
            </a:avLst>
          </a:prstGeom>
          <a:solidFill>
            <a:srgbClr val="1D2128"/>
          </a:solidFill>
          <a:ln w="12700">
            <a:solidFill>
              <a:srgbClr val="2E343E"/>
            </a:solidFill>
            <a:prstDash val="solid"/>
          </a:ln>
        </p:spPr>
      </p:sp>
      <p:sp>
        <p:nvSpPr>
          <p:cNvPr id="19" name="service-3-circle"/>
          <p:cNvSpPr/>
          <p:nvPr/>
        </p:nvSpPr>
        <p:spPr>
          <a:xfrm>
            <a:off x="7498080" y="1691640"/>
            <a:ext cx="640080" cy="640080"/>
          </a:xfrm>
          <a:prstGeom prst="ellipse">
            <a:avLst/>
          </a:prstGeom>
          <a:solidFill>
            <a:srgbClr val="4C78A8"/>
          </a:solidFill>
          <a:ln w="12700">
            <a:solidFill>
              <a:srgbClr val="4C78A8"/>
            </a:solidFill>
            <a:prstDash val="solid"/>
          </a:ln>
        </p:spPr>
      </p:sp>
      <p:pic>
        <p:nvPicPr>
          <p:cNvPr id="20" name="service-3-icon" descr="preencoded.png">    </p:cNvPr>
          <p:cNvPicPr>
            <a:picLocks noChangeAspect="1"/>
          </p:cNvPicPr>
          <p:nvPr/>
        </p:nvPicPr>
        <p:blipFill>
          <a:blip r:embed="rId4"/>
          <a:stretch>
            <a:fillRect/>
          </a:stretch>
        </p:blipFill>
        <p:spPr>
          <a:xfrm>
            <a:off x="7658100" y="1851660"/>
            <a:ext cx="320040" cy="320040"/>
          </a:xfrm>
          <a:prstGeom prst="rect">
            <a:avLst/>
          </a:prstGeom>
        </p:spPr>
      </p:pic>
      <p:sp>
        <p:nvSpPr>
          <p:cNvPr id="21" name="Text 15"/>
          <p:cNvSpPr txBox="1"/>
          <p:nvPr/>
        </p:nvSpPr>
        <p:spPr>
          <a:xfrm>
            <a:off x="7498080" y="242316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API Gateway</a:t>
            </a:r>
            <a:endParaRPr lang="en-US" sz="1500" dirty="0"/>
          </a:p>
        </p:txBody>
      </p:sp>
      <p:sp>
        <p:nvSpPr>
          <p:cNvPr id="22" name="Text 16"/>
          <p:cNvSpPr txBox="1"/>
          <p:nvPr/>
        </p:nvSpPr>
        <p:spPr>
          <a:xfrm>
            <a:off x="7498080" y="301752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HTTP API with JWT check</a:t>
            </a:r>
            <a:endParaRPr lang="en-US" sz="1300" dirty="0"/>
          </a:p>
        </p:txBody>
      </p:sp>
      <p:sp>
        <p:nvSpPr>
          <p:cNvPr id="23" name="service-card-4"/>
          <p:cNvSpPr/>
          <p:nvPr/>
        </p:nvSpPr>
        <p:spPr>
          <a:xfrm>
            <a:off x="9509760" y="1463040"/>
            <a:ext cx="2057400" cy="2194560"/>
          </a:xfrm>
          <a:prstGeom prst="roundRect">
            <a:avLst>
              <a:gd name="adj" fmla="val 5333"/>
            </a:avLst>
          </a:prstGeom>
          <a:solidFill>
            <a:srgbClr val="1D2128"/>
          </a:solidFill>
          <a:ln w="12700">
            <a:solidFill>
              <a:srgbClr val="2E343E"/>
            </a:solidFill>
            <a:prstDash val="solid"/>
          </a:ln>
        </p:spPr>
      </p:sp>
      <p:sp>
        <p:nvSpPr>
          <p:cNvPr id="24" name="service-4-circle"/>
          <p:cNvSpPr/>
          <p:nvPr/>
        </p:nvSpPr>
        <p:spPr>
          <a:xfrm>
            <a:off x="9738360" y="1691640"/>
            <a:ext cx="640080" cy="640080"/>
          </a:xfrm>
          <a:prstGeom prst="ellipse">
            <a:avLst/>
          </a:prstGeom>
          <a:solidFill>
            <a:srgbClr val="E45756"/>
          </a:solidFill>
          <a:ln w="12700">
            <a:solidFill>
              <a:srgbClr val="E45756"/>
            </a:solidFill>
            <a:prstDash val="solid"/>
          </a:ln>
        </p:spPr>
      </p:sp>
      <p:pic>
        <p:nvPicPr>
          <p:cNvPr id="25" name="service-4-icon" descr="preencoded.png">    </p:cNvPr>
          <p:cNvPicPr>
            <a:picLocks noChangeAspect="1"/>
          </p:cNvPicPr>
          <p:nvPr/>
        </p:nvPicPr>
        <p:blipFill>
          <a:blip r:embed="rId5"/>
          <a:stretch>
            <a:fillRect/>
          </a:stretch>
        </p:blipFill>
        <p:spPr>
          <a:xfrm>
            <a:off x="9898380" y="1851660"/>
            <a:ext cx="320040" cy="320040"/>
          </a:xfrm>
          <a:prstGeom prst="rect">
            <a:avLst/>
          </a:prstGeom>
        </p:spPr>
      </p:pic>
      <p:sp>
        <p:nvSpPr>
          <p:cNvPr id="26" name="Text 19"/>
          <p:cNvSpPr txBox="1"/>
          <p:nvPr/>
        </p:nvSpPr>
        <p:spPr>
          <a:xfrm>
            <a:off x="9738360" y="242316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Amazon Cognito</a:t>
            </a:r>
            <a:endParaRPr lang="en-US" sz="1500" dirty="0"/>
          </a:p>
        </p:txBody>
      </p:sp>
      <p:sp>
        <p:nvSpPr>
          <p:cNvPr id="27" name="Text 20"/>
          <p:cNvSpPr txBox="1"/>
          <p:nvPr/>
        </p:nvSpPr>
        <p:spPr>
          <a:xfrm>
            <a:off x="9738360" y="301752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Sign-up, sign-in, members</a:t>
            </a:r>
            <a:endParaRPr lang="en-US" sz="1300" dirty="0"/>
          </a:p>
        </p:txBody>
      </p:sp>
      <p:sp>
        <p:nvSpPr>
          <p:cNvPr id="28" name="service-card-5"/>
          <p:cNvSpPr/>
          <p:nvPr/>
        </p:nvSpPr>
        <p:spPr>
          <a:xfrm>
            <a:off x="548640" y="3886200"/>
            <a:ext cx="2057400" cy="2194560"/>
          </a:xfrm>
          <a:prstGeom prst="roundRect">
            <a:avLst>
              <a:gd name="adj" fmla="val 5333"/>
            </a:avLst>
          </a:prstGeom>
          <a:solidFill>
            <a:srgbClr val="1D2128"/>
          </a:solidFill>
          <a:ln w="12700">
            <a:solidFill>
              <a:srgbClr val="2E343E"/>
            </a:solidFill>
            <a:prstDash val="solid"/>
          </a:ln>
        </p:spPr>
      </p:sp>
      <p:sp>
        <p:nvSpPr>
          <p:cNvPr id="29" name="service-5-circle"/>
          <p:cNvSpPr/>
          <p:nvPr/>
        </p:nvSpPr>
        <p:spPr>
          <a:xfrm>
            <a:off x="777240" y="4114800"/>
            <a:ext cx="640080" cy="640080"/>
          </a:xfrm>
          <a:prstGeom prst="ellipse">
            <a:avLst/>
          </a:prstGeom>
          <a:solidFill>
            <a:srgbClr val="6B9CF0"/>
          </a:solidFill>
          <a:ln w="12700">
            <a:solidFill>
              <a:srgbClr val="6B9CF0"/>
            </a:solidFill>
            <a:prstDash val="solid"/>
          </a:ln>
        </p:spPr>
      </p:sp>
      <p:pic>
        <p:nvPicPr>
          <p:cNvPr id="30" name="service-5-icon" descr="preencoded.png">    </p:cNvPr>
          <p:cNvPicPr>
            <a:picLocks noChangeAspect="1"/>
          </p:cNvPicPr>
          <p:nvPr/>
        </p:nvPicPr>
        <p:blipFill>
          <a:blip r:embed="rId6"/>
          <a:stretch>
            <a:fillRect/>
          </a:stretch>
        </p:blipFill>
        <p:spPr>
          <a:xfrm>
            <a:off x="937260" y="4274820"/>
            <a:ext cx="320040" cy="320040"/>
          </a:xfrm>
          <a:prstGeom prst="rect">
            <a:avLst/>
          </a:prstGeom>
        </p:spPr>
      </p:pic>
      <p:sp>
        <p:nvSpPr>
          <p:cNvPr id="31" name="Text 23"/>
          <p:cNvSpPr txBox="1"/>
          <p:nvPr/>
        </p:nvSpPr>
        <p:spPr>
          <a:xfrm>
            <a:off x="777240" y="484632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AWS Amplify</a:t>
            </a:r>
            <a:endParaRPr lang="en-US" sz="1500" dirty="0"/>
          </a:p>
        </p:txBody>
      </p:sp>
      <p:sp>
        <p:nvSpPr>
          <p:cNvPr id="32" name="Text 24"/>
          <p:cNvSpPr txBox="1"/>
          <p:nvPr/>
        </p:nvSpPr>
        <p:spPr>
          <a:xfrm>
            <a:off x="777240" y="544068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Hosts the dashboard</a:t>
            </a:r>
            <a:endParaRPr lang="en-US" sz="1300" dirty="0"/>
          </a:p>
        </p:txBody>
      </p:sp>
      <p:sp>
        <p:nvSpPr>
          <p:cNvPr id="33" name="service-card-6"/>
          <p:cNvSpPr/>
          <p:nvPr/>
        </p:nvSpPr>
        <p:spPr>
          <a:xfrm>
            <a:off x="2788920" y="3886200"/>
            <a:ext cx="2057400" cy="2194560"/>
          </a:xfrm>
          <a:prstGeom prst="roundRect">
            <a:avLst>
              <a:gd name="adj" fmla="val 5333"/>
            </a:avLst>
          </a:prstGeom>
          <a:solidFill>
            <a:srgbClr val="1D2128"/>
          </a:solidFill>
          <a:ln w="12700">
            <a:solidFill>
              <a:srgbClr val="2E343E"/>
            </a:solidFill>
            <a:prstDash val="solid"/>
          </a:ln>
        </p:spPr>
      </p:sp>
      <p:sp>
        <p:nvSpPr>
          <p:cNvPr id="34" name="service-6-circle"/>
          <p:cNvSpPr/>
          <p:nvPr/>
        </p:nvSpPr>
        <p:spPr>
          <a:xfrm>
            <a:off x="3017520" y="4114800"/>
            <a:ext cx="640080" cy="640080"/>
          </a:xfrm>
          <a:prstGeom prst="ellipse">
            <a:avLst/>
          </a:prstGeom>
          <a:solidFill>
            <a:srgbClr val="B279A2"/>
          </a:solidFill>
          <a:ln w="12700">
            <a:solidFill>
              <a:srgbClr val="B279A2"/>
            </a:solidFill>
            <a:prstDash val="solid"/>
          </a:ln>
        </p:spPr>
      </p:sp>
      <p:pic>
        <p:nvPicPr>
          <p:cNvPr id="35" name="service-6-icon" descr="preencoded.png">    </p:cNvPr>
          <p:cNvPicPr>
            <a:picLocks noChangeAspect="1"/>
          </p:cNvPicPr>
          <p:nvPr/>
        </p:nvPicPr>
        <p:blipFill>
          <a:blip r:embed="rId7"/>
          <a:stretch>
            <a:fillRect/>
          </a:stretch>
        </p:blipFill>
        <p:spPr>
          <a:xfrm>
            <a:off x="3177540" y="4274820"/>
            <a:ext cx="320040" cy="320040"/>
          </a:xfrm>
          <a:prstGeom prst="rect">
            <a:avLst/>
          </a:prstGeom>
        </p:spPr>
      </p:pic>
      <p:sp>
        <p:nvSpPr>
          <p:cNvPr id="36" name="Text 27"/>
          <p:cNvSpPr txBox="1"/>
          <p:nvPr/>
        </p:nvSpPr>
        <p:spPr>
          <a:xfrm>
            <a:off x="3017520" y="484632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CloudWatch + SNS</a:t>
            </a:r>
            <a:endParaRPr lang="en-US" sz="1500" dirty="0"/>
          </a:p>
        </p:txBody>
      </p:sp>
      <p:sp>
        <p:nvSpPr>
          <p:cNvPr id="37" name="Text 28"/>
          <p:cNvSpPr txBox="1"/>
          <p:nvPr/>
        </p:nvSpPr>
        <p:spPr>
          <a:xfrm>
            <a:off x="3017520" y="544068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Metrics, alarms, X-Ray tracing</a:t>
            </a:r>
            <a:endParaRPr lang="en-US" sz="1300" dirty="0"/>
          </a:p>
        </p:txBody>
      </p:sp>
      <p:sp>
        <p:nvSpPr>
          <p:cNvPr id="38" name="service-card-7"/>
          <p:cNvSpPr/>
          <p:nvPr/>
        </p:nvSpPr>
        <p:spPr>
          <a:xfrm>
            <a:off x="5029200" y="3886200"/>
            <a:ext cx="2057400" cy="2194560"/>
          </a:xfrm>
          <a:prstGeom prst="roundRect">
            <a:avLst>
              <a:gd name="adj" fmla="val 5333"/>
            </a:avLst>
          </a:prstGeom>
          <a:solidFill>
            <a:srgbClr val="1D2128"/>
          </a:solidFill>
          <a:ln w="12700">
            <a:solidFill>
              <a:srgbClr val="2E343E"/>
            </a:solidFill>
            <a:prstDash val="solid"/>
          </a:ln>
        </p:spPr>
      </p:sp>
      <p:sp>
        <p:nvSpPr>
          <p:cNvPr id="39" name="service-7-circle"/>
          <p:cNvSpPr/>
          <p:nvPr/>
        </p:nvSpPr>
        <p:spPr>
          <a:xfrm>
            <a:off x="5257800" y="4114800"/>
            <a:ext cx="640080" cy="640080"/>
          </a:xfrm>
          <a:prstGeom prst="ellipse">
            <a:avLst/>
          </a:prstGeom>
          <a:solidFill>
            <a:srgbClr val="72B7B2"/>
          </a:solidFill>
          <a:ln w="12700">
            <a:solidFill>
              <a:srgbClr val="72B7B2"/>
            </a:solidFill>
            <a:prstDash val="solid"/>
          </a:ln>
        </p:spPr>
      </p:sp>
      <p:pic>
        <p:nvPicPr>
          <p:cNvPr id="40" name="service-7-icon" descr="preencoded.png">    </p:cNvPr>
          <p:cNvPicPr>
            <a:picLocks noChangeAspect="1"/>
          </p:cNvPicPr>
          <p:nvPr/>
        </p:nvPicPr>
        <p:blipFill>
          <a:blip r:embed="rId8"/>
          <a:stretch>
            <a:fillRect/>
          </a:stretch>
        </p:blipFill>
        <p:spPr>
          <a:xfrm>
            <a:off x="5417820" y="4274820"/>
            <a:ext cx="320040" cy="320040"/>
          </a:xfrm>
          <a:prstGeom prst="rect">
            <a:avLst/>
          </a:prstGeom>
        </p:spPr>
      </p:pic>
      <p:sp>
        <p:nvSpPr>
          <p:cNvPr id="41" name="Text 31"/>
          <p:cNvSpPr txBox="1"/>
          <p:nvPr/>
        </p:nvSpPr>
        <p:spPr>
          <a:xfrm>
            <a:off x="5257800" y="484632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Amazon SQS</a:t>
            </a:r>
            <a:endParaRPr lang="en-US" sz="1500" dirty="0"/>
          </a:p>
        </p:txBody>
      </p:sp>
      <p:sp>
        <p:nvSpPr>
          <p:cNvPr id="42" name="Text 32"/>
          <p:cNvSpPr txBox="1"/>
          <p:nvPr/>
        </p:nvSpPr>
        <p:spPr>
          <a:xfrm>
            <a:off x="5257800" y="544068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Dead-letter queue</a:t>
            </a:r>
            <a:endParaRPr lang="en-US" sz="1300" dirty="0"/>
          </a:p>
        </p:txBody>
      </p:sp>
      <p:sp>
        <p:nvSpPr>
          <p:cNvPr id="43" name="service-card-8"/>
          <p:cNvSpPr/>
          <p:nvPr/>
        </p:nvSpPr>
        <p:spPr>
          <a:xfrm>
            <a:off x="7269480" y="3886200"/>
            <a:ext cx="2057400" cy="2194560"/>
          </a:xfrm>
          <a:prstGeom prst="roundRect">
            <a:avLst>
              <a:gd name="adj" fmla="val 5333"/>
            </a:avLst>
          </a:prstGeom>
          <a:solidFill>
            <a:srgbClr val="1D2128"/>
          </a:solidFill>
          <a:ln w="12700">
            <a:solidFill>
              <a:srgbClr val="2E343E"/>
            </a:solidFill>
            <a:prstDash val="solid"/>
          </a:ln>
        </p:spPr>
      </p:sp>
      <p:sp>
        <p:nvSpPr>
          <p:cNvPr id="44" name="service-8-circle"/>
          <p:cNvSpPr/>
          <p:nvPr/>
        </p:nvSpPr>
        <p:spPr>
          <a:xfrm>
            <a:off x="7498080" y="4114800"/>
            <a:ext cx="640080" cy="640080"/>
          </a:xfrm>
          <a:prstGeom prst="ellipse">
            <a:avLst/>
          </a:prstGeom>
          <a:solidFill>
            <a:srgbClr val="9D755D"/>
          </a:solidFill>
          <a:ln w="12700">
            <a:solidFill>
              <a:srgbClr val="9D755D"/>
            </a:solidFill>
            <a:prstDash val="solid"/>
          </a:ln>
        </p:spPr>
      </p:sp>
      <p:pic>
        <p:nvPicPr>
          <p:cNvPr id="45" name="service-8-icon" descr="preencoded.png">    </p:cNvPr>
          <p:cNvPicPr>
            <a:picLocks noChangeAspect="1"/>
          </p:cNvPicPr>
          <p:nvPr/>
        </p:nvPicPr>
        <p:blipFill>
          <a:blip r:embed="rId9"/>
          <a:stretch>
            <a:fillRect/>
          </a:stretch>
        </p:blipFill>
        <p:spPr>
          <a:xfrm>
            <a:off x="7658100" y="4274820"/>
            <a:ext cx="320040" cy="320040"/>
          </a:xfrm>
          <a:prstGeom prst="rect">
            <a:avLst/>
          </a:prstGeom>
        </p:spPr>
      </p:pic>
      <p:sp>
        <p:nvSpPr>
          <p:cNvPr id="46" name="Text 35"/>
          <p:cNvSpPr txBox="1"/>
          <p:nvPr/>
        </p:nvSpPr>
        <p:spPr>
          <a:xfrm>
            <a:off x="7498080" y="484632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AWS IAM</a:t>
            </a:r>
            <a:endParaRPr lang="en-US" sz="1500" dirty="0"/>
          </a:p>
        </p:txBody>
      </p:sp>
      <p:sp>
        <p:nvSpPr>
          <p:cNvPr id="47" name="Text 36"/>
          <p:cNvSpPr txBox="1"/>
          <p:nvPr/>
        </p:nvSpPr>
        <p:spPr>
          <a:xfrm>
            <a:off x="7498080" y="544068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One least-privilege role per function</a:t>
            </a:r>
            <a:endParaRPr lang="en-US" sz="1300" dirty="0"/>
          </a:p>
        </p:txBody>
      </p:sp>
      <p:sp>
        <p:nvSpPr>
          <p:cNvPr id="48" name="service-card-9"/>
          <p:cNvSpPr/>
          <p:nvPr/>
        </p:nvSpPr>
        <p:spPr>
          <a:xfrm>
            <a:off x="9509760" y="3886200"/>
            <a:ext cx="2057400" cy="2194560"/>
          </a:xfrm>
          <a:prstGeom prst="roundRect">
            <a:avLst>
              <a:gd name="adj" fmla="val 5333"/>
            </a:avLst>
          </a:prstGeom>
          <a:solidFill>
            <a:srgbClr val="1D2128"/>
          </a:solidFill>
          <a:ln w="12700">
            <a:solidFill>
              <a:srgbClr val="2E343E"/>
            </a:solidFill>
            <a:prstDash val="solid"/>
          </a:ln>
        </p:spPr>
      </p:sp>
      <p:sp>
        <p:nvSpPr>
          <p:cNvPr id="49" name="service-9-circle"/>
          <p:cNvSpPr/>
          <p:nvPr/>
        </p:nvSpPr>
        <p:spPr>
          <a:xfrm>
            <a:off x="9738360" y="4114800"/>
            <a:ext cx="640080" cy="640080"/>
          </a:xfrm>
          <a:prstGeom prst="ellipse">
            <a:avLst/>
          </a:prstGeom>
          <a:solidFill>
            <a:srgbClr val="BAB0AC"/>
          </a:solidFill>
          <a:ln w="12700">
            <a:solidFill>
              <a:srgbClr val="BAB0AC"/>
            </a:solidFill>
            <a:prstDash val="solid"/>
          </a:ln>
        </p:spPr>
      </p:sp>
      <p:pic>
        <p:nvPicPr>
          <p:cNvPr id="50" name="service-9-icon" descr="preencoded.png">    </p:cNvPr>
          <p:cNvPicPr>
            <a:picLocks noChangeAspect="1"/>
          </p:cNvPicPr>
          <p:nvPr/>
        </p:nvPicPr>
        <p:blipFill>
          <a:blip r:embed="rId10"/>
          <a:stretch>
            <a:fillRect/>
          </a:stretch>
        </p:blipFill>
        <p:spPr>
          <a:xfrm>
            <a:off x="9898380" y="4274820"/>
            <a:ext cx="320040" cy="320040"/>
          </a:xfrm>
          <a:prstGeom prst="rect">
            <a:avLst/>
          </a:prstGeom>
        </p:spPr>
      </p:pic>
      <p:sp>
        <p:nvSpPr>
          <p:cNvPr id="51" name="Text 39"/>
          <p:cNvSpPr txBox="1"/>
          <p:nvPr/>
        </p:nvSpPr>
        <p:spPr>
          <a:xfrm>
            <a:off x="9738360" y="4846320"/>
            <a:ext cx="1691640" cy="640080"/>
          </a:xfrm>
          <a:prstGeom prst="rect">
            <a:avLst/>
          </a:prstGeom>
          <a:noFill/>
          <a:ln/>
        </p:spPr>
        <p:txBody>
          <a:bodyPr wrap="square" lIns="0" tIns="0" rIns="0" bIns="0" rtlCol="0" anchor="t"/>
          <a:lstStyle/>
          <a:p>
            <a:pPr indent="0" marL="0">
              <a:buNone/>
            </a:pPr>
            <a:r>
              <a:rPr lang="en-US" sz="1500" b="1" dirty="0">
                <a:solidFill>
                  <a:srgbClr val="E6E9EE"/>
                </a:solidFill>
                <a:latin typeface="Segoe UI Semibold" pitchFamily="34" charset="0"/>
                <a:ea typeface="Segoe UI Semibold" pitchFamily="34" charset="-122"/>
                <a:cs typeface="Segoe UI Semibold" pitchFamily="34" charset="-120"/>
              </a:rPr>
              <a:t>Neo4j, Groq, Gemini</a:t>
            </a:r>
            <a:endParaRPr lang="en-US" sz="1500" dirty="0"/>
          </a:p>
        </p:txBody>
      </p:sp>
      <p:sp>
        <p:nvSpPr>
          <p:cNvPr id="52" name="Text 40"/>
          <p:cNvSpPr txBox="1"/>
          <p:nvPr/>
        </p:nvSpPr>
        <p:spPr>
          <a:xfrm>
            <a:off x="9738360" y="5440680"/>
            <a:ext cx="1691640" cy="5943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External graph and LLM services</a:t>
            </a:r>
            <a:endParaRPr lang="en-US" sz="13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Three data sources</a:t>
            </a:r>
            <a:endParaRPr lang="en-US" sz="3200" dirty="0"/>
          </a:p>
        </p:txBody>
      </p:sp>
      <p:sp>
        <p:nvSpPr>
          <p:cNvPr id="3" name="data-card-0"/>
          <p:cNvSpPr/>
          <p:nvPr/>
        </p:nvSpPr>
        <p:spPr>
          <a:xfrm>
            <a:off x="548640" y="1463040"/>
            <a:ext cx="3474720" cy="3840480"/>
          </a:xfrm>
          <a:prstGeom prst="roundRect">
            <a:avLst>
              <a:gd name="adj" fmla="val 3158"/>
            </a:avLst>
          </a:prstGeom>
          <a:solidFill>
            <a:srgbClr val="1D2128"/>
          </a:solidFill>
          <a:ln w="12700">
            <a:solidFill>
              <a:srgbClr val="2E343E"/>
            </a:solidFill>
            <a:prstDash val="solid"/>
          </a:ln>
        </p:spPr>
      </p:sp>
      <p:sp>
        <p:nvSpPr>
          <p:cNvPr id="4" name="data-0-circle"/>
          <p:cNvSpPr/>
          <p:nvPr/>
        </p:nvSpPr>
        <p:spPr>
          <a:xfrm>
            <a:off x="868680" y="1783080"/>
            <a:ext cx="731520" cy="731520"/>
          </a:xfrm>
          <a:prstGeom prst="ellipse">
            <a:avLst/>
          </a:prstGeom>
          <a:solidFill>
            <a:srgbClr val="4C78A8"/>
          </a:solidFill>
          <a:ln w="12700">
            <a:solidFill>
              <a:srgbClr val="4C78A8"/>
            </a:solidFill>
            <a:prstDash val="solid"/>
          </a:ln>
        </p:spPr>
      </p:sp>
      <p:pic>
        <p:nvPicPr>
          <p:cNvPr id="5" name="data-0-icon" descr="preencoded.png">    </p:cNvPr>
          <p:cNvPicPr>
            <a:picLocks noChangeAspect="1"/>
          </p:cNvPicPr>
          <p:nvPr/>
        </p:nvPicPr>
        <p:blipFill>
          <a:blip r:embed="rId1"/>
          <a:stretch>
            <a:fillRect/>
          </a:stretch>
        </p:blipFill>
        <p:spPr>
          <a:xfrm>
            <a:off x="1051560" y="1965960"/>
            <a:ext cx="365760" cy="365760"/>
          </a:xfrm>
          <a:prstGeom prst="rect">
            <a:avLst/>
          </a:prstGeom>
        </p:spPr>
      </p:pic>
      <p:sp>
        <p:nvSpPr>
          <p:cNvPr id="6" name="Text 3"/>
          <p:cNvSpPr txBox="1"/>
          <p:nvPr/>
        </p:nvSpPr>
        <p:spPr>
          <a:xfrm>
            <a:off x="1783080" y="1920240"/>
            <a:ext cx="2103120" cy="457200"/>
          </a:xfrm>
          <a:prstGeom prst="rect">
            <a:avLst/>
          </a:prstGeom>
          <a:noFill/>
          <a:ln/>
        </p:spPr>
        <p:txBody>
          <a:bodyPr wrap="square" lIns="0" tIns="0" rIns="0" bIns="0" rtlCol="0" anchor="ctr"/>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OpenAlex</a:t>
            </a:r>
            <a:endParaRPr lang="en-US" sz="2000" dirty="0"/>
          </a:p>
        </p:txBody>
      </p:sp>
      <p:sp>
        <p:nvSpPr>
          <p:cNvPr id="7" name="Text 4"/>
          <p:cNvSpPr txBox="1"/>
          <p:nvPr/>
        </p:nvSpPr>
        <p:spPr>
          <a:xfrm>
            <a:off x="868680" y="2743200"/>
            <a:ext cx="2926080" cy="822960"/>
          </a:xfrm>
          <a:prstGeom prst="rect">
            <a:avLst/>
          </a:prstGeom>
          <a:noFill/>
          <a:ln/>
        </p:spPr>
        <p:txBody>
          <a:bodyPr wrap="square" lIns="0" tIns="0" rIns="0" bIns="0" rtlCol="0" anchor="t"/>
          <a:lstStyle/>
          <a:p>
            <a:pPr indent="0" marL="0">
              <a:buNone/>
            </a:pPr>
            <a:r>
              <a:rPr lang="en-US" sz="4400" b="1" dirty="0">
                <a:solidFill>
                  <a:srgbClr val="4C78A8"/>
                </a:solidFill>
                <a:latin typeface="Segoe UI Semibold" pitchFamily="34" charset="0"/>
                <a:ea typeface="Segoe UI Semibold" pitchFamily="34" charset="-122"/>
                <a:cs typeface="Segoe UI Semibold" pitchFamily="34" charset="-120"/>
              </a:rPr>
              <a:t>300M+</a:t>
            </a:r>
            <a:endParaRPr lang="en-US" sz="4400" dirty="0"/>
          </a:p>
        </p:txBody>
      </p:sp>
      <p:sp>
        <p:nvSpPr>
          <p:cNvPr id="8" name="Text 5"/>
          <p:cNvSpPr txBox="1"/>
          <p:nvPr/>
        </p:nvSpPr>
        <p:spPr>
          <a:xfrm>
            <a:off x="868680" y="3657600"/>
            <a:ext cx="2880360" cy="21031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Works indexed. Seeds papers with exact authors, institutions, venues and citations. CC0. Retracted works filtered out.</a:t>
            </a:r>
            <a:endParaRPr lang="en-US" sz="1500" dirty="0"/>
          </a:p>
        </p:txBody>
      </p:sp>
      <p:sp>
        <p:nvSpPr>
          <p:cNvPr id="9" name="data-card-1"/>
          <p:cNvSpPr/>
          <p:nvPr/>
        </p:nvSpPr>
        <p:spPr>
          <a:xfrm>
            <a:off x="4297680" y="1463040"/>
            <a:ext cx="3474720" cy="3840480"/>
          </a:xfrm>
          <a:prstGeom prst="roundRect">
            <a:avLst>
              <a:gd name="adj" fmla="val 3158"/>
            </a:avLst>
          </a:prstGeom>
          <a:solidFill>
            <a:srgbClr val="1D2128"/>
          </a:solidFill>
          <a:ln w="12700">
            <a:solidFill>
              <a:srgbClr val="2E343E"/>
            </a:solidFill>
            <a:prstDash val="solid"/>
          </a:ln>
        </p:spPr>
      </p:sp>
      <p:sp>
        <p:nvSpPr>
          <p:cNvPr id="10" name="data-1-circle"/>
          <p:cNvSpPr/>
          <p:nvPr/>
        </p:nvSpPr>
        <p:spPr>
          <a:xfrm>
            <a:off x="4617720" y="1783080"/>
            <a:ext cx="731520" cy="731520"/>
          </a:xfrm>
          <a:prstGeom prst="ellipse">
            <a:avLst/>
          </a:prstGeom>
          <a:solidFill>
            <a:srgbClr val="54A24B"/>
          </a:solidFill>
          <a:ln w="12700">
            <a:solidFill>
              <a:srgbClr val="54A24B"/>
            </a:solidFill>
            <a:prstDash val="solid"/>
          </a:ln>
        </p:spPr>
      </p:sp>
      <p:pic>
        <p:nvPicPr>
          <p:cNvPr id="11" name="data-1-icon" descr="preencoded.png">    </p:cNvPr>
          <p:cNvPicPr>
            <a:picLocks noChangeAspect="1"/>
          </p:cNvPicPr>
          <p:nvPr/>
        </p:nvPicPr>
        <p:blipFill>
          <a:blip r:embed="rId2"/>
          <a:stretch>
            <a:fillRect/>
          </a:stretch>
        </p:blipFill>
        <p:spPr>
          <a:xfrm>
            <a:off x="4800600" y="1965960"/>
            <a:ext cx="365760" cy="365760"/>
          </a:xfrm>
          <a:prstGeom prst="rect">
            <a:avLst/>
          </a:prstGeom>
        </p:spPr>
      </p:pic>
      <p:sp>
        <p:nvSpPr>
          <p:cNvPr id="12" name="Text 8"/>
          <p:cNvSpPr txBox="1"/>
          <p:nvPr/>
        </p:nvSpPr>
        <p:spPr>
          <a:xfrm>
            <a:off x="5532120" y="1920240"/>
            <a:ext cx="2103120" cy="457200"/>
          </a:xfrm>
          <a:prstGeom prst="rect">
            <a:avLst/>
          </a:prstGeom>
          <a:noFill/>
          <a:ln/>
        </p:spPr>
        <p:txBody>
          <a:bodyPr wrap="square" lIns="0" tIns="0" rIns="0" bIns="0" rtlCol="0" anchor="ctr"/>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S2ORC</a:t>
            </a:r>
            <a:endParaRPr lang="en-US" sz="2000" dirty="0"/>
          </a:p>
        </p:txBody>
      </p:sp>
      <p:sp>
        <p:nvSpPr>
          <p:cNvPr id="13" name="Text 9"/>
          <p:cNvSpPr txBox="1"/>
          <p:nvPr/>
        </p:nvSpPr>
        <p:spPr>
          <a:xfrm>
            <a:off x="4617720" y="2743200"/>
            <a:ext cx="2926080" cy="822960"/>
          </a:xfrm>
          <a:prstGeom prst="rect">
            <a:avLst/>
          </a:prstGeom>
          <a:noFill/>
          <a:ln/>
        </p:spPr>
        <p:txBody>
          <a:bodyPr wrap="square" lIns="0" tIns="0" rIns="0" bIns="0" rtlCol="0" anchor="t"/>
          <a:lstStyle/>
          <a:p>
            <a:pPr indent="0" marL="0">
              <a:buNone/>
            </a:pPr>
            <a:r>
              <a:rPr lang="en-US" sz="4400" b="1" dirty="0">
                <a:solidFill>
                  <a:srgbClr val="54A24B"/>
                </a:solidFill>
                <a:latin typeface="Segoe UI Semibold" pitchFamily="34" charset="0"/>
                <a:ea typeface="Segoe UI Semibold" pitchFamily="34" charset="-122"/>
                <a:cs typeface="Segoe UI Semibold" pitchFamily="34" charset="-120"/>
              </a:rPr>
              <a:t>12M+</a:t>
            </a:r>
            <a:endParaRPr lang="en-US" sz="4400" dirty="0"/>
          </a:p>
        </p:txBody>
      </p:sp>
      <p:sp>
        <p:nvSpPr>
          <p:cNvPr id="14" name="Text 10"/>
          <p:cNvSpPr txBox="1"/>
          <p:nvPr/>
        </p:nvSpPr>
        <p:spPr>
          <a:xfrm>
            <a:off x="4617720" y="3657600"/>
            <a:ext cx="2880360" cy="21031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Full-text papers. Inline citation markers are resolved to the cited paper, so a sentence links to its source.</a:t>
            </a:r>
            <a:endParaRPr lang="en-US" sz="1500" dirty="0"/>
          </a:p>
        </p:txBody>
      </p:sp>
      <p:sp>
        <p:nvSpPr>
          <p:cNvPr id="15" name="data-card-2"/>
          <p:cNvSpPr/>
          <p:nvPr/>
        </p:nvSpPr>
        <p:spPr>
          <a:xfrm>
            <a:off x="8046720" y="1463040"/>
            <a:ext cx="3474720" cy="3840480"/>
          </a:xfrm>
          <a:prstGeom prst="roundRect">
            <a:avLst>
              <a:gd name="adj" fmla="val 3158"/>
            </a:avLst>
          </a:prstGeom>
          <a:solidFill>
            <a:srgbClr val="1D2128"/>
          </a:solidFill>
          <a:ln w="12700">
            <a:solidFill>
              <a:srgbClr val="2E343E"/>
            </a:solidFill>
            <a:prstDash val="solid"/>
          </a:ln>
        </p:spPr>
      </p:sp>
      <p:sp>
        <p:nvSpPr>
          <p:cNvPr id="16" name="data-2-circle"/>
          <p:cNvSpPr/>
          <p:nvPr/>
        </p:nvSpPr>
        <p:spPr>
          <a:xfrm>
            <a:off x="8366760" y="1783080"/>
            <a:ext cx="731520" cy="731520"/>
          </a:xfrm>
          <a:prstGeom prst="ellipse">
            <a:avLst/>
          </a:prstGeom>
          <a:solidFill>
            <a:srgbClr val="EECA3B"/>
          </a:solidFill>
          <a:ln w="12700">
            <a:solidFill>
              <a:srgbClr val="EECA3B"/>
            </a:solidFill>
            <a:prstDash val="solid"/>
          </a:ln>
        </p:spPr>
      </p:sp>
      <p:pic>
        <p:nvPicPr>
          <p:cNvPr id="17" name="data-2-icon" descr="preencoded.png">    </p:cNvPr>
          <p:cNvPicPr>
            <a:picLocks noChangeAspect="1"/>
          </p:cNvPicPr>
          <p:nvPr/>
        </p:nvPicPr>
        <p:blipFill>
          <a:blip r:embed="rId3"/>
          <a:stretch>
            <a:fillRect/>
          </a:stretch>
        </p:blipFill>
        <p:spPr>
          <a:xfrm>
            <a:off x="8549640" y="1965960"/>
            <a:ext cx="365760" cy="365760"/>
          </a:xfrm>
          <a:prstGeom prst="rect">
            <a:avLst/>
          </a:prstGeom>
        </p:spPr>
      </p:pic>
      <p:sp>
        <p:nvSpPr>
          <p:cNvPr id="18" name="Text 13"/>
          <p:cNvSpPr txBox="1"/>
          <p:nvPr/>
        </p:nvSpPr>
        <p:spPr>
          <a:xfrm>
            <a:off x="9281160" y="1920240"/>
            <a:ext cx="2103120" cy="457200"/>
          </a:xfrm>
          <a:prstGeom prst="rect">
            <a:avLst/>
          </a:prstGeom>
          <a:noFill/>
          <a:ln/>
        </p:spPr>
        <p:txBody>
          <a:bodyPr wrap="square" lIns="0" tIns="0" rIns="0" bIns="0" rtlCol="0" anchor="ctr"/>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SciERC</a:t>
            </a:r>
            <a:endParaRPr lang="en-US" sz="2000" dirty="0"/>
          </a:p>
        </p:txBody>
      </p:sp>
      <p:sp>
        <p:nvSpPr>
          <p:cNvPr id="19" name="Text 14"/>
          <p:cNvSpPr txBox="1"/>
          <p:nvPr/>
        </p:nvSpPr>
        <p:spPr>
          <a:xfrm>
            <a:off x="8366760" y="2743200"/>
            <a:ext cx="2926080" cy="822960"/>
          </a:xfrm>
          <a:prstGeom prst="rect">
            <a:avLst/>
          </a:prstGeom>
          <a:noFill/>
          <a:ln/>
        </p:spPr>
        <p:txBody>
          <a:bodyPr wrap="square" lIns="0" tIns="0" rIns="0" bIns="0" rtlCol="0" anchor="t"/>
          <a:lstStyle/>
          <a:p>
            <a:pPr indent="0" marL="0">
              <a:buNone/>
            </a:pPr>
            <a:r>
              <a:rPr lang="en-US" sz="4400" b="1" dirty="0">
                <a:solidFill>
                  <a:srgbClr val="EECA3B"/>
                </a:solidFill>
                <a:latin typeface="Segoe UI Semibold" pitchFamily="34" charset="0"/>
                <a:ea typeface="Segoe UI Semibold" pitchFamily="34" charset="-122"/>
                <a:cs typeface="Segoe UI Semibold" pitchFamily="34" charset="-120"/>
              </a:rPr>
              <a:t>500</a:t>
            </a:r>
            <a:endParaRPr lang="en-US" sz="4400" dirty="0"/>
          </a:p>
        </p:txBody>
      </p:sp>
      <p:sp>
        <p:nvSpPr>
          <p:cNvPr id="20" name="Text 15"/>
          <p:cNvSpPr txBox="1"/>
          <p:nvPr/>
        </p:nvSpPr>
        <p:spPr>
          <a:xfrm>
            <a:off x="8366760" y="3657600"/>
            <a:ext cx="2880360" cy="21031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Annotated abstracts used to train and test both SciBERT models (6 entity types, 7 relation types).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Ingestion: from upload to graph automatically</a:t>
            </a:r>
            <a:endParaRPr lang="en-US" sz="3200" dirty="0"/>
          </a:p>
        </p:txBody>
      </p:sp>
      <p:sp>
        <p:nvSpPr>
          <p:cNvPr id="3" name="step-0-circle"/>
          <p:cNvSpPr/>
          <p:nvPr/>
        </p:nvSpPr>
        <p:spPr>
          <a:xfrm>
            <a:off x="1097280" y="1600200"/>
            <a:ext cx="914400" cy="914400"/>
          </a:xfrm>
          <a:prstGeom prst="ellipse">
            <a:avLst/>
          </a:prstGeom>
          <a:solidFill>
            <a:srgbClr val="4C78A8"/>
          </a:solidFill>
          <a:ln w="12700">
            <a:solidFill>
              <a:srgbClr val="4C78A8"/>
            </a:solidFill>
            <a:prstDash val="solid"/>
          </a:ln>
        </p:spPr>
      </p:sp>
      <p:pic>
        <p:nvPicPr>
          <p:cNvPr id="4" name="step-0-icon" descr="preencoded.png">    </p:cNvPr>
          <p:cNvPicPr>
            <a:picLocks noChangeAspect="1"/>
          </p:cNvPicPr>
          <p:nvPr/>
        </p:nvPicPr>
        <p:blipFill>
          <a:blip r:embed="rId1"/>
          <a:stretch>
            <a:fillRect/>
          </a:stretch>
        </p:blipFill>
        <p:spPr>
          <a:xfrm>
            <a:off x="1325880" y="1828800"/>
            <a:ext cx="457200" cy="457200"/>
          </a:xfrm>
          <a:prstGeom prst="rect">
            <a:avLst/>
          </a:prstGeom>
        </p:spPr>
      </p:pic>
      <p:sp>
        <p:nvSpPr>
          <p:cNvPr id="5" name="Text 2"/>
          <p:cNvSpPr txBox="1"/>
          <p:nvPr/>
        </p:nvSpPr>
        <p:spPr>
          <a:xfrm>
            <a:off x="548640" y="2697480"/>
            <a:ext cx="2011680" cy="457200"/>
          </a:xfrm>
          <a:prstGeom prst="rect">
            <a:avLst/>
          </a:prstGeom>
          <a:noFill/>
          <a:ln/>
        </p:spPr>
        <p:txBody>
          <a:bodyPr wrap="square" lIns="0" tIns="0" rIns="0" bIns="0" rtlCol="0" anchor="t"/>
          <a:lstStyle/>
          <a:p>
            <a:pPr algn="ctr" indent="0" marL="0">
              <a:buNone/>
            </a:pPr>
            <a:r>
              <a:rPr lang="en-US" sz="1700" b="1" dirty="0">
                <a:solidFill>
                  <a:srgbClr val="E6E9EE"/>
                </a:solidFill>
                <a:latin typeface="Segoe UI Semibold" pitchFamily="34" charset="0"/>
                <a:ea typeface="Segoe UI Semibold" pitchFamily="34" charset="-122"/>
                <a:cs typeface="Segoe UI Semibold" pitchFamily="34" charset="-120"/>
              </a:rPr>
              <a:t>Upload</a:t>
            </a:r>
            <a:endParaRPr lang="en-US" sz="1700" dirty="0"/>
          </a:p>
        </p:txBody>
      </p:sp>
      <p:sp>
        <p:nvSpPr>
          <p:cNvPr id="6" name="Text 3"/>
          <p:cNvSpPr txBox="1"/>
          <p:nvPr/>
        </p:nvSpPr>
        <p:spPr>
          <a:xfrm>
            <a:off x="594360" y="3154680"/>
            <a:ext cx="1920240" cy="914400"/>
          </a:xfrm>
          <a:prstGeom prst="rect">
            <a:avLst/>
          </a:prstGeom>
          <a:noFill/>
          <a:ln/>
        </p:spPr>
        <p:txBody>
          <a:bodyPr wrap="square" lIns="0" tIns="0" rIns="0" bIns="0" rtlCol="0" anchor="t"/>
          <a:lstStyle/>
          <a:p>
            <a:pPr algn="ctr" indent="0" marL="0">
              <a:buNone/>
            </a:pPr>
            <a:r>
              <a:rPr lang="en-US" sz="1400" dirty="0">
                <a:solidFill>
                  <a:srgbClr val="9AA3B2"/>
                </a:solidFill>
                <a:latin typeface="Segoe UI" pitchFamily="34" charset="0"/>
                <a:ea typeface="Segoe UI" pitchFamily="34" charset="-122"/>
                <a:cs typeface="Segoe UI" pitchFamily="34" charset="-120"/>
              </a:rPr>
              <a:t>PDF or JSON lands in S3</a:t>
            </a:r>
            <a:endParaRPr lang="en-US" sz="1400" dirty="0"/>
          </a:p>
        </p:txBody>
      </p:sp>
      <p:sp>
        <p:nvSpPr>
          <p:cNvPr id="7" name="Shape 4"/>
          <p:cNvSpPr/>
          <p:nvPr/>
        </p:nvSpPr>
        <p:spPr>
          <a:xfrm>
            <a:off x="2148840" y="2057400"/>
            <a:ext cx="777240" cy="0"/>
          </a:xfrm>
          <a:prstGeom prst="line">
            <a:avLst/>
          </a:prstGeom>
          <a:noFill/>
          <a:ln w="25400">
            <a:solidFill>
              <a:srgbClr val="9AA3B2"/>
            </a:solidFill>
            <a:prstDash val="solid"/>
            <a:tailEnd type="triangle"/>
          </a:ln>
        </p:spPr>
      </p:sp>
      <p:sp>
        <p:nvSpPr>
          <p:cNvPr id="8" name="step-1-circle"/>
          <p:cNvSpPr/>
          <p:nvPr/>
        </p:nvSpPr>
        <p:spPr>
          <a:xfrm>
            <a:off x="3383280" y="1600200"/>
            <a:ext cx="914400" cy="914400"/>
          </a:xfrm>
          <a:prstGeom prst="ellipse">
            <a:avLst/>
          </a:prstGeom>
          <a:solidFill>
            <a:srgbClr val="F58518"/>
          </a:solidFill>
          <a:ln w="12700">
            <a:solidFill>
              <a:srgbClr val="F58518"/>
            </a:solidFill>
            <a:prstDash val="solid"/>
          </a:ln>
        </p:spPr>
      </p:sp>
      <p:pic>
        <p:nvPicPr>
          <p:cNvPr id="9" name="step-1-icon" descr="preencoded.png">    </p:cNvPr>
          <p:cNvPicPr>
            <a:picLocks noChangeAspect="1"/>
          </p:cNvPicPr>
          <p:nvPr/>
        </p:nvPicPr>
        <p:blipFill>
          <a:blip r:embed="rId2"/>
          <a:stretch>
            <a:fillRect/>
          </a:stretch>
        </p:blipFill>
        <p:spPr>
          <a:xfrm>
            <a:off x="3611880" y="1828800"/>
            <a:ext cx="457200" cy="457200"/>
          </a:xfrm>
          <a:prstGeom prst="rect">
            <a:avLst/>
          </a:prstGeom>
        </p:spPr>
      </p:pic>
      <p:sp>
        <p:nvSpPr>
          <p:cNvPr id="10" name="Text 6"/>
          <p:cNvSpPr txBox="1"/>
          <p:nvPr/>
        </p:nvSpPr>
        <p:spPr>
          <a:xfrm>
            <a:off x="2834640" y="2697480"/>
            <a:ext cx="2011680" cy="457200"/>
          </a:xfrm>
          <a:prstGeom prst="rect">
            <a:avLst/>
          </a:prstGeom>
          <a:noFill/>
          <a:ln/>
        </p:spPr>
        <p:txBody>
          <a:bodyPr wrap="square" lIns="0" tIns="0" rIns="0" bIns="0" rtlCol="0" anchor="t"/>
          <a:lstStyle/>
          <a:p>
            <a:pPr algn="ctr" indent="0" marL="0">
              <a:buNone/>
            </a:pPr>
            <a:r>
              <a:rPr lang="en-US" sz="1700" b="1" dirty="0">
                <a:solidFill>
                  <a:srgbClr val="E6E9EE"/>
                </a:solidFill>
                <a:latin typeface="Segoe UI Semibold" pitchFamily="34" charset="0"/>
                <a:ea typeface="Segoe UI Semibold" pitchFamily="34" charset="-122"/>
                <a:cs typeface="Segoe UI Semibold" pitchFamily="34" charset="-120"/>
              </a:rPr>
              <a:t>Trigger</a:t>
            </a:r>
            <a:endParaRPr lang="en-US" sz="1700" dirty="0"/>
          </a:p>
        </p:txBody>
      </p:sp>
      <p:sp>
        <p:nvSpPr>
          <p:cNvPr id="11" name="Text 7"/>
          <p:cNvSpPr txBox="1"/>
          <p:nvPr/>
        </p:nvSpPr>
        <p:spPr>
          <a:xfrm>
            <a:off x="2880360" y="3154680"/>
            <a:ext cx="1920240" cy="914400"/>
          </a:xfrm>
          <a:prstGeom prst="rect">
            <a:avLst/>
          </a:prstGeom>
          <a:noFill/>
          <a:ln/>
        </p:spPr>
        <p:txBody>
          <a:bodyPr wrap="square" lIns="0" tIns="0" rIns="0" bIns="0" rtlCol="0" anchor="t"/>
          <a:lstStyle/>
          <a:p>
            <a:pPr algn="ctr" indent="0" marL="0">
              <a:buNone/>
            </a:pPr>
            <a:r>
              <a:rPr lang="en-US" sz="1400" dirty="0">
                <a:solidFill>
                  <a:srgbClr val="9AA3B2"/>
                </a:solidFill>
                <a:latin typeface="Segoe UI" pitchFamily="34" charset="0"/>
                <a:ea typeface="Segoe UI" pitchFamily="34" charset="-122"/>
                <a:cs typeface="Segoe UI" pitchFamily="34" charset="-120"/>
              </a:rPr>
              <a:t>S3 event starts the ingest Lambda</a:t>
            </a:r>
            <a:endParaRPr lang="en-US" sz="1400" dirty="0"/>
          </a:p>
        </p:txBody>
      </p:sp>
      <p:sp>
        <p:nvSpPr>
          <p:cNvPr id="12" name="Shape 8"/>
          <p:cNvSpPr/>
          <p:nvPr/>
        </p:nvSpPr>
        <p:spPr>
          <a:xfrm>
            <a:off x="4434840" y="2057400"/>
            <a:ext cx="777240" cy="0"/>
          </a:xfrm>
          <a:prstGeom prst="line">
            <a:avLst/>
          </a:prstGeom>
          <a:noFill/>
          <a:ln w="25400">
            <a:solidFill>
              <a:srgbClr val="9AA3B2"/>
            </a:solidFill>
            <a:prstDash val="solid"/>
            <a:tailEnd type="triangle"/>
          </a:ln>
        </p:spPr>
      </p:sp>
      <p:sp>
        <p:nvSpPr>
          <p:cNvPr id="13" name="step-2-circle"/>
          <p:cNvSpPr/>
          <p:nvPr/>
        </p:nvSpPr>
        <p:spPr>
          <a:xfrm>
            <a:off x="5669280" y="1600200"/>
            <a:ext cx="914400" cy="914400"/>
          </a:xfrm>
          <a:prstGeom prst="ellipse">
            <a:avLst/>
          </a:prstGeom>
          <a:solidFill>
            <a:srgbClr val="72B7B2"/>
          </a:solidFill>
          <a:ln w="12700">
            <a:solidFill>
              <a:srgbClr val="72B7B2"/>
            </a:solidFill>
            <a:prstDash val="solid"/>
          </a:ln>
        </p:spPr>
      </p:sp>
      <p:pic>
        <p:nvPicPr>
          <p:cNvPr id="14" name="step-2-icon" descr="preencoded.png">    </p:cNvPr>
          <p:cNvPicPr>
            <a:picLocks noChangeAspect="1"/>
          </p:cNvPicPr>
          <p:nvPr/>
        </p:nvPicPr>
        <p:blipFill>
          <a:blip r:embed="rId3"/>
          <a:stretch>
            <a:fillRect/>
          </a:stretch>
        </p:blipFill>
        <p:spPr>
          <a:xfrm>
            <a:off x="5897880" y="1828800"/>
            <a:ext cx="457200" cy="457200"/>
          </a:xfrm>
          <a:prstGeom prst="rect">
            <a:avLst/>
          </a:prstGeom>
        </p:spPr>
      </p:pic>
      <p:sp>
        <p:nvSpPr>
          <p:cNvPr id="15" name="Text 10"/>
          <p:cNvSpPr txBox="1"/>
          <p:nvPr/>
        </p:nvSpPr>
        <p:spPr>
          <a:xfrm>
            <a:off x="5120640" y="2697480"/>
            <a:ext cx="2011680" cy="457200"/>
          </a:xfrm>
          <a:prstGeom prst="rect">
            <a:avLst/>
          </a:prstGeom>
          <a:noFill/>
          <a:ln/>
        </p:spPr>
        <p:txBody>
          <a:bodyPr wrap="square" lIns="0" tIns="0" rIns="0" bIns="0" rtlCol="0" anchor="t"/>
          <a:lstStyle/>
          <a:p>
            <a:pPr algn="ctr" indent="0" marL="0">
              <a:buNone/>
            </a:pPr>
            <a:r>
              <a:rPr lang="en-US" sz="1700" b="1" dirty="0">
                <a:solidFill>
                  <a:srgbClr val="E6E9EE"/>
                </a:solidFill>
                <a:latin typeface="Segoe UI Semibold" pitchFamily="34" charset="0"/>
                <a:ea typeface="Segoe UI Semibold" pitchFamily="34" charset="-122"/>
                <a:cs typeface="Segoe UI Semibold" pitchFamily="34" charset="-120"/>
              </a:rPr>
              <a:t>Parse and enrich</a:t>
            </a:r>
            <a:endParaRPr lang="en-US" sz="1700" dirty="0"/>
          </a:p>
        </p:txBody>
      </p:sp>
      <p:sp>
        <p:nvSpPr>
          <p:cNvPr id="16" name="Text 11"/>
          <p:cNvSpPr txBox="1"/>
          <p:nvPr/>
        </p:nvSpPr>
        <p:spPr>
          <a:xfrm>
            <a:off x="5166360" y="3154680"/>
            <a:ext cx="1920240" cy="914400"/>
          </a:xfrm>
          <a:prstGeom prst="rect">
            <a:avLst/>
          </a:prstGeom>
          <a:noFill/>
          <a:ln/>
        </p:spPr>
        <p:txBody>
          <a:bodyPr wrap="square" lIns="0" tIns="0" rIns="0" bIns="0" rtlCol="0" anchor="t"/>
          <a:lstStyle/>
          <a:p>
            <a:pPr algn="ctr" indent="0" marL="0">
              <a:buNone/>
            </a:pPr>
            <a:r>
              <a:rPr lang="en-US" sz="1400" dirty="0">
                <a:solidFill>
                  <a:srgbClr val="9AA3B2"/>
                </a:solidFill>
                <a:latin typeface="Segoe UI" pitchFamily="34" charset="0"/>
                <a:ea typeface="Segoe UI" pitchFamily="34" charset="-122"/>
                <a:cs typeface="Segoe UI" pitchFamily="34" charset="-120"/>
              </a:rPr>
              <a:t>Repair PDF text, match to OpenAlex</a:t>
            </a:r>
            <a:endParaRPr lang="en-US" sz="1400" dirty="0"/>
          </a:p>
        </p:txBody>
      </p:sp>
      <p:sp>
        <p:nvSpPr>
          <p:cNvPr id="17" name="Shape 12"/>
          <p:cNvSpPr/>
          <p:nvPr/>
        </p:nvSpPr>
        <p:spPr>
          <a:xfrm>
            <a:off x="6720840" y="2057400"/>
            <a:ext cx="777240" cy="0"/>
          </a:xfrm>
          <a:prstGeom prst="line">
            <a:avLst/>
          </a:prstGeom>
          <a:noFill/>
          <a:ln w="25400">
            <a:solidFill>
              <a:srgbClr val="9AA3B2"/>
            </a:solidFill>
            <a:prstDash val="solid"/>
            <a:tailEnd type="triangle"/>
          </a:ln>
        </p:spPr>
      </p:sp>
      <p:sp>
        <p:nvSpPr>
          <p:cNvPr id="18" name="step-3-circle"/>
          <p:cNvSpPr/>
          <p:nvPr/>
        </p:nvSpPr>
        <p:spPr>
          <a:xfrm>
            <a:off x="7955280" y="1600200"/>
            <a:ext cx="914400" cy="914400"/>
          </a:xfrm>
          <a:prstGeom prst="ellipse">
            <a:avLst/>
          </a:prstGeom>
          <a:solidFill>
            <a:srgbClr val="54A24B"/>
          </a:solidFill>
          <a:ln w="12700">
            <a:solidFill>
              <a:srgbClr val="54A24B"/>
            </a:solidFill>
            <a:prstDash val="solid"/>
          </a:ln>
        </p:spPr>
      </p:sp>
      <p:pic>
        <p:nvPicPr>
          <p:cNvPr id="19" name="step-3-icon" descr="preencoded.png">    </p:cNvPr>
          <p:cNvPicPr>
            <a:picLocks noChangeAspect="1"/>
          </p:cNvPicPr>
          <p:nvPr/>
        </p:nvPicPr>
        <p:blipFill>
          <a:blip r:embed="rId4"/>
          <a:stretch>
            <a:fillRect/>
          </a:stretch>
        </p:blipFill>
        <p:spPr>
          <a:xfrm>
            <a:off x="8183880" y="1828800"/>
            <a:ext cx="457200" cy="457200"/>
          </a:xfrm>
          <a:prstGeom prst="rect">
            <a:avLst/>
          </a:prstGeom>
        </p:spPr>
      </p:pic>
      <p:sp>
        <p:nvSpPr>
          <p:cNvPr id="20" name="Text 14"/>
          <p:cNvSpPr txBox="1"/>
          <p:nvPr/>
        </p:nvSpPr>
        <p:spPr>
          <a:xfrm>
            <a:off x="7406640" y="2697480"/>
            <a:ext cx="2011680" cy="457200"/>
          </a:xfrm>
          <a:prstGeom prst="rect">
            <a:avLst/>
          </a:prstGeom>
          <a:noFill/>
          <a:ln/>
        </p:spPr>
        <p:txBody>
          <a:bodyPr wrap="square" lIns="0" tIns="0" rIns="0" bIns="0" rtlCol="0" anchor="t"/>
          <a:lstStyle/>
          <a:p>
            <a:pPr algn="ctr" indent="0" marL="0">
              <a:buNone/>
            </a:pPr>
            <a:r>
              <a:rPr lang="en-US" sz="1700" b="1" dirty="0">
                <a:solidFill>
                  <a:srgbClr val="E6E9EE"/>
                </a:solidFill>
                <a:latin typeface="Segoe UI Semibold" pitchFamily="34" charset="0"/>
                <a:ea typeface="Segoe UI Semibold" pitchFamily="34" charset="-122"/>
                <a:cs typeface="Segoe UI Semibold" pitchFamily="34" charset="-120"/>
              </a:rPr>
              <a:t>Extract</a:t>
            </a:r>
            <a:endParaRPr lang="en-US" sz="1700" dirty="0"/>
          </a:p>
        </p:txBody>
      </p:sp>
      <p:sp>
        <p:nvSpPr>
          <p:cNvPr id="21" name="Text 15"/>
          <p:cNvSpPr txBox="1"/>
          <p:nvPr/>
        </p:nvSpPr>
        <p:spPr>
          <a:xfrm>
            <a:off x="7452360" y="3154680"/>
            <a:ext cx="1920240" cy="914400"/>
          </a:xfrm>
          <a:prstGeom prst="rect">
            <a:avLst/>
          </a:prstGeom>
          <a:noFill/>
          <a:ln/>
        </p:spPr>
        <p:txBody>
          <a:bodyPr wrap="square" lIns="0" tIns="0" rIns="0" bIns="0" rtlCol="0" anchor="t"/>
          <a:lstStyle/>
          <a:p>
            <a:pPr algn="ctr" indent="0" marL="0">
              <a:buNone/>
            </a:pPr>
            <a:r>
              <a:rPr lang="en-US" sz="1400" dirty="0">
                <a:solidFill>
                  <a:srgbClr val="9AA3B2"/>
                </a:solidFill>
                <a:latin typeface="Segoe UI" pitchFamily="34" charset="0"/>
                <a:ea typeface="Segoe UI" pitchFamily="34" charset="-122"/>
                <a:cs typeface="Segoe UI" pitchFamily="34" charset="-120"/>
              </a:rPr>
              <a:t>SciBERT entities and relations on SageMaker</a:t>
            </a:r>
            <a:endParaRPr lang="en-US" sz="1400" dirty="0"/>
          </a:p>
        </p:txBody>
      </p:sp>
      <p:sp>
        <p:nvSpPr>
          <p:cNvPr id="22" name="Shape 16"/>
          <p:cNvSpPr/>
          <p:nvPr/>
        </p:nvSpPr>
        <p:spPr>
          <a:xfrm>
            <a:off x="9006840" y="2057400"/>
            <a:ext cx="777240" cy="0"/>
          </a:xfrm>
          <a:prstGeom prst="line">
            <a:avLst/>
          </a:prstGeom>
          <a:noFill/>
          <a:ln w="25400">
            <a:solidFill>
              <a:srgbClr val="9AA3B2"/>
            </a:solidFill>
            <a:prstDash val="solid"/>
            <a:tailEnd type="triangle"/>
          </a:ln>
        </p:spPr>
      </p:sp>
      <p:sp>
        <p:nvSpPr>
          <p:cNvPr id="23" name="step-4-circle"/>
          <p:cNvSpPr/>
          <p:nvPr/>
        </p:nvSpPr>
        <p:spPr>
          <a:xfrm>
            <a:off x="10241280" y="1600200"/>
            <a:ext cx="914400" cy="914400"/>
          </a:xfrm>
          <a:prstGeom prst="ellipse">
            <a:avLst/>
          </a:prstGeom>
          <a:solidFill>
            <a:srgbClr val="6B9CF0"/>
          </a:solidFill>
          <a:ln w="12700">
            <a:solidFill>
              <a:srgbClr val="6B9CF0"/>
            </a:solidFill>
            <a:prstDash val="solid"/>
          </a:ln>
        </p:spPr>
      </p:sp>
      <p:pic>
        <p:nvPicPr>
          <p:cNvPr id="24" name="step-4-icon" descr="preencoded.png">    </p:cNvPr>
          <p:cNvPicPr>
            <a:picLocks noChangeAspect="1"/>
          </p:cNvPicPr>
          <p:nvPr/>
        </p:nvPicPr>
        <p:blipFill>
          <a:blip r:embed="rId5"/>
          <a:stretch>
            <a:fillRect/>
          </a:stretch>
        </p:blipFill>
        <p:spPr>
          <a:xfrm>
            <a:off x="10469880" y="1828800"/>
            <a:ext cx="457200" cy="457200"/>
          </a:xfrm>
          <a:prstGeom prst="rect">
            <a:avLst/>
          </a:prstGeom>
        </p:spPr>
      </p:pic>
      <p:sp>
        <p:nvSpPr>
          <p:cNvPr id="25" name="Text 18"/>
          <p:cNvSpPr txBox="1"/>
          <p:nvPr/>
        </p:nvSpPr>
        <p:spPr>
          <a:xfrm>
            <a:off x="9692640" y="2697480"/>
            <a:ext cx="2011680" cy="457200"/>
          </a:xfrm>
          <a:prstGeom prst="rect">
            <a:avLst/>
          </a:prstGeom>
          <a:noFill/>
          <a:ln/>
        </p:spPr>
        <p:txBody>
          <a:bodyPr wrap="square" lIns="0" tIns="0" rIns="0" bIns="0" rtlCol="0" anchor="t"/>
          <a:lstStyle/>
          <a:p>
            <a:pPr algn="ctr" indent="0" marL="0">
              <a:buNone/>
            </a:pPr>
            <a:r>
              <a:rPr lang="en-US" sz="1700" b="1" dirty="0">
                <a:solidFill>
                  <a:srgbClr val="E6E9EE"/>
                </a:solidFill>
                <a:latin typeface="Segoe UI Semibold" pitchFamily="34" charset="0"/>
                <a:ea typeface="Segoe UI Semibold" pitchFamily="34" charset="-122"/>
                <a:cs typeface="Segoe UI Semibold" pitchFamily="34" charset="-120"/>
              </a:rPr>
              <a:t>Write graph</a:t>
            </a:r>
            <a:endParaRPr lang="en-US" sz="1700" dirty="0"/>
          </a:p>
        </p:txBody>
      </p:sp>
      <p:sp>
        <p:nvSpPr>
          <p:cNvPr id="26" name="Text 19"/>
          <p:cNvSpPr txBox="1"/>
          <p:nvPr/>
        </p:nvSpPr>
        <p:spPr>
          <a:xfrm>
            <a:off x="9738360" y="3154680"/>
            <a:ext cx="1920240" cy="914400"/>
          </a:xfrm>
          <a:prstGeom prst="rect">
            <a:avLst/>
          </a:prstGeom>
          <a:noFill/>
          <a:ln/>
        </p:spPr>
        <p:txBody>
          <a:bodyPr wrap="square" lIns="0" tIns="0" rIns="0" bIns="0" rtlCol="0" anchor="t"/>
          <a:lstStyle/>
          <a:p>
            <a:pPr algn="ctr" indent="0" marL="0">
              <a:buNone/>
            </a:pPr>
            <a:r>
              <a:rPr lang="en-US" sz="1400" dirty="0">
                <a:solidFill>
                  <a:srgbClr val="9AA3B2"/>
                </a:solidFill>
                <a:latin typeface="Segoe UI" pitchFamily="34" charset="0"/>
                <a:ea typeface="Segoe UI" pitchFamily="34" charset="-122"/>
                <a:cs typeface="Segoe UI" pitchFamily="34" charset="-120"/>
              </a:rPr>
              <a:t>Clean names, MERGE into the graph</a:t>
            </a:r>
            <a:endParaRPr lang="en-US" sz="1400" dirty="0"/>
          </a:p>
        </p:txBody>
      </p:sp>
      <p:sp>
        <p:nvSpPr>
          <p:cNvPr id="27" name="pipeline-stat-0"/>
          <p:cNvSpPr/>
          <p:nvPr/>
        </p:nvSpPr>
        <p:spPr>
          <a:xfrm>
            <a:off x="548640" y="4434840"/>
            <a:ext cx="3474720" cy="1600200"/>
          </a:xfrm>
          <a:prstGeom prst="roundRect">
            <a:avLst>
              <a:gd name="adj" fmla="val 6857"/>
            </a:avLst>
          </a:prstGeom>
          <a:solidFill>
            <a:srgbClr val="1D2128"/>
          </a:solidFill>
          <a:ln w="12700">
            <a:solidFill>
              <a:srgbClr val="2E343E"/>
            </a:solidFill>
            <a:prstDash val="solid"/>
          </a:ln>
        </p:spPr>
      </p:sp>
      <p:sp>
        <p:nvSpPr>
          <p:cNvPr id="28" name="Text 21"/>
          <p:cNvSpPr txBox="1"/>
          <p:nvPr/>
        </p:nvSpPr>
        <p:spPr>
          <a:xfrm>
            <a:off x="868680" y="4572000"/>
            <a:ext cx="2926080" cy="731520"/>
          </a:xfrm>
          <a:prstGeom prst="rect">
            <a:avLst/>
          </a:prstGeom>
          <a:noFill/>
          <a:ln/>
        </p:spPr>
        <p:txBody>
          <a:bodyPr wrap="square" lIns="0" tIns="0" rIns="0" bIns="0" rtlCol="0" anchor="t"/>
          <a:lstStyle/>
          <a:p>
            <a:pPr indent="0" marL="0">
              <a:buNone/>
            </a:pPr>
            <a:r>
              <a:rPr lang="en-US" sz="4000" b="1" dirty="0">
                <a:solidFill>
                  <a:srgbClr val="54A24B"/>
                </a:solidFill>
                <a:latin typeface="Segoe UI Semibold" pitchFamily="34" charset="0"/>
                <a:ea typeface="Segoe UI Semibold" pitchFamily="34" charset="-122"/>
                <a:cs typeface="Segoe UI Semibold" pitchFamily="34" charset="-120"/>
              </a:rPr>
              <a:t>1,350</a:t>
            </a:r>
            <a:endParaRPr lang="en-US" sz="4000" dirty="0"/>
          </a:p>
        </p:txBody>
      </p:sp>
      <p:sp>
        <p:nvSpPr>
          <p:cNvPr id="29" name="Text 22"/>
          <p:cNvSpPr txBox="1"/>
          <p:nvPr/>
        </p:nvSpPr>
        <p:spPr>
          <a:xfrm>
            <a:off x="868680" y="5321808"/>
            <a:ext cx="292608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papers per hour (12 parallel Lambdas)</a:t>
            </a:r>
            <a:endParaRPr lang="en-US" sz="1400" dirty="0"/>
          </a:p>
        </p:txBody>
      </p:sp>
      <p:sp>
        <p:nvSpPr>
          <p:cNvPr id="30" name="pipeline-stat-1"/>
          <p:cNvSpPr/>
          <p:nvPr/>
        </p:nvSpPr>
        <p:spPr>
          <a:xfrm>
            <a:off x="4297680" y="4434840"/>
            <a:ext cx="3474720" cy="1600200"/>
          </a:xfrm>
          <a:prstGeom prst="roundRect">
            <a:avLst>
              <a:gd name="adj" fmla="val 6857"/>
            </a:avLst>
          </a:prstGeom>
          <a:solidFill>
            <a:srgbClr val="1D2128"/>
          </a:solidFill>
          <a:ln w="12700">
            <a:solidFill>
              <a:srgbClr val="2E343E"/>
            </a:solidFill>
            <a:prstDash val="solid"/>
          </a:ln>
        </p:spPr>
      </p:sp>
      <p:sp>
        <p:nvSpPr>
          <p:cNvPr id="31" name="Text 24"/>
          <p:cNvSpPr txBox="1"/>
          <p:nvPr/>
        </p:nvSpPr>
        <p:spPr>
          <a:xfrm>
            <a:off x="4617720" y="4572000"/>
            <a:ext cx="2926080" cy="731520"/>
          </a:xfrm>
          <a:prstGeom prst="rect">
            <a:avLst/>
          </a:prstGeom>
          <a:noFill/>
          <a:ln/>
        </p:spPr>
        <p:txBody>
          <a:bodyPr wrap="square" lIns="0" tIns="0" rIns="0" bIns="0" rtlCol="0" anchor="t"/>
          <a:lstStyle/>
          <a:p>
            <a:pPr indent="0" marL="0">
              <a:buNone/>
            </a:pPr>
            <a:r>
              <a:rPr lang="en-US" sz="4000" b="1" dirty="0">
                <a:solidFill>
                  <a:srgbClr val="5CC98A"/>
                </a:solidFill>
                <a:latin typeface="Segoe UI Semibold" pitchFamily="34" charset="0"/>
                <a:ea typeface="Segoe UI Semibold" pitchFamily="34" charset="-122"/>
                <a:cs typeface="Segoe UI Semibold" pitchFamily="34" charset="-120"/>
              </a:rPr>
              <a:t>0</a:t>
            </a:r>
            <a:endParaRPr lang="en-US" sz="4000" dirty="0"/>
          </a:p>
        </p:txBody>
      </p:sp>
      <p:sp>
        <p:nvSpPr>
          <p:cNvPr id="32" name="Text 25"/>
          <p:cNvSpPr txBox="1"/>
          <p:nvPr/>
        </p:nvSpPr>
        <p:spPr>
          <a:xfrm>
            <a:off x="4617720" y="5321808"/>
            <a:ext cx="292608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failed documents in the final rebuild</a:t>
            </a:r>
            <a:endParaRPr lang="en-US" sz="1400" dirty="0"/>
          </a:p>
        </p:txBody>
      </p:sp>
      <p:sp>
        <p:nvSpPr>
          <p:cNvPr id="33" name="pipeline-stat-2"/>
          <p:cNvSpPr/>
          <p:nvPr/>
        </p:nvSpPr>
        <p:spPr>
          <a:xfrm>
            <a:off x="8046720" y="4434840"/>
            <a:ext cx="3474720" cy="1600200"/>
          </a:xfrm>
          <a:prstGeom prst="roundRect">
            <a:avLst>
              <a:gd name="adj" fmla="val 6857"/>
            </a:avLst>
          </a:prstGeom>
          <a:solidFill>
            <a:srgbClr val="1D2128"/>
          </a:solidFill>
          <a:ln w="12700">
            <a:solidFill>
              <a:srgbClr val="2E343E"/>
            </a:solidFill>
            <a:prstDash val="solid"/>
          </a:ln>
        </p:spPr>
      </p:sp>
      <p:sp>
        <p:nvSpPr>
          <p:cNvPr id="34" name="Text 27"/>
          <p:cNvSpPr txBox="1"/>
          <p:nvPr/>
        </p:nvSpPr>
        <p:spPr>
          <a:xfrm>
            <a:off x="8366760" y="4572000"/>
            <a:ext cx="2926080" cy="731520"/>
          </a:xfrm>
          <a:prstGeom prst="rect">
            <a:avLst/>
          </a:prstGeom>
          <a:noFill/>
          <a:ln/>
        </p:spPr>
        <p:txBody>
          <a:bodyPr wrap="square" lIns="0" tIns="0" rIns="0" bIns="0" rtlCol="0" anchor="t"/>
          <a:lstStyle/>
          <a:p>
            <a:pPr indent="0" marL="0">
              <a:buNone/>
            </a:pPr>
            <a:r>
              <a:rPr lang="en-US" sz="4000" b="1" dirty="0">
                <a:solidFill>
                  <a:srgbClr val="6B9CF0"/>
                </a:solidFill>
                <a:latin typeface="Segoe UI Semibold" pitchFamily="34" charset="0"/>
                <a:ea typeface="Segoe UI Semibold" pitchFamily="34" charset="-122"/>
                <a:cs typeface="Segoe UI Semibold" pitchFamily="34" charset="-120"/>
              </a:rPr>
              <a:t>49 s</a:t>
            </a:r>
            <a:endParaRPr lang="en-US" sz="4000" dirty="0"/>
          </a:p>
        </p:txBody>
      </p:sp>
      <p:sp>
        <p:nvSpPr>
          <p:cNvPr id="35" name="Text 28"/>
          <p:cNvSpPr txBox="1"/>
          <p:nvPr/>
        </p:nvSpPr>
        <p:spPr>
          <a:xfrm>
            <a:off x="8366760" y="5321808"/>
            <a:ext cx="292608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one uploaded paper, start to graph</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SciBERT entity recognition: F1 0.618</a:t>
            </a:r>
            <a:endParaRPr lang="en-US" sz="3200" dirty="0"/>
          </a:p>
        </p:txBody>
      </p:sp>
      <p:graphicFrame>
        <p:nvGraphicFramePr>
          <p:cNvPr id="3" name="ner-chart" descr=""/>
          <p:cNvGraphicFramePr/>
          <p:nvPr/>
        </p:nvGraphicFramePr>
        <p:xfrm>
          <a:off x="548640" y="137160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ner-callout"/>
          <p:cNvSpPr/>
          <p:nvPr/>
        </p:nvSpPr>
        <p:spPr>
          <a:xfrm>
            <a:off x="8138160" y="1463040"/>
            <a:ext cx="3520440" cy="4663440"/>
          </a:xfrm>
          <a:prstGeom prst="roundRect">
            <a:avLst>
              <a:gd name="adj" fmla="val 3117"/>
            </a:avLst>
          </a:prstGeom>
          <a:solidFill>
            <a:srgbClr val="1D2128"/>
          </a:solidFill>
          <a:ln w="12700">
            <a:solidFill>
              <a:srgbClr val="2E343E"/>
            </a:solidFill>
            <a:prstDash val="solid"/>
          </a:ln>
        </p:spPr>
      </p:sp>
      <p:sp>
        <p:nvSpPr>
          <p:cNvPr id="5" name="Text 2"/>
          <p:cNvSpPr txBox="1"/>
          <p:nvPr/>
        </p:nvSpPr>
        <p:spPr>
          <a:xfrm>
            <a:off x="8458200" y="1691640"/>
            <a:ext cx="2926080" cy="731520"/>
          </a:xfrm>
          <a:prstGeom prst="rect">
            <a:avLst/>
          </a:prstGeom>
          <a:noFill/>
          <a:ln/>
        </p:spPr>
        <p:txBody>
          <a:bodyPr wrap="square" lIns="0" tIns="0" rIns="0" bIns="0" rtlCol="0" anchor="t"/>
          <a:lstStyle/>
          <a:p>
            <a:pPr indent="0" marL="0">
              <a:buNone/>
            </a:pPr>
            <a:r>
              <a:rPr lang="en-US" sz="4000" b="1" dirty="0">
                <a:solidFill>
                  <a:srgbClr val="54A24B"/>
                </a:solidFill>
                <a:latin typeface="Segoe UI Semibold" pitchFamily="34" charset="0"/>
                <a:ea typeface="Segoe UI Semibold" pitchFamily="34" charset="-122"/>
                <a:cs typeface="Segoe UI Semibold" pitchFamily="34" charset="-120"/>
              </a:rPr>
              <a:t>0.707</a:t>
            </a:r>
            <a:endParaRPr lang="en-US" sz="4000" dirty="0"/>
          </a:p>
        </p:txBody>
      </p:sp>
      <p:sp>
        <p:nvSpPr>
          <p:cNvPr id="6" name="Text 3"/>
          <p:cNvSpPr txBox="1"/>
          <p:nvPr/>
        </p:nvSpPr>
        <p:spPr>
          <a:xfrm>
            <a:off x="8458200" y="2441448"/>
            <a:ext cx="292608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F1 on Methods, the type that matters most for our graph</a:t>
            </a:r>
            <a:endParaRPr lang="en-US" sz="1400" dirty="0"/>
          </a:p>
        </p:txBody>
      </p:sp>
      <p:sp>
        <p:nvSpPr>
          <p:cNvPr id="7" name="Text 4"/>
          <p:cNvSpPr txBox="1"/>
          <p:nvPr/>
        </p:nvSpPr>
        <p:spPr>
          <a:xfrm>
            <a:off x="8458200" y="3108960"/>
            <a:ext cx="2926080" cy="731520"/>
          </a:xfrm>
          <a:prstGeom prst="rect">
            <a:avLst/>
          </a:prstGeom>
          <a:noFill/>
          <a:ln/>
        </p:spPr>
        <p:txBody>
          <a:bodyPr wrap="square" lIns="0" tIns="0" rIns="0" bIns="0" rtlCol="0" anchor="t"/>
          <a:lstStyle/>
          <a:p>
            <a:pPr indent="0" marL="0">
              <a:buNone/>
            </a:pPr>
            <a:r>
              <a:rPr lang="en-US" sz="3200" b="1" dirty="0">
                <a:solidFill>
                  <a:srgbClr val="6B9CF0"/>
                </a:solidFill>
                <a:latin typeface="Segoe UI Semibold" pitchFamily="34" charset="0"/>
                <a:ea typeface="Segoe UI Semibold" pitchFamily="34" charset="-122"/>
                <a:cs typeface="Segoe UI Semibold" pitchFamily="34" charset="-120"/>
              </a:rPr>
              <a:t>305 / 305</a:t>
            </a:r>
            <a:endParaRPr lang="en-US" sz="3200" dirty="0"/>
          </a:p>
        </p:txBody>
      </p:sp>
      <p:sp>
        <p:nvSpPr>
          <p:cNvPr id="8" name="Text 5"/>
          <p:cNvSpPr txBox="1"/>
          <p:nvPr/>
        </p:nvSpPr>
        <p:spPr>
          <a:xfrm>
            <a:off x="8458200" y="3858768"/>
            <a:ext cx="292608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papers now linked to entities (rule-based baseline: 189 / 304)</a:t>
            </a:r>
            <a:endParaRPr lang="en-US" sz="1400" dirty="0"/>
          </a:p>
        </p:txBody>
      </p:sp>
      <p:sp>
        <p:nvSpPr>
          <p:cNvPr id="9" name="Text 6"/>
          <p:cNvSpPr txBox="1"/>
          <p:nvPr/>
        </p:nvSpPr>
        <p:spPr>
          <a:xfrm>
            <a:off x="8458200" y="4526280"/>
            <a:ext cx="2971800" cy="146304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Trained on a laptop CPU in 35 minutes (the account's SageMaker training quota is 0), then served on SageMaker. Published SciBERT: about 0.65-0.67 on a GPU.</a:t>
            </a:r>
            <a:endParaRPr lang="en-US" sz="13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Relation extraction improved from 0.423 to 0.661 F1</a:t>
            </a:r>
            <a:endParaRPr lang="en-US" sz="3200" dirty="0"/>
          </a:p>
        </p:txBody>
      </p:sp>
      <p:graphicFrame>
        <p:nvGraphicFramePr>
          <p:cNvPr id="3" name="re-chart" descr=""/>
          <p:cNvGraphicFramePr/>
          <p:nvPr/>
        </p:nvGraphicFramePr>
        <p:xfrm>
          <a:off x="548640" y="137160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463040"/>
            <a:ext cx="3840480" cy="457200"/>
          </a:xfrm>
          <a:prstGeom prst="rect">
            <a:avLst/>
          </a:prstGeom>
          <a:noFill/>
          <a:ln/>
        </p:spPr>
        <p:txBody>
          <a:bodyPr wrap="square" lIns="0" tIns="0" rIns="0" bIns="0" rtlCol="0" anchor="t"/>
          <a:lstStyle/>
          <a:p>
            <a:pPr indent="0" marL="0">
              <a:buNone/>
            </a:pPr>
            <a:r>
              <a:rPr lang="en-US" sz="2000" b="1" dirty="0">
                <a:solidFill>
                  <a:srgbClr val="E6E9EE"/>
                </a:solidFill>
                <a:latin typeface="Segoe UI Semibold" pitchFamily="34" charset="0"/>
                <a:ea typeface="Segoe UI Semibold" pitchFamily="34" charset="-122"/>
                <a:cs typeface="Segoe UI Semibold" pitchFamily="34" charset="-120"/>
              </a:rPr>
              <a:t>What changed</a:t>
            </a:r>
            <a:endParaRPr lang="en-US" sz="2000" dirty="0"/>
          </a:p>
        </p:txBody>
      </p:sp>
      <p:sp>
        <p:nvSpPr>
          <p:cNvPr id="5" name="Text 2"/>
          <p:cNvSpPr txBox="1"/>
          <p:nvPr/>
        </p:nvSpPr>
        <p:spPr>
          <a:xfrm>
            <a:off x="7772400" y="2057400"/>
            <a:ext cx="3840480"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Typed entity markers: the model sees each entity's type</a:t>
            </a:r>
            <a:endParaRPr lang="en-US" sz="1500" dirty="0"/>
          </a:p>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Reads the encoder at the entity start markers, not [CLS]</a:t>
            </a:r>
            <a:endParaRPr lang="en-US" sz="1500" dirty="0"/>
          </a:p>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Keeps the best epoch by dev F1</a:t>
            </a:r>
            <a:endParaRPr lang="en-US" sz="1500" dirty="0"/>
          </a:p>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Threshold tuned on dev only, never on test</a:t>
            </a:r>
            <a:endParaRPr lang="en-US" sz="1500" dirty="0"/>
          </a:p>
        </p:txBody>
      </p:sp>
      <p:sp>
        <p:nvSpPr>
          <p:cNvPr id="6" name="re-result"/>
          <p:cNvSpPr/>
          <p:nvPr/>
        </p:nvSpPr>
        <p:spPr>
          <a:xfrm>
            <a:off x="7772400" y="4709160"/>
            <a:ext cx="3840480" cy="1371600"/>
          </a:xfrm>
          <a:prstGeom prst="roundRect">
            <a:avLst>
              <a:gd name="adj" fmla="val 8000"/>
            </a:avLst>
          </a:prstGeom>
          <a:solidFill>
            <a:srgbClr val="1D2128"/>
          </a:solidFill>
          <a:ln w="12700">
            <a:solidFill>
              <a:srgbClr val="2E343E"/>
            </a:solidFill>
            <a:prstDash val="solid"/>
          </a:ln>
        </p:spPr>
      </p:sp>
      <p:sp>
        <p:nvSpPr>
          <p:cNvPr id="7" name="Text 4"/>
          <p:cNvSpPr txBox="1"/>
          <p:nvPr/>
        </p:nvSpPr>
        <p:spPr>
          <a:xfrm>
            <a:off x="8001000" y="4846320"/>
            <a:ext cx="3429000" cy="1097280"/>
          </a:xfrm>
          <a:prstGeom prst="rect">
            <a:avLst/>
          </a:prstGeom>
          <a:noFill/>
          <a:ln/>
        </p:spPr>
        <p:txBody>
          <a:bodyPr wrap="square" lIns="0" tIns="0" rIns="0" bIns="0" rtlCol="0" anchor="ctr"/>
          <a:lstStyle/>
          <a:p>
            <a:pPr indent="0" marL="0">
              <a:buNone/>
            </a:pPr>
            <a:r>
              <a:rPr lang="en-US" sz="1400" dirty="0">
                <a:solidFill>
                  <a:srgbClr val="9AA3B2"/>
                </a:solidFill>
                <a:latin typeface="Segoe UI" pitchFamily="34" charset="0"/>
                <a:ea typeface="Segoe UI" pitchFamily="34" charset="-122"/>
                <a:cs typeface="Segoe UI" pitchFamily="34" charset="-120"/>
              </a:rPr>
              <a:t>865 typed relations in the graph: APPLIED_TO, IS_A, EVALUATED_ON, MEASURED_BY, COMPARED_WITH, PART_OF</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The knowledge graph</a:t>
            </a:r>
            <a:endParaRPr lang="en-US" sz="3200" dirty="0"/>
          </a:p>
        </p:txBody>
      </p:sp>
      <p:sp>
        <p:nvSpPr>
          <p:cNvPr id="3" name="Shape 1"/>
          <p:cNvSpPr/>
          <p:nvPr/>
        </p:nvSpPr>
        <p:spPr>
          <a:xfrm>
            <a:off x="1325880" y="2148840"/>
            <a:ext cx="2377440" cy="0"/>
          </a:xfrm>
          <a:prstGeom prst="line">
            <a:avLst/>
          </a:prstGeom>
          <a:noFill/>
          <a:ln w="25400">
            <a:solidFill>
              <a:srgbClr val="2E343E"/>
            </a:solidFill>
            <a:prstDash val="solid"/>
          </a:ln>
        </p:spPr>
      </p:sp>
      <p:sp>
        <p:nvSpPr>
          <p:cNvPr id="4" name="Text 2"/>
          <p:cNvSpPr txBox="1"/>
          <p:nvPr/>
        </p:nvSpPr>
        <p:spPr>
          <a:xfrm>
            <a:off x="1691640" y="1783080"/>
            <a:ext cx="1645920" cy="274320"/>
          </a:xfrm>
          <a:prstGeom prst="rect">
            <a:avLst/>
          </a:prstGeom>
          <a:noFill/>
          <a:ln/>
        </p:spPr>
        <p:txBody>
          <a:bodyPr wrap="square" lIns="0" tIns="0" rIns="0" bIns="0" rtlCol="0" anchor="t"/>
          <a:lstStyle/>
          <a:p>
            <a:pPr algn="ctr" indent="0" marL="0">
              <a:buNone/>
            </a:pPr>
            <a:r>
              <a:rPr lang="en-US" sz="1000" dirty="0">
                <a:solidFill>
                  <a:srgbClr val="9AA3B2"/>
                </a:solidFill>
                <a:latin typeface="Segoe UI" pitchFamily="34" charset="0"/>
                <a:ea typeface="Segoe UI" pitchFamily="34" charset="-122"/>
                <a:cs typeface="Segoe UI" pitchFamily="34" charset="-120"/>
              </a:rPr>
              <a:t>AUTHORED</a:t>
            </a:r>
            <a:endParaRPr lang="en-US" sz="1000" dirty="0"/>
          </a:p>
        </p:txBody>
      </p:sp>
      <p:sp>
        <p:nvSpPr>
          <p:cNvPr id="5" name="Shape 3"/>
          <p:cNvSpPr/>
          <p:nvPr/>
        </p:nvSpPr>
        <p:spPr>
          <a:xfrm>
            <a:off x="3703320" y="2148840"/>
            <a:ext cx="2377440" cy="0"/>
          </a:xfrm>
          <a:prstGeom prst="line">
            <a:avLst/>
          </a:prstGeom>
          <a:noFill/>
          <a:ln w="25400">
            <a:solidFill>
              <a:srgbClr val="2E343E"/>
            </a:solidFill>
            <a:prstDash val="solid"/>
          </a:ln>
        </p:spPr>
      </p:sp>
      <p:sp>
        <p:nvSpPr>
          <p:cNvPr id="6" name="Text 4"/>
          <p:cNvSpPr txBox="1"/>
          <p:nvPr/>
        </p:nvSpPr>
        <p:spPr>
          <a:xfrm>
            <a:off x="4069080" y="1783080"/>
            <a:ext cx="1645920" cy="274320"/>
          </a:xfrm>
          <a:prstGeom prst="rect">
            <a:avLst/>
          </a:prstGeom>
          <a:noFill/>
          <a:ln/>
        </p:spPr>
        <p:txBody>
          <a:bodyPr wrap="square" lIns="0" tIns="0" rIns="0" bIns="0" rtlCol="0" anchor="t"/>
          <a:lstStyle/>
          <a:p>
            <a:pPr algn="ctr" indent="0" marL="0">
              <a:buNone/>
            </a:pPr>
            <a:r>
              <a:rPr lang="en-US" sz="1000" dirty="0">
                <a:solidFill>
                  <a:srgbClr val="9AA3B2"/>
                </a:solidFill>
                <a:latin typeface="Segoe UI" pitchFamily="34" charset="0"/>
                <a:ea typeface="Segoe UI" pitchFamily="34" charset="-122"/>
                <a:cs typeface="Segoe UI" pitchFamily="34" charset="-120"/>
              </a:rPr>
              <a:t>PUBLISHED_IN</a:t>
            </a:r>
            <a:endParaRPr lang="en-US" sz="1000" dirty="0"/>
          </a:p>
        </p:txBody>
      </p:sp>
      <p:sp>
        <p:nvSpPr>
          <p:cNvPr id="7" name="Shape 5"/>
          <p:cNvSpPr/>
          <p:nvPr/>
        </p:nvSpPr>
        <p:spPr>
          <a:xfrm>
            <a:off x="1325880" y="2148840"/>
            <a:ext cx="0" cy="1920240"/>
          </a:xfrm>
          <a:prstGeom prst="line">
            <a:avLst/>
          </a:prstGeom>
          <a:noFill/>
          <a:ln w="25400">
            <a:solidFill>
              <a:srgbClr val="2E343E"/>
            </a:solidFill>
            <a:prstDash val="solid"/>
          </a:ln>
        </p:spPr>
      </p:sp>
      <p:sp>
        <p:nvSpPr>
          <p:cNvPr id="8" name="Text 6"/>
          <p:cNvSpPr txBox="1"/>
          <p:nvPr/>
        </p:nvSpPr>
        <p:spPr>
          <a:xfrm>
            <a:off x="502920" y="2999232"/>
            <a:ext cx="1645920" cy="274320"/>
          </a:xfrm>
          <a:prstGeom prst="rect">
            <a:avLst/>
          </a:prstGeom>
          <a:noFill/>
          <a:ln/>
        </p:spPr>
        <p:txBody>
          <a:bodyPr wrap="square" lIns="0" tIns="0" rIns="0" bIns="0" rtlCol="0" anchor="t"/>
          <a:lstStyle/>
          <a:p>
            <a:pPr algn="ctr" indent="0" marL="0">
              <a:buNone/>
            </a:pPr>
            <a:r>
              <a:rPr lang="en-US" sz="1000" dirty="0">
                <a:solidFill>
                  <a:srgbClr val="9AA3B2"/>
                </a:solidFill>
                <a:latin typeface="Segoe UI" pitchFamily="34" charset="0"/>
                <a:ea typeface="Segoe UI" pitchFamily="34" charset="-122"/>
                <a:cs typeface="Segoe UI" pitchFamily="34" charset="-120"/>
              </a:rPr>
              <a:t>AFFILIATED_WITH</a:t>
            </a:r>
            <a:endParaRPr lang="en-US" sz="1000" dirty="0"/>
          </a:p>
        </p:txBody>
      </p:sp>
      <p:sp>
        <p:nvSpPr>
          <p:cNvPr id="9" name="Shape 7"/>
          <p:cNvSpPr/>
          <p:nvPr/>
        </p:nvSpPr>
        <p:spPr>
          <a:xfrm>
            <a:off x="3703320" y="2148840"/>
            <a:ext cx="0" cy="1920240"/>
          </a:xfrm>
          <a:prstGeom prst="line">
            <a:avLst/>
          </a:prstGeom>
          <a:noFill/>
          <a:ln w="25400">
            <a:solidFill>
              <a:srgbClr val="2E343E"/>
            </a:solidFill>
            <a:prstDash val="solid"/>
          </a:ln>
        </p:spPr>
      </p:sp>
      <p:sp>
        <p:nvSpPr>
          <p:cNvPr id="10" name="Text 8"/>
          <p:cNvSpPr txBox="1"/>
          <p:nvPr/>
        </p:nvSpPr>
        <p:spPr>
          <a:xfrm>
            <a:off x="2880360" y="2999232"/>
            <a:ext cx="1645920" cy="274320"/>
          </a:xfrm>
          <a:prstGeom prst="rect">
            <a:avLst/>
          </a:prstGeom>
          <a:noFill/>
          <a:ln/>
        </p:spPr>
        <p:txBody>
          <a:bodyPr wrap="square" lIns="0" tIns="0" rIns="0" bIns="0" rtlCol="0" anchor="t"/>
          <a:lstStyle/>
          <a:p>
            <a:pPr algn="ctr" indent="0" marL="0">
              <a:buNone/>
            </a:pPr>
            <a:r>
              <a:rPr lang="en-US" sz="1000" dirty="0">
                <a:solidFill>
                  <a:srgbClr val="9AA3B2"/>
                </a:solidFill>
                <a:latin typeface="Segoe UI" pitchFamily="34" charset="0"/>
                <a:ea typeface="Segoe UI" pitchFamily="34" charset="-122"/>
                <a:cs typeface="Segoe UI" pitchFamily="34" charset="-120"/>
              </a:rPr>
              <a:t>USES_METHOD</a:t>
            </a:r>
            <a:endParaRPr lang="en-US" sz="1000" dirty="0"/>
          </a:p>
        </p:txBody>
      </p:sp>
      <p:sp>
        <p:nvSpPr>
          <p:cNvPr id="11" name="Shape 9"/>
          <p:cNvSpPr/>
          <p:nvPr/>
        </p:nvSpPr>
        <p:spPr>
          <a:xfrm>
            <a:off x="3703320" y="4069080"/>
            <a:ext cx="2377440" cy="0"/>
          </a:xfrm>
          <a:prstGeom prst="line">
            <a:avLst/>
          </a:prstGeom>
          <a:noFill/>
          <a:ln w="25400">
            <a:solidFill>
              <a:srgbClr val="2E343E"/>
            </a:solidFill>
            <a:prstDash val="solid"/>
          </a:ln>
        </p:spPr>
      </p:sp>
      <p:sp>
        <p:nvSpPr>
          <p:cNvPr id="12" name="Text 10"/>
          <p:cNvSpPr txBox="1"/>
          <p:nvPr/>
        </p:nvSpPr>
        <p:spPr>
          <a:xfrm>
            <a:off x="4069080" y="3703320"/>
            <a:ext cx="1645920" cy="274320"/>
          </a:xfrm>
          <a:prstGeom prst="rect">
            <a:avLst/>
          </a:prstGeom>
          <a:noFill/>
          <a:ln/>
        </p:spPr>
        <p:txBody>
          <a:bodyPr wrap="square" lIns="0" tIns="0" rIns="0" bIns="0" rtlCol="0" anchor="t"/>
          <a:lstStyle/>
          <a:p>
            <a:pPr algn="ctr" indent="0" marL="0">
              <a:buNone/>
            </a:pPr>
            <a:r>
              <a:rPr lang="en-US" sz="1000" dirty="0">
                <a:solidFill>
                  <a:srgbClr val="9AA3B2"/>
                </a:solidFill>
                <a:latin typeface="Segoe UI" pitchFamily="34" charset="0"/>
                <a:ea typeface="Segoe UI" pitchFamily="34" charset="-122"/>
                <a:cs typeface="Segoe UI" pitchFamily="34" charset="-120"/>
              </a:rPr>
              <a:t>APPLIED_TO</a:t>
            </a:r>
            <a:endParaRPr lang="en-US" sz="1000" dirty="0"/>
          </a:p>
        </p:txBody>
      </p:sp>
      <p:sp>
        <p:nvSpPr>
          <p:cNvPr id="13" name="Shape 11"/>
          <p:cNvSpPr/>
          <p:nvPr/>
        </p:nvSpPr>
        <p:spPr>
          <a:xfrm>
            <a:off x="3703320" y="4069080"/>
            <a:ext cx="2377440" cy="1463040"/>
          </a:xfrm>
          <a:prstGeom prst="line">
            <a:avLst/>
          </a:prstGeom>
          <a:noFill/>
          <a:ln w="25400">
            <a:solidFill>
              <a:srgbClr val="2E343E"/>
            </a:solidFill>
            <a:prstDash val="solid"/>
          </a:ln>
        </p:spPr>
      </p:sp>
      <p:sp>
        <p:nvSpPr>
          <p:cNvPr id="14" name="Text 12"/>
          <p:cNvSpPr txBox="1"/>
          <p:nvPr/>
        </p:nvSpPr>
        <p:spPr>
          <a:xfrm>
            <a:off x="4069080" y="4690872"/>
            <a:ext cx="1645920" cy="274320"/>
          </a:xfrm>
          <a:prstGeom prst="rect">
            <a:avLst/>
          </a:prstGeom>
          <a:noFill/>
          <a:ln/>
        </p:spPr>
        <p:txBody>
          <a:bodyPr wrap="square" lIns="0" tIns="0" rIns="0" bIns="0" rtlCol="0" anchor="t"/>
          <a:lstStyle/>
          <a:p>
            <a:pPr algn="ctr" indent="0" marL="0">
              <a:buNone/>
            </a:pPr>
            <a:r>
              <a:rPr lang="en-US" sz="1000" dirty="0">
                <a:solidFill>
                  <a:srgbClr val="9AA3B2"/>
                </a:solidFill>
                <a:latin typeface="Segoe UI" pitchFamily="34" charset="0"/>
                <a:ea typeface="Segoe UI" pitchFamily="34" charset="-122"/>
                <a:cs typeface="Segoe UI" pitchFamily="34" charset="-120"/>
              </a:rPr>
              <a:t>EVALUATED_ON</a:t>
            </a:r>
            <a:endParaRPr lang="en-US" sz="1000" dirty="0"/>
          </a:p>
        </p:txBody>
      </p:sp>
      <p:sp>
        <p:nvSpPr>
          <p:cNvPr id="15" name="ontology-0-circle"/>
          <p:cNvSpPr/>
          <p:nvPr/>
        </p:nvSpPr>
        <p:spPr>
          <a:xfrm>
            <a:off x="914400" y="1737360"/>
            <a:ext cx="822960" cy="822960"/>
          </a:xfrm>
          <a:prstGeom prst="ellipse">
            <a:avLst/>
          </a:prstGeom>
          <a:solidFill>
            <a:srgbClr val="F58518"/>
          </a:solidFill>
          <a:ln w="12700">
            <a:solidFill>
              <a:srgbClr val="F58518"/>
            </a:solidFill>
            <a:prstDash val="solid"/>
          </a:ln>
        </p:spPr>
      </p:sp>
      <p:pic>
        <p:nvPicPr>
          <p:cNvPr id="16" name="ontology-0-icon" descr="preencoded.png">    </p:cNvPr>
          <p:cNvPicPr>
            <a:picLocks noChangeAspect="1"/>
          </p:cNvPicPr>
          <p:nvPr/>
        </p:nvPicPr>
        <p:blipFill>
          <a:blip r:embed="rId1"/>
          <a:stretch>
            <a:fillRect/>
          </a:stretch>
        </p:blipFill>
        <p:spPr>
          <a:xfrm>
            <a:off x="1120140" y="1943100"/>
            <a:ext cx="411480" cy="411480"/>
          </a:xfrm>
          <a:prstGeom prst="rect">
            <a:avLst/>
          </a:prstGeom>
        </p:spPr>
      </p:pic>
      <p:sp>
        <p:nvSpPr>
          <p:cNvPr id="17" name="Text 14"/>
          <p:cNvSpPr txBox="1"/>
          <p:nvPr/>
        </p:nvSpPr>
        <p:spPr>
          <a:xfrm>
            <a:off x="548640" y="2606040"/>
            <a:ext cx="1554480" cy="320040"/>
          </a:xfrm>
          <a:prstGeom prst="rect">
            <a:avLst/>
          </a:prstGeom>
          <a:noFill/>
          <a:ln/>
        </p:spPr>
        <p:txBody>
          <a:bodyPr wrap="square" lIns="0" tIns="0" rIns="0" bIns="0" rtlCol="0" anchor="t"/>
          <a:lstStyle/>
          <a:p>
            <a:pPr algn="ctr" indent="0" marL="0">
              <a:buNone/>
            </a:pPr>
            <a:r>
              <a:rPr lang="en-US" sz="1300" b="1" dirty="0">
                <a:solidFill>
                  <a:srgbClr val="F58518"/>
                </a:solidFill>
                <a:latin typeface="Segoe UI" pitchFamily="34" charset="0"/>
                <a:ea typeface="Segoe UI" pitchFamily="34" charset="-122"/>
                <a:cs typeface="Segoe UI" pitchFamily="34" charset="-120"/>
              </a:rPr>
              <a:t>Author</a:t>
            </a:r>
            <a:endParaRPr lang="en-US" sz="1300" dirty="0"/>
          </a:p>
        </p:txBody>
      </p:sp>
      <p:sp>
        <p:nvSpPr>
          <p:cNvPr id="18" name="ontology-1-circle"/>
          <p:cNvSpPr/>
          <p:nvPr/>
        </p:nvSpPr>
        <p:spPr>
          <a:xfrm>
            <a:off x="3291840" y="1737360"/>
            <a:ext cx="822960" cy="822960"/>
          </a:xfrm>
          <a:prstGeom prst="ellipse">
            <a:avLst/>
          </a:prstGeom>
          <a:solidFill>
            <a:srgbClr val="4C78A8"/>
          </a:solidFill>
          <a:ln w="12700">
            <a:solidFill>
              <a:srgbClr val="4C78A8"/>
            </a:solidFill>
            <a:prstDash val="solid"/>
          </a:ln>
        </p:spPr>
      </p:sp>
      <p:pic>
        <p:nvPicPr>
          <p:cNvPr id="19" name="ontology-1-icon" descr="preencoded.png">    </p:cNvPr>
          <p:cNvPicPr>
            <a:picLocks noChangeAspect="1"/>
          </p:cNvPicPr>
          <p:nvPr/>
        </p:nvPicPr>
        <p:blipFill>
          <a:blip r:embed="rId2"/>
          <a:stretch>
            <a:fillRect/>
          </a:stretch>
        </p:blipFill>
        <p:spPr>
          <a:xfrm>
            <a:off x="3497580" y="1943100"/>
            <a:ext cx="411480" cy="411480"/>
          </a:xfrm>
          <a:prstGeom prst="rect">
            <a:avLst/>
          </a:prstGeom>
        </p:spPr>
      </p:pic>
      <p:sp>
        <p:nvSpPr>
          <p:cNvPr id="20" name="Text 16"/>
          <p:cNvSpPr txBox="1"/>
          <p:nvPr/>
        </p:nvSpPr>
        <p:spPr>
          <a:xfrm>
            <a:off x="2926080" y="2606040"/>
            <a:ext cx="1554480" cy="320040"/>
          </a:xfrm>
          <a:prstGeom prst="rect">
            <a:avLst/>
          </a:prstGeom>
          <a:noFill/>
          <a:ln/>
        </p:spPr>
        <p:txBody>
          <a:bodyPr wrap="square" lIns="0" tIns="0" rIns="0" bIns="0" rtlCol="0" anchor="t"/>
          <a:lstStyle/>
          <a:p>
            <a:pPr algn="ctr" indent="0" marL="0">
              <a:buNone/>
            </a:pPr>
            <a:r>
              <a:rPr lang="en-US" sz="1300" b="1" dirty="0">
                <a:solidFill>
                  <a:srgbClr val="4C78A8"/>
                </a:solidFill>
                <a:latin typeface="Segoe UI" pitchFamily="34" charset="0"/>
                <a:ea typeface="Segoe UI" pitchFamily="34" charset="-122"/>
                <a:cs typeface="Segoe UI" pitchFamily="34" charset="-120"/>
              </a:rPr>
              <a:t>Paper</a:t>
            </a:r>
            <a:endParaRPr lang="en-US" sz="1300" dirty="0"/>
          </a:p>
        </p:txBody>
      </p:sp>
      <p:sp>
        <p:nvSpPr>
          <p:cNvPr id="21" name="ontology-2-circle"/>
          <p:cNvSpPr/>
          <p:nvPr/>
        </p:nvSpPr>
        <p:spPr>
          <a:xfrm>
            <a:off x="5669280" y="1737360"/>
            <a:ext cx="822960" cy="822960"/>
          </a:xfrm>
          <a:prstGeom prst="ellipse">
            <a:avLst/>
          </a:prstGeom>
          <a:solidFill>
            <a:srgbClr val="9D755D"/>
          </a:solidFill>
          <a:ln w="12700">
            <a:solidFill>
              <a:srgbClr val="9D755D"/>
            </a:solidFill>
            <a:prstDash val="solid"/>
          </a:ln>
        </p:spPr>
      </p:sp>
      <p:pic>
        <p:nvPicPr>
          <p:cNvPr id="22" name="ontology-2-icon" descr="preencoded.png">    </p:cNvPr>
          <p:cNvPicPr>
            <a:picLocks noChangeAspect="1"/>
          </p:cNvPicPr>
          <p:nvPr/>
        </p:nvPicPr>
        <p:blipFill>
          <a:blip r:embed="rId3"/>
          <a:stretch>
            <a:fillRect/>
          </a:stretch>
        </p:blipFill>
        <p:spPr>
          <a:xfrm>
            <a:off x="5875020" y="1943100"/>
            <a:ext cx="411480" cy="411480"/>
          </a:xfrm>
          <a:prstGeom prst="rect">
            <a:avLst/>
          </a:prstGeom>
        </p:spPr>
      </p:pic>
      <p:sp>
        <p:nvSpPr>
          <p:cNvPr id="23" name="Text 18"/>
          <p:cNvSpPr txBox="1"/>
          <p:nvPr/>
        </p:nvSpPr>
        <p:spPr>
          <a:xfrm>
            <a:off x="5303520" y="2606040"/>
            <a:ext cx="1554480" cy="320040"/>
          </a:xfrm>
          <a:prstGeom prst="rect">
            <a:avLst/>
          </a:prstGeom>
          <a:noFill/>
          <a:ln/>
        </p:spPr>
        <p:txBody>
          <a:bodyPr wrap="square" lIns="0" tIns="0" rIns="0" bIns="0" rtlCol="0" anchor="t"/>
          <a:lstStyle/>
          <a:p>
            <a:pPr algn="ctr" indent="0" marL="0">
              <a:buNone/>
            </a:pPr>
            <a:r>
              <a:rPr lang="en-US" sz="1300" b="1" dirty="0">
                <a:solidFill>
                  <a:srgbClr val="9D755D"/>
                </a:solidFill>
                <a:latin typeface="Segoe UI" pitchFamily="34" charset="0"/>
                <a:ea typeface="Segoe UI" pitchFamily="34" charset="-122"/>
                <a:cs typeface="Segoe UI" pitchFamily="34" charset="-120"/>
              </a:rPr>
              <a:t>Venue</a:t>
            </a:r>
            <a:endParaRPr lang="en-US" sz="1300" dirty="0"/>
          </a:p>
        </p:txBody>
      </p:sp>
      <p:sp>
        <p:nvSpPr>
          <p:cNvPr id="24" name="ontology-3-circle"/>
          <p:cNvSpPr/>
          <p:nvPr/>
        </p:nvSpPr>
        <p:spPr>
          <a:xfrm>
            <a:off x="914400" y="3657600"/>
            <a:ext cx="822960" cy="822960"/>
          </a:xfrm>
          <a:prstGeom prst="ellipse">
            <a:avLst/>
          </a:prstGeom>
          <a:solidFill>
            <a:srgbClr val="B279A2"/>
          </a:solidFill>
          <a:ln w="12700">
            <a:solidFill>
              <a:srgbClr val="B279A2"/>
            </a:solidFill>
            <a:prstDash val="solid"/>
          </a:ln>
        </p:spPr>
      </p:sp>
      <p:pic>
        <p:nvPicPr>
          <p:cNvPr id="25" name="ontology-3-icon" descr="preencoded.png">    </p:cNvPr>
          <p:cNvPicPr>
            <a:picLocks noChangeAspect="1"/>
          </p:cNvPicPr>
          <p:nvPr/>
        </p:nvPicPr>
        <p:blipFill>
          <a:blip r:embed="rId4"/>
          <a:stretch>
            <a:fillRect/>
          </a:stretch>
        </p:blipFill>
        <p:spPr>
          <a:xfrm>
            <a:off x="1120140" y="3863340"/>
            <a:ext cx="411480" cy="411480"/>
          </a:xfrm>
          <a:prstGeom prst="rect">
            <a:avLst/>
          </a:prstGeom>
        </p:spPr>
      </p:pic>
      <p:sp>
        <p:nvSpPr>
          <p:cNvPr id="26" name="Text 20"/>
          <p:cNvSpPr txBox="1"/>
          <p:nvPr/>
        </p:nvSpPr>
        <p:spPr>
          <a:xfrm>
            <a:off x="548640" y="4526280"/>
            <a:ext cx="1554480" cy="320040"/>
          </a:xfrm>
          <a:prstGeom prst="rect">
            <a:avLst/>
          </a:prstGeom>
          <a:noFill/>
          <a:ln/>
        </p:spPr>
        <p:txBody>
          <a:bodyPr wrap="square" lIns="0" tIns="0" rIns="0" bIns="0" rtlCol="0" anchor="t"/>
          <a:lstStyle/>
          <a:p>
            <a:pPr algn="ctr" indent="0" marL="0">
              <a:buNone/>
            </a:pPr>
            <a:r>
              <a:rPr lang="en-US" sz="1300" b="1" dirty="0">
                <a:solidFill>
                  <a:srgbClr val="B279A2"/>
                </a:solidFill>
                <a:latin typeface="Segoe UI" pitchFamily="34" charset="0"/>
                <a:ea typeface="Segoe UI" pitchFamily="34" charset="-122"/>
                <a:cs typeface="Segoe UI" pitchFamily="34" charset="-120"/>
              </a:rPr>
              <a:t>Institution</a:t>
            </a:r>
            <a:endParaRPr lang="en-US" sz="1300" dirty="0"/>
          </a:p>
        </p:txBody>
      </p:sp>
      <p:sp>
        <p:nvSpPr>
          <p:cNvPr id="27" name="ontology-4-circle"/>
          <p:cNvSpPr/>
          <p:nvPr/>
        </p:nvSpPr>
        <p:spPr>
          <a:xfrm>
            <a:off x="3291840" y="3657600"/>
            <a:ext cx="822960" cy="822960"/>
          </a:xfrm>
          <a:prstGeom prst="ellipse">
            <a:avLst/>
          </a:prstGeom>
          <a:solidFill>
            <a:srgbClr val="54A24B"/>
          </a:solidFill>
          <a:ln w="12700">
            <a:solidFill>
              <a:srgbClr val="54A24B"/>
            </a:solidFill>
            <a:prstDash val="solid"/>
          </a:ln>
        </p:spPr>
      </p:sp>
      <p:pic>
        <p:nvPicPr>
          <p:cNvPr id="28" name="ontology-4-icon" descr="preencoded.png">    </p:cNvPr>
          <p:cNvPicPr>
            <a:picLocks noChangeAspect="1"/>
          </p:cNvPicPr>
          <p:nvPr/>
        </p:nvPicPr>
        <p:blipFill>
          <a:blip r:embed="rId5"/>
          <a:stretch>
            <a:fillRect/>
          </a:stretch>
        </p:blipFill>
        <p:spPr>
          <a:xfrm>
            <a:off x="3497580" y="3863340"/>
            <a:ext cx="411480" cy="411480"/>
          </a:xfrm>
          <a:prstGeom prst="rect">
            <a:avLst/>
          </a:prstGeom>
        </p:spPr>
      </p:pic>
      <p:sp>
        <p:nvSpPr>
          <p:cNvPr id="29" name="Text 22"/>
          <p:cNvSpPr txBox="1"/>
          <p:nvPr/>
        </p:nvSpPr>
        <p:spPr>
          <a:xfrm>
            <a:off x="2926080" y="4526280"/>
            <a:ext cx="1554480" cy="320040"/>
          </a:xfrm>
          <a:prstGeom prst="rect">
            <a:avLst/>
          </a:prstGeom>
          <a:noFill/>
          <a:ln/>
        </p:spPr>
        <p:txBody>
          <a:bodyPr wrap="square" lIns="0" tIns="0" rIns="0" bIns="0" rtlCol="0" anchor="t"/>
          <a:lstStyle/>
          <a:p>
            <a:pPr algn="ctr" indent="0" marL="0">
              <a:buNone/>
            </a:pPr>
            <a:r>
              <a:rPr lang="en-US" sz="1300" b="1" dirty="0">
                <a:solidFill>
                  <a:srgbClr val="54A24B"/>
                </a:solidFill>
                <a:latin typeface="Segoe UI" pitchFamily="34" charset="0"/>
                <a:ea typeface="Segoe UI" pitchFamily="34" charset="-122"/>
                <a:cs typeface="Segoe UI" pitchFamily="34" charset="-120"/>
              </a:rPr>
              <a:t>Method</a:t>
            </a:r>
            <a:endParaRPr lang="en-US" sz="1300" dirty="0"/>
          </a:p>
        </p:txBody>
      </p:sp>
      <p:sp>
        <p:nvSpPr>
          <p:cNvPr id="30" name="ontology-5-circle"/>
          <p:cNvSpPr/>
          <p:nvPr/>
        </p:nvSpPr>
        <p:spPr>
          <a:xfrm>
            <a:off x="5669280" y="3657600"/>
            <a:ext cx="822960" cy="822960"/>
          </a:xfrm>
          <a:prstGeom prst="ellipse">
            <a:avLst/>
          </a:prstGeom>
          <a:solidFill>
            <a:srgbClr val="EECA3B"/>
          </a:solidFill>
          <a:ln w="12700">
            <a:solidFill>
              <a:srgbClr val="EECA3B"/>
            </a:solidFill>
            <a:prstDash val="solid"/>
          </a:ln>
        </p:spPr>
      </p:sp>
      <p:pic>
        <p:nvPicPr>
          <p:cNvPr id="31" name="ontology-5-icon" descr="preencoded.png">    </p:cNvPr>
          <p:cNvPicPr>
            <a:picLocks noChangeAspect="1"/>
          </p:cNvPicPr>
          <p:nvPr/>
        </p:nvPicPr>
        <p:blipFill>
          <a:blip r:embed="rId6"/>
          <a:stretch>
            <a:fillRect/>
          </a:stretch>
        </p:blipFill>
        <p:spPr>
          <a:xfrm>
            <a:off x="5875020" y="3863340"/>
            <a:ext cx="411480" cy="411480"/>
          </a:xfrm>
          <a:prstGeom prst="rect">
            <a:avLst/>
          </a:prstGeom>
        </p:spPr>
      </p:pic>
      <p:sp>
        <p:nvSpPr>
          <p:cNvPr id="32" name="Text 24"/>
          <p:cNvSpPr txBox="1"/>
          <p:nvPr/>
        </p:nvSpPr>
        <p:spPr>
          <a:xfrm>
            <a:off x="5303520" y="4526280"/>
            <a:ext cx="1554480" cy="320040"/>
          </a:xfrm>
          <a:prstGeom prst="rect">
            <a:avLst/>
          </a:prstGeom>
          <a:noFill/>
          <a:ln/>
        </p:spPr>
        <p:txBody>
          <a:bodyPr wrap="square" lIns="0" tIns="0" rIns="0" bIns="0" rtlCol="0" anchor="t"/>
          <a:lstStyle/>
          <a:p>
            <a:pPr algn="ctr" indent="0" marL="0">
              <a:buNone/>
            </a:pPr>
            <a:r>
              <a:rPr lang="en-US" sz="1300" b="1" dirty="0">
                <a:solidFill>
                  <a:srgbClr val="EECA3B"/>
                </a:solidFill>
                <a:latin typeface="Segoe UI" pitchFamily="34" charset="0"/>
                <a:ea typeface="Segoe UI" pitchFamily="34" charset="-122"/>
                <a:cs typeface="Segoe UI" pitchFamily="34" charset="-120"/>
              </a:rPr>
              <a:t>Task</a:t>
            </a:r>
            <a:endParaRPr lang="en-US" sz="1300" dirty="0"/>
          </a:p>
        </p:txBody>
      </p:sp>
      <p:sp>
        <p:nvSpPr>
          <p:cNvPr id="33" name="ontology-6-circle"/>
          <p:cNvSpPr/>
          <p:nvPr/>
        </p:nvSpPr>
        <p:spPr>
          <a:xfrm>
            <a:off x="5669280" y="5120640"/>
            <a:ext cx="822960" cy="822960"/>
          </a:xfrm>
          <a:prstGeom prst="ellipse">
            <a:avLst/>
          </a:prstGeom>
          <a:solidFill>
            <a:srgbClr val="E45756"/>
          </a:solidFill>
          <a:ln w="12700">
            <a:solidFill>
              <a:srgbClr val="E45756"/>
            </a:solidFill>
            <a:prstDash val="solid"/>
          </a:ln>
        </p:spPr>
      </p:sp>
      <p:pic>
        <p:nvPicPr>
          <p:cNvPr id="34" name="ontology-6-icon" descr="preencoded.png">    </p:cNvPr>
          <p:cNvPicPr>
            <a:picLocks noChangeAspect="1"/>
          </p:cNvPicPr>
          <p:nvPr/>
        </p:nvPicPr>
        <p:blipFill>
          <a:blip r:embed="rId7"/>
          <a:stretch>
            <a:fillRect/>
          </a:stretch>
        </p:blipFill>
        <p:spPr>
          <a:xfrm>
            <a:off x="5875020" y="5326380"/>
            <a:ext cx="411480" cy="411480"/>
          </a:xfrm>
          <a:prstGeom prst="rect">
            <a:avLst/>
          </a:prstGeom>
        </p:spPr>
      </p:pic>
      <p:sp>
        <p:nvSpPr>
          <p:cNvPr id="35" name="Text 26"/>
          <p:cNvSpPr txBox="1"/>
          <p:nvPr/>
        </p:nvSpPr>
        <p:spPr>
          <a:xfrm>
            <a:off x="5303520" y="5989320"/>
            <a:ext cx="1554480" cy="320040"/>
          </a:xfrm>
          <a:prstGeom prst="rect">
            <a:avLst/>
          </a:prstGeom>
          <a:noFill/>
          <a:ln/>
        </p:spPr>
        <p:txBody>
          <a:bodyPr wrap="square" lIns="0" tIns="0" rIns="0" bIns="0" rtlCol="0" anchor="t"/>
          <a:lstStyle/>
          <a:p>
            <a:pPr algn="ctr" indent="0" marL="0">
              <a:buNone/>
            </a:pPr>
            <a:r>
              <a:rPr lang="en-US" sz="1300" b="1" dirty="0">
                <a:solidFill>
                  <a:srgbClr val="E45756"/>
                </a:solidFill>
                <a:latin typeface="Segoe UI" pitchFamily="34" charset="0"/>
                <a:ea typeface="Segoe UI" pitchFamily="34" charset="-122"/>
                <a:cs typeface="Segoe UI" pitchFamily="34" charset="-120"/>
              </a:rPr>
              <a:t>Dataset</a:t>
            </a:r>
            <a:endParaRPr lang="en-US" sz="1300" dirty="0"/>
          </a:p>
        </p:txBody>
      </p:sp>
      <p:sp>
        <p:nvSpPr>
          <p:cNvPr id="36" name="graph-stats"/>
          <p:cNvSpPr/>
          <p:nvPr/>
        </p:nvSpPr>
        <p:spPr>
          <a:xfrm>
            <a:off x="7315200" y="1463040"/>
            <a:ext cx="4343400" cy="4663440"/>
          </a:xfrm>
          <a:prstGeom prst="roundRect">
            <a:avLst>
              <a:gd name="adj" fmla="val 2526"/>
            </a:avLst>
          </a:prstGeom>
          <a:solidFill>
            <a:srgbClr val="1D2128"/>
          </a:solidFill>
          <a:ln w="12700">
            <a:solidFill>
              <a:srgbClr val="2E343E"/>
            </a:solidFill>
            <a:prstDash val="solid"/>
          </a:ln>
        </p:spPr>
      </p:sp>
      <p:sp>
        <p:nvSpPr>
          <p:cNvPr id="37" name="Text 28"/>
          <p:cNvSpPr txBox="1"/>
          <p:nvPr/>
        </p:nvSpPr>
        <p:spPr>
          <a:xfrm>
            <a:off x="7635240" y="1691640"/>
            <a:ext cx="3749040" cy="731520"/>
          </a:xfrm>
          <a:prstGeom prst="rect">
            <a:avLst/>
          </a:prstGeom>
          <a:noFill/>
          <a:ln/>
        </p:spPr>
        <p:txBody>
          <a:bodyPr wrap="square" lIns="0" tIns="0" rIns="0" bIns="0" rtlCol="0" anchor="t"/>
          <a:lstStyle/>
          <a:p>
            <a:pPr indent="0" marL="0">
              <a:buNone/>
            </a:pPr>
            <a:r>
              <a:rPr lang="en-US" sz="4000" b="1" dirty="0">
                <a:solidFill>
                  <a:srgbClr val="6B9CF0"/>
                </a:solidFill>
                <a:latin typeface="Segoe UI Semibold" pitchFamily="34" charset="0"/>
                <a:ea typeface="Segoe UI Semibold" pitchFamily="34" charset="-122"/>
                <a:cs typeface="Segoe UI Semibold" pitchFamily="34" charset="-120"/>
              </a:rPr>
              <a:t>29,320</a:t>
            </a:r>
            <a:endParaRPr lang="en-US" sz="4000" dirty="0"/>
          </a:p>
        </p:txBody>
      </p:sp>
      <p:sp>
        <p:nvSpPr>
          <p:cNvPr id="38" name="Text 29"/>
          <p:cNvSpPr txBox="1"/>
          <p:nvPr/>
        </p:nvSpPr>
        <p:spPr>
          <a:xfrm>
            <a:off x="7635240" y="2441448"/>
            <a:ext cx="37490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nodes</a:t>
            </a:r>
            <a:endParaRPr lang="en-US" sz="1400" dirty="0"/>
          </a:p>
        </p:txBody>
      </p:sp>
      <p:sp>
        <p:nvSpPr>
          <p:cNvPr id="39" name="Text 30"/>
          <p:cNvSpPr txBox="1"/>
          <p:nvPr/>
        </p:nvSpPr>
        <p:spPr>
          <a:xfrm>
            <a:off x="7635240" y="3017520"/>
            <a:ext cx="3749040" cy="731520"/>
          </a:xfrm>
          <a:prstGeom prst="rect">
            <a:avLst/>
          </a:prstGeom>
          <a:noFill/>
          <a:ln/>
        </p:spPr>
        <p:txBody>
          <a:bodyPr wrap="square" lIns="0" tIns="0" rIns="0" bIns="0" rtlCol="0" anchor="t"/>
          <a:lstStyle/>
          <a:p>
            <a:pPr indent="0" marL="0">
              <a:buNone/>
            </a:pPr>
            <a:r>
              <a:rPr lang="en-US" sz="4000" b="1" dirty="0">
                <a:solidFill>
                  <a:srgbClr val="6B9CF0"/>
                </a:solidFill>
                <a:latin typeface="Segoe UI Semibold" pitchFamily="34" charset="0"/>
                <a:ea typeface="Segoe UI Semibold" pitchFamily="34" charset="-122"/>
                <a:cs typeface="Segoe UI Semibold" pitchFamily="34" charset="-120"/>
              </a:rPr>
              <a:t>42,015</a:t>
            </a:r>
            <a:endParaRPr lang="en-US" sz="4000" dirty="0"/>
          </a:p>
        </p:txBody>
      </p:sp>
      <p:sp>
        <p:nvSpPr>
          <p:cNvPr id="40" name="Text 31"/>
          <p:cNvSpPr txBox="1"/>
          <p:nvPr/>
        </p:nvSpPr>
        <p:spPr>
          <a:xfrm>
            <a:off x="7635240" y="3767328"/>
            <a:ext cx="37490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relationships</a:t>
            </a:r>
            <a:endParaRPr lang="en-US" sz="1400" dirty="0"/>
          </a:p>
        </p:txBody>
      </p:sp>
      <p:sp>
        <p:nvSpPr>
          <p:cNvPr id="41" name="Text 32"/>
          <p:cNvSpPr txBox="1"/>
          <p:nvPr/>
        </p:nvSpPr>
        <p:spPr>
          <a:xfrm>
            <a:off x="7635240" y="4434840"/>
            <a:ext cx="3840480" cy="1371600"/>
          </a:xfrm>
          <a:prstGeom prst="rect">
            <a:avLst/>
          </a:prstGeom>
          <a:noFill/>
          <a:ln/>
        </p:spPr>
        <p:txBody>
          <a:bodyPr wrap="square" lIns="0" tIns="0" rIns="0" bIns="0" rtlCol="0" anchor="t"/>
          <a:lstStyle/>
          <a:p>
            <a:pPr indent="0" marL="0">
              <a:spcAft>
                <a:spcPts val="600"/>
              </a:spcAft>
              <a:buNone/>
            </a:pPr>
            <a:r>
              <a:rPr lang="en-US" sz="1400" dirty="0">
                <a:solidFill>
                  <a:srgbClr val="9AA3B2"/>
                </a:solidFill>
                <a:latin typeface="Segoe UI" pitchFamily="34" charset="0"/>
                <a:ea typeface="Segoe UI" pitchFamily="34" charset="-122"/>
                <a:cs typeface="Segoe UI" pitchFamily="34" charset="-120"/>
              </a:rPr>
              <a:t>20,746 papers · 1,674 authors · 553 institutions</a:t>
            </a:r>
            <a:endParaRPr lang="en-US" sz="1400" dirty="0"/>
          </a:p>
          <a:p>
            <a:pPr indent="0" marL="0">
              <a:spcAft>
                <a:spcPts val="600"/>
              </a:spcAft>
              <a:buNone/>
            </a:pPr>
            <a:r>
              <a:rPr lang="en-US" sz="1400" dirty="0">
                <a:solidFill>
                  <a:srgbClr val="9AA3B2"/>
                </a:solidFill>
                <a:latin typeface="Segoe UI" pitchFamily="34" charset="0"/>
                <a:ea typeface="Segoe UI" pitchFamily="34" charset="-122"/>
                <a:cs typeface="Segoe UI" pitchFamily="34" charset="-120"/>
              </a:rPr>
              <a:t>2,416 methods · 1,727 tasks · 779 datasets · 262 metrics</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How GraphRAG answers a question</a:t>
            </a:r>
            <a:endParaRPr lang="en-US" sz="3200" dirty="0"/>
          </a:p>
        </p:txBody>
      </p:sp>
      <p:sp>
        <p:nvSpPr>
          <p:cNvPr id="3" name="rag-0-circle"/>
          <p:cNvSpPr/>
          <p:nvPr/>
        </p:nvSpPr>
        <p:spPr>
          <a:xfrm>
            <a:off x="640080" y="1417320"/>
            <a:ext cx="777240" cy="777240"/>
          </a:xfrm>
          <a:prstGeom prst="ellipse">
            <a:avLst/>
          </a:prstGeom>
          <a:solidFill>
            <a:srgbClr val="4C78A8"/>
          </a:solidFill>
          <a:ln w="12700">
            <a:solidFill>
              <a:srgbClr val="4C78A8"/>
            </a:solidFill>
            <a:prstDash val="solid"/>
          </a:ln>
        </p:spPr>
      </p:sp>
      <p:pic>
        <p:nvPicPr>
          <p:cNvPr id="4" name="rag-0-icon" descr="preencoded.png">    </p:cNvPr>
          <p:cNvPicPr>
            <a:picLocks noChangeAspect="1"/>
          </p:cNvPicPr>
          <p:nvPr/>
        </p:nvPicPr>
        <p:blipFill>
          <a:blip r:embed="rId1"/>
          <a:stretch>
            <a:fillRect/>
          </a:stretch>
        </p:blipFill>
        <p:spPr>
          <a:xfrm>
            <a:off x="834390" y="1611630"/>
            <a:ext cx="388620" cy="388620"/>
          </a:xfrm>
          <a:prstGeom prst="rect">
            <a:avLst/>
          </a:prstGeom>
        </p:spPr>
      </p:pic>
      <p:sp>
        <p:nvSpPr>
          <p:cNvPr id="5" name="Text 2"/>
          <p:cNvSpPr txBox="1"/>
          <p:nvPr/>
        </p:nvSpPr>
        <p:spPr>
          <a:xfrm>
            <a:off x="1645920" y="1435608"/>
            <a:ext cx="4937760" cy="41148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1. Link entities</a:t>
            </a:r>
            <a:endParaRPr lang="en-US" sz="1900" dirty="0"/>
          </a:p>
        </p:txBody>
      </p:sp>
      <p:sp>
        <p:nvSpPr>
          <p:cNvPr id="6" name="Text 3"/>
          <p:cNvSpPr txBox="1"/>
          <p:nvPr/>
        </p:nvSpPr>
        <p:spPr>
          <a:xfrm>
            <a:off x="1645920" y="1874520"/>
            <a:ext cx="4937760" cy="4572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Match words in the question to graph nodes</a:t>
            </a:r>
            <a:endParaRPr lang="en-US" sz="1500" dirty="0"/>
          </a:p>
        </p:txBody>
      </p:sp>
      <p:sp>
        <p:nvSpPr>
          <p:cNvPr id="7" name="rag-1-circle"/>
          <p:cNvSpPr/>
          <p:nvPr/>
        </p:nvSpPr>
        <p:spPr>
          <a:xfrm>
            <a:off x="640080" y="2606040"/>
            <a:ext cx="777240" cy="777240"/>
          </a:xfrm>
          <a:prstGeom prst="ellipse">
            <a:avLst/>
          </a:prstGeom>
          <a:solidFill>
            <a:srgbClr val="54A24B"/>
          </a:solidFill>
          <a:ln w="12700">
            <a:solidFill>
              <a:srgbClr val="54A24B"/>
            </a:solidFill>
            <a:prstDash val="solid"/>
          </a:ln>
        </p:spPr>
      </p:sp>
      <p:pic>
        <p:nvPicPr>
          <p:cNvPr id="8" name="rag-1-icon" descr="preencoded.png">    </p:cNvPr>
          <p:cNvPicPr>
            <a:picLocks noChangeAspect="1"/>
          </p:cNvPicPr>
          <p:nvPr/>
        </p:nvPicPr>
        <p:blipFill>
          <a:blip r:embed="rId2"/>
          <a:stretch>
            <a:fillRect/>
          </a:stretch>
        </p:blipFill>
        <p:spPr>
          <a:xfrm>
            <a:off x="834390" y="2800350"/>
            <a:ext cx="388620" cy="388620"/>
          </a:xfrm>
          <a:prstGeom prst="rect">
            <a:avLst/>
          </a:prstGeom>
        </p:spPr>
      </p:pic>
      <p:sp>
        <p:nvSpPr>
          <p:cNvPr id="9" name="Text 5"/>
          <p:cNvSpPr txBox="1"/>
          <p:nvPr/>
        </p:nvSpPr>
        <p:spPr>
          <a:xfrm>
            <a:off x="1645920" y="2624328"/>
            <a:ext cx="4937760" cy="41148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2. Expand</a:t>
            </a:r>
            <a:endParaRPr lang="en-US" sz="1900" dirty="0"/>
          </a:p>
        </p:txBody>
      </p:sp>
      <p:sp>
        <p:nvSpPr>
          <p:cNvPr id="10" name="Text 6"/>
          <p:cNvSpPr txBox="1"/>
          <p:nvPr/>
        </p:nvSpPr>
        <p:spPr>
          <a:xfrm>
            <a:off x="1645920" y="3063240"/>
            <a:ext cx="4937760" cy="4572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Neighbours plus paths up to 3 hops; 27 queries in parallel</a:t>
            </a:r>
            <a:endParaRPr lang="en-US" sz="1500" dirty="0"/>
          </a:p>
        </p:txBody>
      </p:sp>
      <p:sp>
        <p:nvSpPr>
          <p:cNvPr id="11" name="rag-2-circle"/>
          <p:cNvSpPr/>
          <p:nvPr/>
        </p:nvSpPr>
        <p:spPr>
          <a:xfrm>
            <a:off x="640080" y="3794760"/>
            <a:ext cx="777240" cy="777240"/>
          </a:xfrm>
          <a:prstGeom prst="ellipse">
            <a:avLst/>
          </a:prstGeom>
          <a:solidFill>
            <a:srgbClr val="EECA3B"/>
          </a:solidFill>
          <a:ln w="12700">
            <a:solidFill>
              <a:srgbClr val="EECA3B"/>
            </a:solidFill>
            <a:prstDash val="solid"/>
          </a:ln>
        </p:spPr>
      </p:sp>
      <p:pic>
        <p:nvPicPr>
          <p:cNvPr id="12" name="rag-2-icon" descr="preencoded.png">    </p:cNvPr>
          <p:cNvPicPr>
            <a:picLocks noChangeAspect="1"/>
          </p:cNvPicPr>
          <p:nvPr/>
        </p:nvPicPr>
        <p:blipFill>
          <a:blip r:embed="rId3"/>
          <a:stretch>
            <a:fillRect/>
          </a:stretch>
        </p:blipFill>
        <p:spPr>
          <a:xfrm>
            <a:off x="834390" y="3989070"/>
            <a:ext cx="388620" cy="388620"/>
          </a:xfrm>
          <a:prstGeom prst="rect">
            <a:avLst/>
          </a:prstGeom>
        </p:spPr>
      </p:pic>
      <p:sp>
        <p:nvSpPr>
          <p:cNvPr id="13" name="Text 8"/>
          <p:cNvSpPr txBox="1"/>
          <p:nvPr/>
        </p:nvSpPr>
        <p:spPr>
          <a:xfrm>
            <a:off x="1645920" y="3813048"/>
            <a:ext cx="4937760" cy="41148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3. Rank</a:t>
            </a:r>
            <a:endParaRPr lang="en-US" sz="1900" dirty="0"/>
          </a:p>
        </p:txBody>
      </p:sp>
      <p:sp>
        <p:nvSpPr>
          <p:cNvPr id="14" name="Text 9"/>
          <p:cNvSpPr txBox="1"/>
          <p:nvPr/>
        </p:nvSpPr>
        <p:spPr>
          <a:xfrm>
            <a:off x="1645920" y="4251960"/>
            <a:ext cx="4937760" cy="4572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Score facts by match quality, relation type and question wording</a:t>
            </a:r>
            <a:endParaRPr lang="en-US" sz="1500" dirty="0"/>
          </a:p>
        </p:txBody>
      </p:sp>
      <p:sp>
        <p:nvSpPr>
          <p:cNvPr id="15" name="rag-3-circle"/>
          <p:cNvSpPr/>
          <p:nvPr/>
        </p:nvSpPr>
        <p:spPr>
          <a:xfrm>
            <a:off x="640080" y="4983480"/>
            <a:ext cx="777240" cy="777240"/>
          </a:xfrm>
          <a:prstGeom prst="ellipse">
            <a:avLst/>
          </a:prstGeom>
          <a:solidFill>
            <a:srgbClr val="6B9CF0"/>
          </a:solidFill>
          <a:ln w="12700">
            <a:solidFill>
              <a:srgbClr val="6B9CF0"/>
            </a:solidFill>
            <a:prstDash val="solid"/>
          </a:ln>
        </p:spPr>
      </p:sp>
      <p:pic>
        <p:nvPicPr>
          <p:cNvPr id="16" name="rag-3-icon" descr="preencoded.png">    </p:cNvPr>
          <p:cNvPicPr>
            <a:picLocks noChangeAspect="1"/>
          </p:cNvPicPr>
          <p:nvPr/>
        </p:nvPicPr>
        <p:blipFill>
          <a:blip r:embed="rId4"/>
          <a:stretch>
            <a:fillRect/>
          </a:stretch>
        </p:blipFill>
        <p:spPr>
          <a:xfrm>
            <a:off x="834390" y="5177790"/>
            <a:ext cx="388620" cy="388620"/>
          </a:xfrm>
          <a:prstGeom prst="rect">
            <a:avLst/>
          </a:prstGeom>
        </p:spPr>
      </p:pic>
      <p:sp>
        <p:nvSpPr>
          <p:cNvPr id="17" name="Text 11"/>
          <p:cNvSpPr txBox="1"/>
          <p:nvPr/>
        </p:nvSpPr>
        <p:spPr>
          <a:xfrm>
            <a:off x="1645920" y="5001768"/>
            <a:ext cx="4937760" cy="411480"/>
          </a:xfrm>
          <a:prstGeom prst="rect">
            <a:avLst/>
          </a:prstGeom>
          <a:noFill/>
          <a:ln/>
        </p:spPr>
        <p:txBody>
          <a:bodyPr wrap="square" lIns="0" tIns="0" rIns="0" bIns="0" rtlCol="0" anchor="t"/>
          <a:lstStyle/>
          <a:p>
            <a:pPr indent="0" marL="0">
              <a:buNone/>
            </a:pPr>
            <a:r>
              <a:rPr lang="en-US" sz="1900" b="1" dirty="0">
                <a:solidFill>
                  <a:srgbClr val="E6E9EE"/>
                </a:solidFill>
                <a:latin typeface="Segoe UI Semibold" pitchFamily="34" charset="0"/>
                <a:ea typeface="Segoe UI Semibold" pitchFamily="34" charset="-122"/>
                <a:cs typeface="Segoe UI Semibold" pitchFamily="34" charset="-120"/>
              </a:rPr>
              <a:t>4. Grounded answer</a:t>
            </a:r>
            <a:endParaRPr lang="en-US" sz="1900" dirty="0"/>
          </a:p>
        </p:txBody>
      </p:sp>
      <p:sp>
        <p:nvSpPr>
          <p:cNvPr id="18" name="Text 12"/>
          <p:cNvSpPr txBox="1"/>
          <p:nvPr/>
        </p:nvSpPr>
        <p:spPr>
          <a:xfrm>
            <a:off x="1645920" y="5440680"/>
            <a:ext cx="4937760" cy="45720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Top 30 facts only; every statement cites [doc:id]</a:t>
            </a:r>
            <a:endParaRPr lang="en-US" sz="1500" dirty="0"/>
          </a:p>
        </p:txBody>
      </p:sp>
      <p:sp>
        <p:nvSpPr>
          <p:cNvPr id="19" name="rag-example"/>
          <p:cNvSpPr/>
          <p:nvPr/>
        </p:nvSpPr>
        <p:spPr>
          <a:xfrm>
            <a:off x="6949440" y="1463040"/>
            <a:ext cx="4709160" cy="4663440"/>
          </a:xfrm>
          <a:prstGeom prst="roundRect">
            <a:avLst>
              <a:gd name="adj" fmla="val 2353"/>
            </a:avLst>
          </a:prstGeom>
          <a:solidFill>
            <a:srgbClr val="232832"/>
          </a:solidFill>
          <a:ln w="12700">
            <a:solidFill>
              <a:srgbClr val="2E343E"/>
            </a:solidFill>
            <a:prstDash val="solid"/>
          </a:ln>
        </p:spPr>
      </p:sp>
      <p:sp>
        <p:nvSpPr>
          <p:cNvPr id="20" name="Text 14"/>
          <p:cNvSpPr txBox="1"/>
          <p:nvPr/>
        </p:nvSpPr>
        <p:spPr>
          <a:xfrm>
            <a:off x="7269480" y="1691640"/>
            <a:ext cx="4114800" cy="365760"/>
          </a:xfrm>
          <a:prstGeom prst="rect">
            <a:avLst/>
          </a:prstGeom>
          <a:noFill/>
          <a:ln/>
        </p:spPr>
        <p:txBody>
          <a:bodyPr wrap="square" lIns="0" tIns="0" rIns="0" bIns="0" rtlCol="0" anchor="t"/>
          <a:lstStyle/>
          <a:p>
            <a:pPr indent="0" marL="0">
              <a:buNone/>
            </a:pPr>
            <a:r>
              <a:rPr lang="en-US" sz="1400" b="1" dirty="0">
                <a:solidFill>
                  <a:srgbClr val="9AA3B2"/>
                </a:solidFill>
                <a:latin typeface="Segoe UI" pitchFamily="34" charset="0"/>
                <a:ea typeface="Segoe UI" pitchFamily="34" charset="-122"/>
                <a:cs typeface="Segoe UI" pitchFamily="34" charset="-120"/>
              </a:rPr>
              <a:t>Example</a:t>
            </a:r>
            <a:endParaRPr lang="en-US" sz="1400" dirty="0"/>
          </a:p>
        </p:txBody>
      </p:sp>
      <p:sp>
        <p:nvSpPr>
          <p:cNvPr id="21" name="Text 15"/>
          <p:cNvSpPr txBox="1"/>
          <p:nvPr/>
        </p:nvSpPr>
        <p:spPr>
          <a:xfrm>
            <a:off x="7269480" y="2103120"/>
            <a:ext cx="4114800" cy="73152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“Which methods are used for link prediction?”</a:t>
            </a:r>
            <a:endParaRPr lang="en-US" sz="1800" dirty="0"/>
          </a:p>
        </p:txBody>
      </p:sp>
      <p:sp>
        <p:nvSpPr>
          <p:cNvPr id="22" name="Text 16"/>
          <p:cNvSpPr txBox="1"/>
          <p:nvPr/>
        </p:nvSpPr>
        <p:spPr>
          <a:xfrm>
            <a:off x="7269480" y="3017520"/>
            <a:ext cx="4114800" cy="29260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Knowledge Graph Embedding: used for link prediction [W3120491054]</a:t>
            </a:r>
            <a:endParaRPr lang="en-US" sz="1500" dirty="0"/>
          </a:p>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Inductive knowledge-embedding model: applied to KG link prediction [W3151929433]</a:t>
            </a:r>
            <a:endParaRPr lang="en-US" sz="1500" dirty="0"/>
          </a:p>
          <a:p>
            <a:pPr marL="228600" indent="-228600">
              <a:spcAft>
                <a:spcPts val="800"/>
              </a:spcAft>
              <a:buSzPct val="100000"/>
              <a:buChar char="•"/>
            </a:pPr>
            <a:r>
              <a:rPr lang="en-US" sz="1500" dirty="0">
                <a:solidFill>
                  <a:srgbClr val="E6E9EE"/>
                </a:solidFill>
                <a:latin typeface="Segoe UI" pitchFamily="34" charset="0"/>
                <a:ea typeface="Segoe UI" pitchFamily="34" charset="-122"/>
                <a:cs typeface="Segoe UI" pitchFamily="34" charset="-120"/>
              </a:rPr>
              <a:t>If no LLM answers within 22 s, the cited facts are returned instead</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Hallucination: 0% with the graph, 62.5% without</a:t>
            </a:r>
            <a:endParaRPr lang="en-US" sz="3200" dirty="0"/>
          </a:p>
        </p:txBody>
      </p:sp>
      <p:sp>
        <p:nvSpPr>
          <p:cNvPr id="3" name="hall-graph"/>
          <p:cNvSpPr/>
          <p:nvPr/>
        </p:nvSpPr>
        <p:spPr>
          <a:xfrm>
            <a:off x="548640" y="1463040"/>
            <a:ext cx="3291840" cy="2194560"/>
          </a:xfrm>
          <a:prstGeom prst="roundRect">
            <a:avLst>
              <a:gd name="adj" fmla="val 5000"/>
            </a:avLst>
          </a:prstGeom>
          <a:solidFill>
            <a:srgbClr val="1D2128"/>
          </a:solidFill>
          <a:ln w="12700">
            <a:solidFill>
              <a:srgbClr val="2E343E"/>
            </a:solidFill>
            <a:prstDash val="solid"/>
          </a:ln>
        </p:spPr>
      </p:sp>
      <p:sp>
        <p:nvSpPr>
          <p:cNvPr id="4" name="Text 2"/>
          <p:cNvSpPr txBox="1"/>
          <p:nvPr/>
        </p:nvSpPr>
        <p:spPr>
          <a:xfrm>
            <a:off x="868680" y="1691640"/>
            <a:ext cx="2743200" cy="731520"/>
          </a:xfrm>
          <a:prstGeom prst="rect">
            <a:avLst/>
          </a:prstGeom>
          <a:noFill/>
          <a:ln/>
        </p:spPr>
        <p:txBody>
          <a:bodyPr wrap="square" lIns="0" tIns="0" rIns="0" bIns="0" rtlCol="0" anchor="t"/>
          <a:lstStyle/>
          <a:p>
            <a:pPr indent="0" marL="0">
              <a:buNone/>
            </a:pPr>
            <a:r>
              <a:rPr lang="en-US" sz="5400" b="1" dirty="0">
                <a:solidFill>
                  <a:srgbClr val="5CC98A"/>
                </a:solidFill>
                <a:latin typeface="Segoe UI Semibold" pitchFamily="34" charset="0"/>
                <a:ea typeface="Segoe UI Semibold" pitchFamily="34" charset="-122"/>
                <a:cs typeface="Segoe UI Semibold" pitchFamily="34" charset="-120"/>
              </a:rPr>
              <a:t>0%</a:t>
            </a:r>
            <a:endParaRPr lang="en-US" sz="5400" dirty="0"/>
          </a:p>
        </p:txBody>
      </p:sp>
      <p:sp>
        <p:nvSpPr>
          <p:cNvPr id="5" name="Text 3"/>
          <p:cNvSpPr txBox="1"/>
          <p:nvPr/>
        </p:nvSpPr>
        <p:spPr>
          <a:xfrm>
            <a:off x="868680" y="2441448"/>
            <a:ext cx="274320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hallucinated answers with GraphRAG</a:t>
            </a:r>
            <a:endParaRPr lang="en-US" sz="1400" dirty="0"/>
          </a:p>
        </p:txBody>
      </p:sp>
      <p:sp>
        <p:nvSpPr>
          <p:cNvPr id="6" name="hall-llm"/>
          <p:cNvSpPr/>
          <p:nvPr/>
        </p:nvSpPr>
        <p:spPr>
          <a:xfrm>
            <a:off x="548640" y="3886200"/>
            <a:ext cx="3291840" cy="2194560"/>
          </a:xfrm>
          <a:prstGeom prst="roundRect">
            <a:avLst>
              <a:gd name="adj" fmla="val 5000"/>
            </a:avLst>
          </a:prstGeom>
          <a:solidFill>
            <a:srgbClr val="1D2128"/>
          </a:solidFill>
          <a:ln w="12700">
            <a:solidFill>
              <a:srgbClr val="2E343E"/>
            </a:solidFill>
            <a:prstDash val="solid"/>
          </a:ln>
        </p:spPr>
      </p:sp>
      <p:sp>
        <p:nvSpPr>
          <p:cNvPr id="7" name="Text 5"/>
          <p:cNvSpPr txBox="1"/>
          <p:nvPr/>
        </p:nvSpPr>
        <p:spPr>
          <a:xfrm>
            <a:off x="868680" y="4114800"/>
            <a:ext cx="2743200" cy="731520"/>
          </a:xfrm>
          <a:prstGeom prst="rect">
            <a:avLst/>
          </a:prstGeom>
          <a:noFill/>
          <a:ln/>
        </p:spPr>
        <p:txBody>
          <a:bodyPr wrap="square" lIns="0" tIns="0" rIns="0" bIns="0" rtlCol="0" anchor="t"/>
          <a:lstStyle/>
          <a:p>
            <a:pPr indent="0" marL="0">
              <a:buNone/>
            </a:pPr>
            <a:r>
              <a:rPr lang="en-US" sz="5400" b="1" dirty="0">
                <a:solidFill>
                  <a:srgbClr val="F08075"/>
                </a:solidFill>
                <a:latin typeface="Segoe UI Semibold" pitchFamily="34" charset="0"/>
                <a:ea typeface="Segoe UI Semibold" pitchFamily="34" charset="-122"/>
                <a:cs typeface="Segoe UI Semibold" pitchFamily="34" charset="-120"/>
              </a:rPr>
              <a:t>62.5%</a:t>
            </a:r>
            <a:endParaRPr lang="en-US" sz="5400" dirty="0"/>
          </a:p>
        </p:txBody>
      </p:sp>
      <p:sp>
        <p:nvSpPr>
          <p:cNvPr id="8" name="Text 6"/>
          <p:cNvSpPr txBox="1"/>
          <p:nvPr/>
        </p:nvSpPr>
        <p:spPr>
          <a:xfrm>
            <a:off x="868680" y="4864608"/>
            <a:ext cx="274320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same LLM without the graph</a:t>
            </a:r>
            <a:endParaRPr lang="en-US" sz="1400" dirty="0"/>
          </a:p>
        </p:txBody>
      </p:sp>
      <p:graphicFrame>
        <p:nvGraphicFramePr>
          <p:cNvPr id="9" name="hallucination-chart" descr=""/>
          <p:cNvGraphicFramePr/>
          <p:nvPr/>
        </p:nvGraphicFramePr>
        <p:xfrm>
          <a:off x="4206240" y="137160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Dashboard: Ask</a:t>
            </a:r>
            <a:endParaRPr lang="en-US" sz="3200" dirty="0"/>
          </a:p>
        </p:txBody>
      </p:sp>
      <p:pic>
        <p:nvPicPr>
          <p:cNvPr id="3" name="ask-screenshot" descr="C:\Users\dell\AppData\Local\Temp\claude\c--Users-dell-kg-team-repo\8863a82a-6178-4951-84c1-f342b336f3d8\scratchpad\report\img\03_ask.png">    </p:cNvPr>
          <p:cNvPicPr>
            <a:picLocks noChangeAspect="1"/>
          </p:cNvPicPr>
          <p:nvPr/>
        </p:nvPicPr>
        <p:blipFill>
          <a:blip r:embed="rId1"/>
          <a:stretch>
            <a:fillRect/>
          </a:stretch>
        </p:blipFill>
        <p:spPr>
          <a:xfrm>
            <a:off x="548640" y="1325880"/>
            <a:ext cx="7863840" cy="4914900"/>
          </a:xfrm>
          <a:prstGeom prst="rect">
            <a:avLst/>
          </a:prstGeom>
        </p:spPr>
      </p:pic>
      <p:sp>
        <p:nvSpPr>
          <p:cNvPr id="4" name="ask-dot-0"/>
          <p:cNvSpPr/>
          <p:nvPr/>
        </p:nvSpPr>
        <p:spPr>
          <a:xfrm>
            <a:off x="8778240" y="1508760"/>
            <a:ext cx="320040" cy="320040"/>
          </a:xfrm>
          <a:prstGeom prst="ellipse">
            <a:avLst/>
          </a:prstGeom>
          <a:solidFill>
            <a:srgbClr val="6B9CF0"/>
          </a:solidFill>
          <a:ln w="12700">
            <a:solidFill>
              <a:srgbClr val="6B9CF0"/>
            </a:solidFill>
            <a:prstDash val="solid"/>
          </a:ln>
        </p:spPr>
      </p:sp>
      <p:sp>
        <p:nvSpPr>
          <p:cNvPr id="5" name="Text 2"/>
          <p:cNvSpPr txBox="1"/>
          <p:nvPr/>
        </p:nvSpPr>
        <p:spPr>
          <a:xfrm>
            <a:off x="9281160" y="1463040"/>
            <a:ext cx="2468880" cy="411480"/>
          </a:xfrm>
          <a:prstGeom prst="rect">
            <a:avLst/>
          </a:prstGeom>
          <a:noFill/>
          <a:ln/>
        </p:spPr>
        <p:txBody>
          <a:bodyPr wrap="square" lIns="0" tIns="0" rIns="0" bIns="0" rtlCol="0" anchor="t"/>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Plain-English question</a:t>
            </a:r>
            <a:endParaRPr lang="en-US" sz="1700" dirty="0"/>
          </a:p>
        </p:txBody>
      </p:sp>
      <p:sp>
        <p:nvSpPr>
          <p:cNvPr id="6" name="Text 3"/>
          <p:cNvSpPr txBox="1"/>
          <p:nvPr/>
        </p:nvSpPr>
        <p:spPr>
          <a:xfrm>
            <a:off x="9281160" y="1920240"/>
            <a:ext cx="246888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Typed like a search box</a:t>
            </a:r>
            <a:endParaRPr lang="en-US" sz="1400" dirty="0"/>
          </a:p>
        </p:txBody>
      </p:sp>
      <p:sp>
        <p:nvSpPr>
          <p:cNvPr id="7" name="ask-dot-1"/>
          <p:cNvSpPr/>
          <p:nvPr/>
        </p:nvSpPr>
        <p:spPr>
          <a:xfrm>
            <a:off x="8778240" y="3108960"/>
            <a:ext cx="320040" cy="320040"/>
          </a:xfrm>
          <a:prstGeom prst="ellipse">
            <a:avLst/>
          </a:prstGeom>
          <a:solidFill>
            <a:srgbClr val="54A24B"/>
          </a:solidFill>
          <a:ln w="12700">
            <a:solidFill>
              <a:srgbClr val="54A24B"/>
            </a:solidFill>
            <a:prstDash val="solid"/>
          </a:ln>
        </p:spPr>
      </p:sp>
      <p:sp>
        <p:nvSpPr>
          <p:cNvPr id="8" name="Text 5"/>
          <p:cNvSpPr txBox="1"/>
          <p:nvPr/>
        </p:nvSpPr>
        <p:spPr>
          <a:xfrm>
            <a:off x="9281160" y="3063240"/>
            <a:ext cx="2468880" cy="411480"/>
          </a:xfrm>
          <a:prstGeom prst="rect">
            <a:avLst/>
          </a:prstGeom>
          <a:noFill/>
          <a:ln/>
        </p:spPr>
        <p:txBody>
          <a:bodyPr wrap="square" lIns="0" tIns="0" rIns="0" bIns="0" rtlCol="0" anchor="t"/>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Cited answer</a:t>
            </a:r>
            <a:endParaRPr lang="en-US" sz="1700" dirty="0"/>
          </a:p>
        </p:txBody>
      </p:sp>
      <p:sp>
        <p:nvSpPr>
          <p:cNvPr id="9" name="Text 6"/>
          <p:cNvSpPr txBox="1"/>
          <p:nvPr/>
        </p:nvSpPr>
        <p:spPr>
          <a:xfrm>
            <a:off x="9281160" y="3520440"/>
            <a:ext cx="246888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Each line links to its source paper</a:t>
            </a:r>
            <a:endParaRPr lang="en-US" sz="1400" dirty="0"/>
          </a:p>
        </p:txBody>
      </p:sp>
      <p:sp>
        <p:nvSpPr>
          <p:cNvPr id="10" name="ask-dot-2"/>
          <p:cNvSpPr/>
          <p:nvPr/>
        </p:nvSpPr>
        <p:spPr>
          <a:xfrm>
            <a:off x="8778240" y="4709160"/>
            <a:ext cx="320040" cy="320040"/>
          </a:xfrm>
          <a:prstGeom prst="ellipse">
            <a:avLst/>
          </a:prstGeom>
          <a:solidFill>
            <a:srgbClr val="EECA3B"/>
          </a:solidFill>
          <a:ln w="12700">
            <a:solidFill>
              <a:srgbClr val="EECA3B"/>
            </a:solidFill>
            <a:prstDash val="solid"/>
          </a:ln>
        </p:spPr>
      </p:sp>
      <p:sp>
        <p:nvSpPr>
          <p:cNvPr id="11" name="Text 8"/>
          <p:cNvSpPr txBox="1"/>
          <p:nvPr/>
        </p:nvSpPr>
        <p:spPr>
          <a:xfrm>
            <a:off x="9281160" y="4663440"/>
            <a:ext cx="2468880" cy="411480"/>
          </a:xfrm>
          <a:prstGeom prst="rect">
            <a:avLst/>
          </a:prstGeom>
          <a:noFill/>
          <a:ln/>
        </p:spPr>
        <p:txBody>
          <a:bodyPr wrap="square" lIns="0" tIns="0" rIns="0" bIns="0" rtlCol="0" anchor="t"/>
          <a:lstStyle/>
          <a:p>
            <a:pPr indent="0" marL="0">
              <a:buNone/>
            </a:pPr>
            <a:r>
              <a:rPr lang="en-US" sz="1700" b="1" dirty="0">
                <a:solidFill>
                  <a:srgbClr val="E6E9EE"/>
                </a:solidFill>
                <a:latin typeface="Segoe UI Semibold" pitchFamily="34" charset="0"/>
                <a:ea typeface="Segoe UI Semibold" pitchFamily="34" charset="-122"/>
                <a:cs typeface="Segoe UI Semibold" pitchFamily="34" charset="-120"/>
              </a:rPr>
              <a:t>Retrieved facts</a:t>
            </a:r>
            <a:endParaRPr lang="en-US" sz="1700" dirty="0"/>
          </a:p>
        </p:txBody>
      </p:sp>
      <p:sp>
        <p:nvSpPr>
          <p:cNvPr id="12" name="Text 9"/>
          <p:cNvSpPr txBox="1"/>
          <p:nvPr/>
        </p:nvSpPr>
        <p:spPr>
          <a:xfrm>
            <a:off x="9281160" y="5120640"/>
            <a:ext cx="246888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The graph used for the answer is shown in the centre</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Explore and Connect: multi-hop discovery</a:t>
            </a:r>
            <a:endParaRPr lang="en-US" sz="3200" dirty="0"/>
          </a:p>
        </p:txBody>
      </p:sp>
      <p:pic>
        <p:nvPicPr>
          <p:cNvPr id="3" name="explore-screenshot" descr="C:\Users\dell\AppData\Local\Temp\claude\c--Users-dell-kg-team-repo\8863a82a-6178-4951-84c1-f342b336f3d8\scratchpad\deck\img\explore.png">    </p:cNvPr>
          <p:cNvPicPr>
            <a:picLocks noChangeAspect="1"/>
          </p:cNvPicPr>
          <p:nvPr/>
        </p:nvPicPr>
        <p:blipFill>
          <a:blip r:embed="rId1"/>
          <a:stretch>
            <a:fillRect/>
          </a:stretch>
        </p:blipFill>
        <p:spPr>
          <a:xfrm>
            <a:off x="822960" y="1325880"/>
            <a:ext cx="4572000" cy="4983480"/>
          </a:xfrm>
          <a:prstGeom prst="rect">
            <a:avLst/>
          </a:prstGeom>
        </p:spPr>
      </p:pic>
      <p:pic>
        <p:nvPicPr>
          <p:cNvPr id="4" name="connect-screenshot" descr="C:\Users\dell\AppData\Local\Temp\claude\c--Users-dell-kg-team-repo\8863a82a-6178-4951-84c1-f342b336f3d8\scratchpad\report\img\05_connect.png">    </p:cNvPr>
          <p:cNvPicPr>
            <a:picLocks noChangeAspect="1"/>
          </p:cNvPicPr>
          <p:nvPr/>
        </p:nvPicPr>
        <p:blipFill>
          <a:blip r:embed="rId2"/>
          <a:stretch>
            <a:fillRect/>
          </a:stretch>
        </p:blipFill>
        <p:spPr>
          <a:xfrm>
            <a:off x="5852160" y="1325880"/>
            <a:ext cx="3968496" cy="4992624"/>
          </a:xfrm>
          <a:prstGeom prst="rect">
            <a:avLst/>
          </a:prstGeom>
        </p:spPr>
      </p:pic>
      <p:sp>
        <p:nvSpPr>
          <p:cNvPr id="5" name="Text 1"/>
          <p:cNvSpPr txBox="1"/>
          <p:nvPr/>
        </p:nvSpPr>
        <p:spPr>
          <a:xfrm>
            <a:off x="10058400" y="1463040"/>
            <a:ext cx="1737360" cy="2011680"/>
          </a:xfrm>
          <a:prstGeom prst="rect">
            <a:avLst/>
          </a:prstGeom>
          <a:noFill/>
          <a:ln/>
        </p:spPr>
        <p:txBody>
          <a:bodyPr wrap="square" lIns="0" tIns="0" rIns="0" bIns="0" rtlCol="0" anchor="t"/>
          <a:lstStyle/>
          <a:p>
            <a:pPr indent="0" marL="0">
              <a:buNone/>
            </a:pPr>
            <a:r>
              <a:rPr lang="en-US" sz="1400" b="1" dirty="0">
                <a:solidFill>
                  <a:srgbClr val="6B9CF0"/>
                </a:solidFill>
                <a:latin typeface="Segoe UI" pitchFamily="34" charset="0"/>
                <a:ea typeface="Segoe UI" pitchFamily="34" charset="-122"/>
                <a:cs typeface="Segoe UI" pitchFamily="34" charset="-120"/>
              </a:rPr>
              <a:t>Explore</a:t>
            </a:r>
            <a:endParaRPr lang="en-US" sz="1400" dirty="0"/>
          </a:p>
          <a:p>
            <a:pPr indent="0" marL="0">
              <a:buNone/>
            </a:pPr>
            <a:r>
              <a:rPr lang="en-US" sz="1400" dirty="0">
                <a:solidFill>
                  <a:srgbClr val="9AA3B2"/>
                </a:solidFill>
                <a:latin typeface="Segoe UI" pitchFamily="34" charset="0"/>
                <a:ea typeface="Segoe UI" pitchFamily="34" charset="-122"/>
                <a:cs typeface="Segoe UI" pitchFamily="34" charset="-120"/>
              </a:rPr>
              <a:t>the neighbourhood of any entity, here Graph Neural Network</a:t>
            </a:r>
            <a:endParaRPr lang="en-US" sz="1400" dirty="0"/>
          </a:p>
        </p:txBody>
      </p:sp>
      <p:sp>
        <p:nvSpPr>
          <p:cNvPr id="6" name="Text 2"/>
          <p:cNvSpPr txBox="1"/>
          <p:nvPr/>
        </p:nvSpPr>
        <p:spPr>
          <a:xfrm>
            <a:off x="10058400" y="3840480"/>
            <a:ext cx="1737360" cy="2377440"/>
          </a:xfrm>
          <a:prstGeom prst="rect">
            <a:avLst/>
          </a:prstGeom>
          <a:noFill/>
          <a:ln/>
        </p:spPr>
        <p:txBody>
          <a:bodyPr wrap="square" lIns="0" tIns="0" rIns="0" bIns="0" rtlCol="0" anchor="t"/>
          <a:lstStyle/>
          <a:p>
            <a:pPr indent="0" marL="0">
              <a:buNone/>
            </a:pPr>
            <a:r>
              <a:rPr lang="en-US" sz="1400" b="1" dirty="0">
                <a:solidFill>
                  <a:srgbClr val="54A24B"/>
                </a:solidFill>
                <a:latin typeface="Segoe UI" pitchFamily="34" charset="0"/>
                <a:ea typeface="Segoe UI" pitchFamily="34" charset="-122"/>
                <a:cs typeface="Segoe UI" pitchFamily="34" charset="-120"/>
              </a:rPr>
              <a:t>Connect</a:t>
            </a:r>
            <a:endParaRPr lang="en-US" sz="1400" dirty="0"/>
          </a:p>
          <a:p>
            <a:pPr indent="0" marL="0">
              <a:buNone/>
            </a:pPr>
            <a:r>
              <a:rPr lang="en-US" sz="1400" dirty="0">
                <a:solidFill>
                  <a:srgbClr val="9AA3B2"/>
                </a:solidFill>
                <a:latin typeface="Segoe UI" pitchFamily="34" charset="0"/>
                <a:ea typeface="Segoe UI" pitchFamily="34" charset="-122"/>
                <a:cs typeface="Segoe UI" pitchFamily="34" charset="-120"/>
              </a:rPr>
              <a:t>TransE to BERT in 3 hops: a survey using TransE is cited by KG-CF, which uses BERT</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Security and reliability built in</a:t>
            </a:r>
            <a:endParaRPr lang="en-US" sz="3200" dirty="0"/>
          </a:p>
        </p:txBody>
      </p:sp>
      <p:sp>
        <p:nvSpPr>
          <p:cNvPr id="3" name="security-0-circle"/>
          <p:cNvSpPr/>
          <p:nvPr/>
        </p:nvSpPr>
        <p:spPr>
          <a:xfrm>
            <a:off x="548640" y="1508760"/>
            <a:ext cx="731520" cy="731520"/>
          </a:xfrm>
          <a:prstGeom prst="ellipse">
            <a:avLst/>
          </a:prstGeom>
          <a:solidFill>
            <a:srgbClr val="E45756"/>
          </a:solidFill>
          <a:ln w="12700">
            <a:solidFill>
              <a:srgbClr val="E45756"/>
            </a:solidFill>
            <a:prstDash val="solid"/>
          </a:ln>
        </p:spPr>
      </p:sp>
      <p:pic>
        <p:nvPicPr>
          <p:cNvPr id="4" name="security-0-icon" descr="preencoded.png">    </p:cNvPr>
          <p:cNvPicPr>
            <a:picLocks noChangeAspect="1"/>
          </p:cNvPicPr>
          <p:nvPr/>
        </p:nvPicPr>
        <p:blipFill>
          <a:blip r:embed="rId1"/>
          <a:stretch>
            <a:fillRect/>
          </a:stretch>
        </p:blipFill>
        <p:spPr>
          <a:xfrm>
            <a:off x="731520" y="1691640"/>
            <a:ext cx="365760" cy="365760"/>
          </a:xfrm>
          <a:prstGeom prst="rect">
            <a:avLst/>
          </a:prstGeom>
        </p:spPr>
      </p:pic>
      <p:sp>
        <p:nvSpPr>
          <p:cNvPr id="5" name="Text 2"/>
          <p:cNvSpPr txBox="1"/>
          <p:nvPr/>
        </p:nvSpPr>
        <p:spPr>
          <a:xfrm>
            <a:off x="1508760" y="1463040"/>
            <a:ext cx="448056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Authentication</a:t>
            </a:r>
            <a:endParaRPr lang="en-US" sz="1800" dirty="0"/>
          </a:p>
        </p:txBody>
      </p:sp>
      <p:sp>
        <p:nvSpPr>
          <p:cNvPr id="6" name="Text 3"/>
          <p:cNvSpPr txBox="1"/>
          <p:nvPr/>
        </p:nvSpPr>
        <p:spPr>
          <a:xfrm>
            <a:off x="1508760" y="1920240"/>
            <a:ext cx="448056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Cognito sign-in with e-mail verification; every private API call needs a valid JWT</a:t>
            </a:r>
            <a:endParaRPr lang="en-US" sz="1400" dirty="0"/>
          </a:p>
        </p:txBody>
      </p:sp>
      <p:sp>
        <p:nvSpPr>
          <p:cNvPr id="7" name="security-1-circle"/>
          <p:cNvSpPr/>
          <p:nvPr/>
        </p:nvSpPr>
        <p:spPr>
          <a:xfrm>
            <a:off x="6172200" y="1508760"/>
            <a:ext cx="731520" cy="731520"/>
          </a:xfrm>
          <a:prstGeom prst="ellipse">
            <a:avLst/>
          </a:prstGeom>
          <a:solidFill>
            <a:srgbClr val="9D755D"/>
          </a:solidFill>
          <a:ln w="12700">
            <a:solidFill>
              <a:srgbClr val="9D755D"/>
            </a:solidFill>
            <a:prstDash val="solid"/>
          </a:ln>
        </p:spPr>
      </p:sp>
      <p:pic>
        <p:nvPicPr>
          <p:cNvPr id="8" name="security-1-icon" descr="preencoded.png">    </p:cNvPr>
          <p:cNvPicPr>
            <a:picLocks noChangeAspect="1"/>
          </p:cNvPicPr>
          <p:nvPr/>
        </p:nvPicPr>
        <p:blipFill>
          <a:blip r:embed="rId2"/>
          <a:stretch>
            <a:fillRect/>
          </a:stretch>
        </p:blipFill>
        <p:spPr>
          <a:xfrm>
            <a:off x="6355080" y="1691640"/>
            <a:ext cx="365760" cy="365760"/>
          </a:xfrm>
          <a:prstGeom prst="rect">
            <a:avLst/>
          </a:prstGeom>
        </p:spPr>
      </p:pic>
      <p:sp>
        <p:nvSpPr>
          <p:cNvPr id="9" name="Text 5"/>
          <p:cNvSpPr txBox="1"/>
          <p:nvPr/>
        </p:nvSpPr>
        <p:spPr>
          <a:xfrm>
            <a:off x="7132320" y="1463040"/>
            <a:ext cx="448056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Least privilege</a:t>
            </a:r>
            <a:endParaRPr lang="en-US" sz="1800" dirty="0"/>
          </a:p>
        </p:txBody>
      </p:sp>
      <p:sp>
        <p:nvSpPr>
          <p:cNvPr id="10" name="Text 6"/>
          <p:cNvSpPr txBox="1"/>
          <p:nvPr/>
        </p:nvSpPr>
        <p:spPr>
          <a:xfrm>
            <a:off x="7132320" y="1920240"/>
            <a:ext cx="448056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Each Lambda has its own IAM role, scoped to one bucket prefix and one endpoint</a:t>
            </a:r>
            <a:endParaRPr lang="en-US" sz="1400" dirty="0"/>
          </a:p>
        </p:txBody>
      </p:sp>
      <p:sp>
        <p:nvSpPr>
          <p:cNvPr id="11" name="security-2-circle"/>
          <p:cNvSpPr/>
          <p:nvPr/>
        </p:nvSpPr>
        <p:spPr>
          <a:xfrm>
            <a:off x="548640" y="3108960"/>
            <a:ext cx="731520" cy="731520"/>
          </a:xfrm>
          <a:prstGeom prst="ellipse">
            <a:avLst/>
          </a:prstGeom>
          <a:solidFill>
            <a:srgbClr val="54A24B"/>
          </a:solidFill>
          <a:ln w="12700">
            <a:solidFill>
              <a:srgbClr val="54A24B"/>
            </a:solidFill>
            <a:prstDash val="solid"/>
          </a:ln>
        </p:spPr>
      </p:sp>
      <p:pic>
        <p:nvPicPr>
          <p:cNvPr id="12" name="security-2-icon" descr="preencoded.png">    </p:cNvPr>
          <p:cNvPicPr>
            <a:picLocks noChangeAspect="1"/>
          </p:cNvPicPr>
          <p:nvPr/>
        </p:nvPicPr>
        <p:blipFill>
          <a:blip r:embed="rId3"/>
          <a:stretch>
            <a:fillRect/>
          </a:stretch>
        </p:blipFill>
        <p:spPr>
          <a:xfrm>
            <a:off x="731520" y="3291840"/>
            <a:ext cx="365760" cy="365760"/>
          </a:xfrm>
          <a:prstGeom prst="rect">
            <a:avLst/>
          </a:prstGeom>
        </p:spPr>
      </p:pic>
      <p:sp>
        <p:nvSpPr>
          <p:cNvPr id="13" name="Text 8"/>
          <p:cNvSpPr txBox="1"/>
          <p:nvPr/>
        </p:nvSpPr>
        <p:spPr>
          <a:xfrm>
            <a:off x="1508760" y="3063240"/>
            <a:ext cx="448056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Encrypted, private storage</a:t>
            </a:r>
            <a:endParaRPr lang="en-US" sz="1800" dirty="0"/>
          </a:p>
        </p:txBody>
      </p:sp>
      <p:sp>
        <p:nvSpPr>
          <p:cNvPr id="14" name="Text 9"/>
          <p:cNvSpPr txBox="1"/>
          <p:nvPr/>
        </p:nvSpPr>
        <p:spPr>
          <a:xfrm>
            <a:off x="1508760" y="3520440"/>
            <a:ext cx="448056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S3 encryption, public access blocked, short-lived presigned uploads</a:t>
            </a:r>
            <a:endParaRPr lang="en-US" sz="1400" dirty="0"/>
          </a:p>
        </p:txBody>
      </p:sp>
      <p:sp>
        <p:nvSpPr>
          <p:cNvPr id="15" name="security-3-circle"/>
          <p:cNvSpPr/>
          <p:nvPr/>
        </p:nvSpPr>
        <p:spPr>
          <a:xfrm>
            <a:off x="6172200" y="3108960"/>
            <a:ext cx="731520" cy="731520"/>
          </a:xfrm>
          <a:prstGeom prst="ellipse">
            <a:avLst/>
          </a:prstGeom>
          <a:solidFill>
            <a:srgbClr val="EECA3B"/>
          </a:solidFill>
          <a:ln w="12700">
            <a:solidFill>
              <a:srgbClr val="EECA3B"/>
            </a:solidFill>
            <a:prstDash val="solid"/>
          </a:ln>
        </p:spPr>
      </p:sp>
      <p:pic>
        <p:nvPicPr>
          <p:cNvPr id="16" name="security-3-icon" descr="preencoded.png">    </p:cNvPr>
          <p:cNvPicPr>
            <a:picLocks noChangeAspect="1"/>
          </p:cNvPicPr>
          <p:nvPr/>
        </p:nvPicPr>
        <p:blipFill>
          <a:blip r:embed="rId4"/>
          <a:stretch>
            <a:fillRect/>
          </a:stretch>
        </p:blipFill>
        <p:spPr>
          <a:xfrm>
            <a:off x="6355080" y="3291840"/>
            <a:ext cx="365760" cy="365760"/>
          </a:xfrm>
          <a:prstGeom prst="rect">
            <a:avLst/>
          </a:prstGeom>
        </p:spPr>
      </p:pic>
      <p:sp>
        <p:nvSpPr>
          <p:cNvPr id="17" name="Text 11"/>
          <p:cNvSpPr txBox="1"/>
          <p:nvPr/>
        </p:nvSpPr>
        <p:spPr>
          <a:xfrm>
            <a:off x="7132320" y="3063240"/>
            <a:ext cx="448056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Retries and dead-letter queue</a:t>
            </a:r>
            <a:endParaRPr lang="en-US" sz="1800" dirty="0"/>
          </a:p>
        </p:txBody>
      </p:sp>
      <p:sp>
        <p:nvSpPr>
          <p:cNvPr id="18" name="Text 12"/>
          <p:cNvSpPr txBox="1"/>
          <p:nvPr/>
        </p:nvSpPr>
        <p:spPr>
          <a:xfrm>
            <a:off x="7132320" y="3520440"/>
            <a:ext cx="448056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Failed papers are retried, then kept in SQS for 14 days</a:t>
            </a:r>
            <a:endParaRPr lang="en-US" sz="1400" dirty="0"/>
          </a:p>
        </p:txBody>
      </p:sp>
      <p:sp>
        <p:nvSpPr>
          <p:cNvPr id="19" name="security-4-circle"/>
          <p:cNvSpPr/>
          <p:nvPr/>
        </p:nvSpPr>
        <p:spPr>
          <a:xfrm>
            <a:off x="548640" y="4709160"/>
            <a:ext cx="731520" cy="731520"/>
          </a:xfrm>
          <a:prstGeom prst="ellipse">
            <a:avLst/>
          </a:prstGeom>
          <a:solidFill>
            <a:srgbClr val="6B9CF0"/>
          </a:solidFill>
          <a:ln w="12700">
            <a:solidFill>
              <a:srgbClr val="6B9CF0"/>
            </a:solidFill>
            <a:prstDash val="solid"/>
          </a:ln>
        </p:spPr>
      </p:sp>
      <p:pic>
        <p:nvPicPr>
          <p:cNvPr id="20" name="security-4-icon" descr="preencoded.png">    </p:cNvPr>
          <p:cNvPicPr>
            <a:picLocks noChangeAspect="1"/>
          </p:cNvPicPr>
          <p:nvPr/>
        </p:nvPicPr>
        <p:blipFill>
          <a:blip r:embed="rId5"/>
          <a:stretch>
            <a:fillRect/>
          </a:stretch>
        </p:blipFill>
        <p:spPr>
          <a:xfrm>
            <a:off x="731520" y="4892040"/>
            <a:ext cx="365760" cy="365760"/>
          </a:xfrm>
          <a:prstGeom prst="rect">
            <a:avLst/>
          </a:prstGeom>
        </p:spPr>
      </p:pic>
      <p:sp>
        <p:nvSpPr>
          <p:cNvPr id="21" name="Text 14"/>
          <p:cNvSpPr txBox="1"/>
          <p:nvPr/>
        </p:nvSpPr>
        <p:spPr>
          <a:xfrm>
            <a:off x="1508760" y="4663440"/>
            <a:ext cx="448056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LLM failover</a:t>
            </a:r>
            <a:endParaRPr lang="en-US" sz="1800" dirty="0"/>
          </a:p>
        </p:txBody>
      </p:sp>
      <p:sp>
        <p:nvSpPr>
          <p:cNvPr id="22" name="Text 15"/>
          <p:cNvSpPr txBox="1"/>
          <p:nvPr/>
        </p:nvSpPr>
        <p:spPr>
          <a:xfrm>
            <a:off x="1508760" y="5120640"/>
            <a:ext cx="448056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Groq, then Gemini, then cited facts: a question never fails</a:t>
            </a:r>
            <a:endParaRPr lang="en-US" sz="1400" dirty="0"/>
          </a:p>
        </p:txBody>
      </p:sp>
      <p:sp>
        <p:nvSpPr>
          <p:cNvPr id="23" name="security-5-circle"/>
          <p:cNvSpPr/>
          <p:nvPr/>
        </p:nvSpPr>
        <p:spPr>
          <a:xfrm>
            <a:off x="6172200" y="4709160"/>
            <a:ext cx="731520" cy="731520"/>
          </a:xfrm>
          <a:prstGeom prst="ellipse">
            <a:avLst/>
          </a:prstGeom>
          <a:solidFill>
            <a:srgbClr val="B279A2"/>
          </a:solidFill>
          <a:ln w="12700">
            <a:solidFill>
              <a:srgbClr val="B279A2"/>
            </a:solidFill>
            <a:prstDash val="solid"/>
          </a:ln>
        </p:spPr>
      </p:sp>
      <p:pic>
        <p:nvPicPr>
          <p:cNvPr id="24" name="security-5-icon" descr="preencoded.png">    </p:cNvPr>
          <p:cNvPicPr>
            <a:picLocks noChangeAspect="1"/>
          </p:cNvPicPr>
          <p:nvPr/>
        </p:nvPicPr>
        <p:blipFill>
          <a:blip r:embed="rId6"/>
          <a:stretch>
            <a:fillRect/>
          </a:stretch>
        </p:blipFill>
        <p:spPr>
          <a:xfrm>
            <a:off x="6355080" y="4892040"/>
            <a:ext cx="365760" cy="365760"/>
          </a:xfrm>
          <a:prstGeom prst="rect">
            <a:avLst/>
          </a:prstGeom>
        </p:spPr>
      </p:pic>
      <p:sp>
        <p:nvSpPr>
          <p:cNvPr id="25" name="Text 17"/>
          <p:cNvSpPr txBox="1"/>
          <p:nvPr/>
        </p:nvSpPr>
        <p:spPr>
          <a:xfrm>
            <a:off x="7132320" y="4663440"/>
            <a:ext cx="448056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Alarms</a:t>
            </a:r>
            <a:endParaRPr lang="en-US" sz="1800" dirty="0"/>
          </a:p>
        </p:txBody>
      </p:sp>
      <p:sp>
        <p:nvSpPr>
          <p:cNvPr id="26" name="Text 18"/>
          <p:cNvSpPr txBox="1"/>
          <p:nvPr/>
        </p:nvSpPr>
        <p:spPr>
          <a:xfrm>
            <a:off x="7132320" y="5120640"/>
            <a:ext cx="4480560" cy="82296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CloudWatch alarms on errors, e-mailed through SNS; X-Ray tracing</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Testing and performance</a:t>
            </a:r>
            <a:endParaRPr lang="en-US" sz="3200" dirty="0"/>
          </a:p>
        </p:txBody>
      </p:sp>
      <p:sp>
        <p:nvSpPr>
          <p:cNvPr id="3" name="test-card-0"/>
          <p:cNvSpPr/>
          <p:nvPr/>
        </p:nvSpPr>
        <p:spPr>
          <a:xfrm>
            <a:off x="548640" y="1463040"/>
            <a:ext cx="3474720" cy="2103120"/>
          </a:xfrm>
          <a:prstGeom prst="roundRect">
            <a:avLst>
              <a:gd name="adj" fmla="val 5217"/>
            </a:avLst>
          </a:prstGeom>
          <a:solidFill>
            <a:srgbClr val="1D2128"/>
          </a:solidFill>
          <a:ln w="12700">
            <a:solidFill>
              <a:srgbClr val="2E343E"/>
            </a:solidFill>
            <a:prstDash val="solid"/>
          </a:ln>
        </p:spPr>
      </p:sp>
      <p:sp>
        <p:nvSpPr>
          <p:cNvPr id="4" name="Text 2"/>
          <p:cNvSpPr txBox="1"/>
          <p:nvPr/>
        </p:nvSpPr>
        <p:spPr>
          <a:xfrm>
            <a:off x="868680" y="1783080"/>
            <a:ext cx="2834640" cy="731520"/>
          </a:xfrm>
          <a:prstGeom prst="rect">
            <a:avLst/>
          </a:prstGeom>
          <a:noFill/>
          <a:ln/>
        </p:spPr>
        <p:txBody>
          <a:bodyPr wrap="square" lIns="0" tIns="0" rIns="0" bIns="0" rtlCol="0" anchor="t"/>
          <a:lstStyle/>
          <a:p>
            <a:pPr indent="0" marL="0">
              <a:buNone/>
            </a:pPr>
            <a:r>
              <a:rPr lang="en-US" sz="4000" b="1" dirty="0">
                <a:solidFill>
                  <a:srgbClr val="5CC98A"/>
                </a:solidFill>
                <a:latin typeface="Segoe UI Semibold" pitchFamily="34" charset="0"/>
                <a:ea typeface="Segoe UI Semibold" pitchFamily="34" charset="-122"/>
                <a:cs typeface="Segoe UI Semibold" pitchFamily="34" charset="-120"/>
              </a:rPr>
              <a:t>13 / 13</a:t>
            </a:r>
            <a:endParaRPr lang="en-US" sz="4000" dirty="0"/>
          </a:p>
        </p:txBody>
      </p:sp>
      <p:sp>
        <p:nvSpPr>
          <p:cNvPr id="5" name="Text 3"/>
          <p:cNvSpPr txBox="1"/>
          <p:nvPr/>
        </p:nvSpPr>
        <p:spPr>
          <a:xfrm>
            <a:off x="868680" y="2532888"/>
            <a:ext cx="28346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end-to-end checks on the live system</a:t>
            </a:r>
            <a:endParaRPr lang="en-US" sz="1400" dirty="0"/>
          </a:p>
        </p:txBody>
      </p:sp>
      <p:sp>
        <p:nvSpPr>
          <p:cNvPr id="6" name="test-card-1"/>
          <p:cNvSpPr/>
          <p:nvPr/>
        </p:nvSpPr>
        <p:spPr>
          <a:xfrm>
            <a:off x="4297680" y="1463040"/>
            <a:ext cx="3474720" cy="2103120"/>
          </a:xfrm>
          <a:prstGeom prst="roundRect">
            <a:avLst>
              <a:gd name="adj" fmla="val 5217"/>
            </a:avLst>
          </a:prstGeom>
          <a:solidFill>
            <a:srgbClr val="1D2128"/>
          </a:solidFill>
          <a:ln w="12700">
            <a:solidFill>
              <a:srgbClr val="2E343E"/>
            </a:solidFill>
            <a:prstDash val="solid"/>
          </a:ln>
        </p:spPr>
      </p:sp>
      <p:sp>
        <p:nvSpPr>
          <p:cNvPr id="7" name="Text 5"/>
          <p:cNvSpPr txBox="1"/>
          <p:nvPr/>
        </p:nvSpPr>
        <p:spPr>
          <a:xfrm>
            <a:off x="4617720" y="1783080"/>
            <a:ext cx="2834640" cy="731520"/>
          </a:xfrm>
          <a:prstGeom prst="rect">
            <a:avLst/>
          </a:prstGeom>
          <a:noFill/>
          <a:ln/>
        </p:spPr>
        <p:txBody>
          <a:bodyPr wrap="square" lIns="0" tIns="0" rIns="0" bIns="0" rtlCol="0" anchor="t"/>
          <a:lstStyle/>
          <a:p>
            <a:pPr indent="0" marL="0">
              <a:buNone/>
            </a:pPr>
            <a:r>
              <a:rPr lang="en-US" sz="4000" b="1" dirty="0">
                <a:solidFill>
                  <a:srgbClr val="5CC98A"/>
                </a:solidFill>
                <a:latin typeface="Segoe UI Semibold" pitchFamily="34" charset="0"/>
                <a:ea typeface="Segoe UI Semibold" pitchFamily="34" charset="-122"/>
                <a:cs typeface="Segoe UI Semibold" pitchFamily="34" charset="-120"/>
              </a:rPr>
              <a:t>33</a:t>
            </a:r>
            <a:endParaRPr lang="en-US" sz="4000" dirty="0"/>
          </a:p>
        </p:txBody>
      </p:sp>
      <p:sp>
        <p:nvSpPr>
          <p:cNvPr id="8" name="Text 6"/>
          <p:cNvSpPr txBox="1"/>
          <p:nvPr/>
        </p:nvSpPr>
        <p:spPr>
          <a:xfrm>
            <a:off x="4617720" y="2532888"/>
            <a:ext cx="28346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unit tests passing</a:t>
            </a:r>
            <a:endParaRPr lang="en-US" sz="1400" dirty="0"/>
          </a:p>
        </p:txBody>
      </p:sp>
      <p:sp>
        <p:nvSpPr>
          <p:cNvPr id="9" name="test-card-2"/>
          <p:cNvSpPr/>
          <p:nvPr/>
        </p:nvSpPr>
        <p:spPr>
          <a:xfrm>
            <a:off x="8046720" y="1463040"/>
            <a:ext cx="3474720" cy="2103120"/>
          </a:xfrm>
          <a:prstGeom prst="roundRect">
            <a:avLst>
              <a:gd name="adj" fmla="val 5217"/>
            </a:avLst>
          </a:prstGeom>
          <a:solidFill>
            <a:srgbClr val="1D2128"/>
          </a:solidFill>
          <a:ln w="12700">
            <a:solidFill>
              <a:srgbClr val="2E343E"/>
            </a:solidFill>
            <a:prstDash val="solid"/>
          </a:ln>
        </p:spPr>
      </p:sp>
      <p:sp>
        <p:nvSpPr>
          <p:cNvPr id="10" name="Text 8"/>
          <p:cNvSpPr txBox="1"/>
          <p:nvPr/>
        </p:nvSpPr>
        <p:spPr>
          <a:xfrm>
            <a:off x="8366760" y="1783080"/>
            <a:ext cx="2834640" cy="731520"/>
          </a:xfrm>
          <a:prstGeom prst="rect">
            <a:avLst/>
          </a:prstGeom>
          <a:noFill/>
          <a:ln/>
        </p:spPr>
        <p:txBody>
          <a:bodyPr wrap="square" lIns="0" tIns="0" rIns="0" bIns="0" rtlCol="0" anchor="t"/>
          <a:lstStyle/>
          <a:p>
            <a:pPr indent="0" marL="0">
              <a:buNone/>
            </a:pPr>
            <a:r>
              <a:rPr lang="en-US" sz="4000" b="1" dirty="0">
                <a:solidFill>
                  <a:srgbClr val="6B9CF0"/>
                </a:solidFill>
                <a:latin typeface="Segoe UI Semibold" pitchFamily="34" charset="0"/>
                <a:ea typeface="Segoe UI Semibold" pitchFamily="34" charset="-122"/>
                <a:cs typeface="Segoe UI Semibold" pitchFamily="34" charset="-120"/>
              </a:rPr>
              <a:t>0.535 s</a:t>
            </a:r>
            <a:endParaRPr lang="en-US" sz="4000" dirty="0"/>
          </a:p>
        </p:txBody>
      </p:sp>
      <p:sp>
        <p:nvSpPr>
          <p:cNvPr id="11" name="Text 9"/>
          <p:cNvSpPr txBox="1"/>
          <p:nvPr/>
        </p:nvSpPr>
        <p:spPr>
          <a:xfrm>
            <a:off x="8366760" y="2532888"/>
            <a:ext cx="28346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graph retrieval, 27 parallel queries</a:t>
            </a:r>
            <a:endParaRPr lang="en-US" sz="1400" dirty="0"/>
          </a:p>
        </p:txBody>
      </p:sp>
      <p:sp>
        <p:nvSpPr>
          <p:cNvPr id="12" name="test-card-3"/>
          <p:cNvSpPr/>
          <p:nvPr/>
        </p:nvSpPr>
        <p:spPr>
          <a:xfrm>
            <a:off x="548640" y="3840480"/>
            <a:ext cx="3474720" cy="2103120"/>
          </a:xfrm>
          <a:prstGeom prst="roundRect">
            <a:avLst>
              <a:gd name="adj" fmla="val 5217"/>
            </a:avLst>
          </a:prstGeom>
          <a:solidFill>
            <a:srgbClr val="1D2128"/>
          </a:solidFill>
          <a:ln w="12700">
            <a:solidFill>
              <a:srgbClr val="2E343E"/>
            </a:solidFill>
            <a:prstDash val="solid"/>
          </a:ln>
        </p:spPr>
      </p:sp>
      <p:sp>
        <p:nvSpPr>
          <p:cNvPr id="13" name="Text 11"/>
          <p:cNvSpPr txBox="1"/>
          <p:nvPr/>
        </p:nvSpPr>
        <p:spPr>
          <a:xfrm>
            <a:off x="868680" y="4160520"/>
            <a:ext cx="2834640" cy="731520"/>
          </a:xfrm>
          <a:prstGeom prst="rect">
            <a:avLst/>
          </a:prstGeom>
          <a:noFill/>
          <a:ln/>
        </p:spPr>
        <p:txBody>
          <a:bodyPr wrap="square" lIns="0" tIns="0" rIns="0" bIns="0" rtlCol="0" anchor="t"/>
          <a:lstStyle/>
          <a:p>
            <a:pPr indent="0" marL="0">
              <a:buNone/>
            </a:pPr>
            <a:r>
              <a:rPr lang="en-US" sz="4000" b="1" dirty="0">
                <a:solidFill>
                  <a:srgbClr val="5CC98A"/>
                </a:solidFill>
                <a:latin typeface="Segoe UI Semibold" pitchFamily="34" charset="0"/>
                <a:ea typeface="Segoe UI Semibold" pitchFamily="34" charset="-122"/>
                <a:cs typeface="Segoe UI Semibold" pitchFamily="34" charset="-120"/>
              </a:rPr>
              <a:t>0</a:t>
            </a:r>
            <a:endParaRPr lang="en-US" sz="4000" dirty="0"/>
          </a:p>
        </p:txBody>
      </p:sp>
      <p:sp>
        <p:nvSpPr>
          <p:cNvPr id="14" name="Text 12"/>
          <p:cNvSpPr txBox="1"/>
          <p:nvPr/>
        </p:nvSpPr>
        <p:spPr>
          <a:xfrm>
            <a:off x="868680" y="4910328"/>
            <a:ext cx="28346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server errors in 240 API requests</a:t>
            </a:r>
            <a:endParaRPr lang="en-US" sz="1400" dirty="0"/>
          </a:p>
        </p:txBody>
      </p:sp>
      <p:sp>
        <p:nvSpPr>
          <p:cNvPr id="15" name="test-card-4"/>
          <p:cNvSpPr/>
          <p:nvPr/>
        </p:nvSpPr>
        <p:spPr>
          <a:xfrm>
            <a:off x="4297680" y="3840480"/>
            <a:ext cx="3474720" cy="2103120"/>
          </a:xfrm>
          <a:prstGeom prst="roundRect">
            <a:avLst>
              <a:gd name="adj" fmla="val 5217"/>
            </a:avLst>
          </a:prstGeom>
          <a:solidFill>
            <a:srgbClr val="1D2128"/>
          </a:solidFill>
          <a:ln w="12700">
            <a:solidFill>
              <a:srgbClr val="2E343E"/>
            </a:solidFill>
            <a:prstDash val="solid"/>
          </a:ln>
        </p:spPr>
      </p:sp>
      <p:sp>
        <p:nvSpPr>
          <p:cNvPr id="16" name="Text 14"/>
          <p:cNvSpPr txBox="1"/>
          <p:nvPr/>
        </p:nvSpPr>
        <p:spPr>
          <a:xfrm>
            <a:off x="4617720" y="4160520"/>
            <a:ext cx="2834640" cy="731520"/>
          </a:xfrm>
          <a:prstGeom prst="rect">
            <a:avLst/>
          </a:prstGeom>
          <a:noFill/>
          <a:ln/>
        </p:spPr>
        <p:txBody>
          <a:bodyPr wrap="square" lIns="0" tIns="0" rIns="0" bIns="0" rtlCol="0" anchor="t"/>
          <a:lstStyle/>
          <a:p>
            <a:pPr indent="0" marL="0">
              <a:buNone/>
            </a:pPr>
            <a:r>
              <a:rPr lang="en-US" sz="4000" b="1" dirty="0">
                <a:solidFill>
                  <a:srgbClr val="6B9CF0"/>
                </a:solidFill>
                <a:latin typeface="Segoe UI Semibold" pitchFamily="34" charset="0"/>
                <a:ea typeface="Segoe UI Semibold" pitchFamily="34" charset="-122"/>
                <a:cs typeface="Segoe UI Semibold" pitchFamily="34" charset="-120"/>
              </a:rPr>
              <a:t>0.24-0.66 s</a:t>
            </a:r>
            <a:endParaRPr lang="en-US" sz="4000" dirty="0"/>
          </a:p>
        </p:txBody>
      </p:sp>
      <p:sp>
        <p:nvSpPr>
          <p:cNvPr id="17" name="Text 15"/>
          <p:cNvSpPr txBox="1"/>
          <p:nvPr/>
        </p:nvSpPr>
        <p:spPr>
          <a:xfrm>
            <a:off x="4617720" y="4910328"/>
            <a:ext cx="28346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dashboard page load</a:t>
            </a:r>
            <a:endParaRPr lang="en-US" sz="1400" dirty="0"/>
          </a:p>
        </p:txBody>
      </p:sp>
      <p:sp>
        <p:nvSpPr>
          <p:cNvPr id="18" name="test-card-5"/>
          <p:cNvSpPr/>
          <p:nvPr/>
        </p:nvSpPr>
        <p:spPr>
          <a:xfrm>
            <a:off x="8046720" y="3840480"/>
            <a:ext cx="3474720" cy="2103120"/>
          </a:xfrm>
          <a:prstGeom prst="roundRect">
            <a:avLst>
              <a:gd name="adj" fmla="val 5217"/>
            </a:avLst>
          </a:prstGeom>
          <a:solidFill>
            <a:srgbClr val="1D2128"/>
          </a:solidFill>
          <a:ln w="12700">
            <a:solidFill>
              <a:srgbClr val="2E343E"/>
            </a:solidFill>
            <a:prstDash val="solid"/>
          </a:ln>
        </p:spPr>
      </p:sp>
      <p:sp>
        <p:nvSpPr>
          <p:cNvPr id="19" name="Text 17"/>
          <p:cNvSpPr txBox="1"/>
          <p:nvPr/>
        </p:nvSpPr>
        <p:spPr>
          <a:xfrm>
            <a:off x="8366760" y="4160520"/>
            <a:ext cx="2834640" cy="731520"/>
          </a:xfrm>
          <a:prstGeom prst="rect">
            <a:avLst/>
          </a:prstGeom>
          <a:noFill/>
          <a:ln/>
        </p:spPr>
        <p:txBody>
          <a:bodyPr wrap="square" lIns="0" tIns="0" rIns="0" bIns="0" rtlCol="0" anchor="t"/>
          <a:lstStyle/>
          <a:p>
            <a:pPr indent="0" marL="0">
              <a:buNone/>
            </a:pPr>
            <a:r>
              <a:rPr lang="en-US" sz="4000" b="1" dirty="0">
                <a:solidFill>
                  <a:srgbClr val="5CC98A"/>
                </a:solidFill>
                <a:latin typeface="Segoe UI Semibold" pitchFamily="34" charset="0"/>
                <a:ea typeface="Segoe UI Semibold" pitchFamily="34" charset="-122"/>
                <a:cs typeface="Segoe UI Semibold" pitchFamily="34" charset="-120"/>
              </a:rPr>
              <a:t>0</a:t>
            </a:r>
            <a:endParaRPr lang="en-US" sz="4000" dirty="0"/>
          </a:p>
        </p:txBody>
      </p:sp>
      <p:sp>
        <p:nvSpPr>
          <p:cNvPr id="20" name="Text 18"/>
          <p:cNvSpPr txBox="1"/>
          <p:nvPr/>
        </p:nvSpPr>
        <p:spPr>
          <a:xfrm>
            <a:off x="8366760" y="4910328"/>
            <a:ext cx="283464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accessibility violations in the app</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Cost: $0 on the AWS Free plan</a:t>
            </a:r>
            <a:endParaRPr lang="en-US" sz="3200" dirty="0"/>
          </a:p>
        </p:txBody>
      </p:sp>
      <p:sp>
        <p:nvSpPr>
          <p:cNvPr id="3" name="cost-actual"/>
          <p:cNvSpPr/>
          <p:nvPr/>
        </p:nvSpPr>
        <p:spPr>
          <a:xfrm>
            <a:off x="548640" y="1463040"/>
            <a:ext cx="4023360" cy="4663440"/>
          </a:xfrm>
          <a:prstGeom prst="roundRect">
            <a:avLst>
              <a:gd name="adj" fmla="val 2727"/>
            </a:avLst>
          </a:prstGeom>
          <a:solidFill>
            <a:srgbClr val="1D2128"/>
          </a:solidFill>
          <a:ln w="12700">
            <a:solidFill>
              <a:srgbClr val="2E343E"/>
            </a:solidFill>
            <a:prstDash val="solid"/>
          </a:ln>
        </p:spPr>
      </p:sp>
      <p:sp>
        <p:nvSpPr>
          <p:cNvPr id="4" name="Text 2"/>
          <p:cNvSpPr txBox="1"/>
          <p:nvPr/>
        </p:nvSpPr>
        <p:spPr>
          <a:xfrm>
            <a:off x="868680" y="1737360"/>
            <a:ext cx="3474720" cy="1371600"/>
          </a:xfrm>
          <a:prstGeom prst="rect">
            <a:avLst/>
          </a:prstGeom>
          <a:noFill/>
          <a:ln/>
        </p:spPr>
        <p:txBody>
          <a:bodyPr wrap="square" lIns="0" tIns="0" rIns="0" bIns="0" rtlCol="0" anchor="t"/>
          <a:lstStyle/>
          <a:p>
            <a:pPr indent="0" marL="0">
              <a:buNone/>
            </a:pPr>
            <a:r>
              <a:rPr lang="en-US" sz="8800" b="1" dirty="0">
                <a:solidFill>
                  <a:srgbClr val="5CC98A"/>
                </a:solidFill>
                <a:latin typeface="Segoe UI Semibold" pitchFamily="34" charset="0"/>
                <a:ea typeface="Segoe UI Semibold" pitchFamily="34" charset="-122"/>
                <a:cs typeface="Segoe UI Semibold" pitchFamily="34" charset="-120"/>
              </a:rPr>
              <a:t>$0</a:t>
            </a:r>
            <a:endParaRPr lang="en-US" sz="8800" dirty="0"/>
          </a:p>
        </p:txBody>
      </p:sp>
      <p:sp>
        <p:nvSpPr>
          <p:cNvPr id="5" name="Text 3"/>
          <p:cNvSpPr txBox="1"/>
          <p:nvPr/>
        </p:nvSpPr>
        <p:spPr>
          <a:xfrm>
            <a:off x="868680" y="3200400"/>
            <a:ext cx="3474720" cy="2560320"/>
          </a:xfrm>
          <a:prstGeom prst="rect">
            <a:avLst/>
          </a:prstGeom>
          <a:noFill/>
          <a:ln/>
        </p:spPr>
        <p:txBody>
          <a:bodyPr wrap="square" lIns="0" tIns="0" rIns="0" bIns="0" rtlCol="0" anchor="t"/>
          <a:lstStyle/>
          <a:p>
            <a:pPr indent="0" marL="0">
              <a:buNone/>
            </a:pPr>
            <a:r>
              <a:rPr lang="en-US" sz="1500" dirty="0">
                <a:solidFill>
                  <a:srgbClr val="9AA3B2"/>
                </a:solidFill>
                <a:latin typeface="Segoe UI" pitchFamily="34" charset="0"/>
                <a:ea typeface="Segoe UI" pitchFamily="34" charset="-122"/>
                <a:cs typeface="Segoe UI" pitchFamily="34" charset="-120"/>
              </a:rPr>
              <a:t>charged to the card. Lambda, API Gateway, S3, Cognito, CloudWatch and Amplify stayed in the free tier; SageMaker used a few cents of credits.</a:t>
            </a:r>
            <a:endParaRPr lang="en-US" sz="1500" dirty="0"/>
          </a:p>
        </p:txBody>
      </p:sp>
      <p:sp>
        <p:nvSpPr>
          <p:cNvPr id="6" name="Text 4"/>
          <p:cNvSpPr txBox="1"/>
          <p:nvPr/>
        </p:nvSpPr>
        <p:spPr>
          <a:xfrm>
            <a:off x="4937760" y="1463040"/>
            <a:ext cx="6675120" cy="45720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Estimate for the full AWS design (per month)</a:t>
            </a:r>
            <a:endParaRPr lang="en-US" sz="1800" dirty="0"/>
          </a:p>
        </p:txBody>
      </p:sp>
      <p:graphicFrame>
        <p:nvGraphicFramePr>
          <p:cNvPr id="23" name="cost-table"/>
          <p:cNvGraphicFramePr>
            <a:graphicFrameLocks noGrp="1"/>
          </p:cNvGraphicFramePr>
          <p:nvPr>
            <p:extLst>
              <p:ext uri="{D42A27DB-BD31-4B8C-83A1-F6EECF244321}">
                <p14:modId xmlns:p14="http://schemas.microsoft.com/office/powerpoint/2010/main" val="1579011935"/>
              </p:ext>
            </p:extLst>
          </p:nvPr>
        </p:nvGraphicFramePr>
        <p:xfrm>
          <a:off x="4937760" y="2057400"/>
          <a:ext cx="6720840" cy="914400"/>
        </p:xfrm>
        <a:graphic>
          <a:graphicData uri="http://schemas.openxmlformats.org/drawingml/2006/table">
            <a:tbl>
              <a:tblPr/>
              <a:tblGrid>
                <a:gridCol w="2377440"/>
                <a:gridCol w="3337560"/>
                <a:gridCol w="1005840"/>
              </a:tblGrid>
              <a:tr h="502920">
                <a:tc>
                  <a:txBody>
                    <a:bodyPr/>
                    <a:lstStyle/>
                    <a:p>
                      <a:pPr indent="0" marL="0">
                        <a:buNone/>
                      </a:pPr>
                      <a:r>
                        <a:rPr lang="en-US" sz="1500" b="1" dirty="0">
                          <a:solidFill>
                            <a:srgbClr val="E6E9EE"/>
                          </a:solidFill>
                          <a:latin typeface="Segoe UI" pitchFamily="34" charset="0"/>
                          <a:ea typeface="Segoe UI" pitchFamily="34" charset="-122"/>
                          <a:cs typeface="Segoe UI" pitchFamily="34" charset="-120"/>
                        </a:rPr>
                        <a:t>Item</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c>
                  <a:txBody>
                    <a:bodyPr/>
                    <a:lstStyle/>
                    <a:p>
                      <a:pPr indent="0" marL="0">
                        <a:buNone/>
                      </a:pPr>
                      <a:r>
                        <a:rPr lang="en-US" sz="1500" b="1" dirty="0">
                          <a:solidFill>
                            <a:srgbClr val="E6E9EE"/>
                          </a:solidFill>
                          <a:latin typeface="Segoe UI" pitchFamily="34" charset="0"/>
                          <a:ea typeface="Segoe UI" pitchFamily="34" charset="-122"/>
                          <a:cs typeface="Segoe UI" pitchFamily="34" charset="-120"/>
                        </a:rPr>
                        <a:t>Assumption</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c>
                  <a:txBody>
                    <a:bodyPr/>
                    <a:lstStyle/>
                    <a:p>
                      <a:pPr indent="0" marL="0">
                        <a:buNone/>
                      </a:pPr>
                      <a:r>
                        <a:rPr lang="en-US" sz="1500" b="1" dirty="0">
                          <a:solidFill>
                            <a:srgbClr val="E6E9EE"/>
                          </a:solidFill>
                          <a:latin typeface="Segoe UI" pitchFamily="34" charset="0"/>
                          <a:ea typeface="Segoe UI" pitchFamily="34" charset="-122"/>
                          <a:cs typeface="Segoe UI" pitchFamily="34" charset="-120"/>
                        </a:rPr>
                        <a:t>USD</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232832"/>
                    </a:solidFill>
                  </a:tcPr>
                </a:tc>
              </a:tr>
              <a:tr h="502920">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Neptune Analytics</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16 m-NCU, 8 h/day, 22 days</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~85</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502920">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SageMaker serverless</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2,000 papers</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~3</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502920">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Amazon Bedrock</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1,000 questions</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&lt; 1</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502920">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Everything else</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Free tier at this scale</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E6E9EE"/>
                          </a:solidFill>
                          <a:latin typeface="Segoe UI" pitchFamily="34" charset="0"/>
                          <a:ea typeface="Segoe UI" pitchFamily="34" charset="-122"/>
                          <a:cs typeface="Segoe UI" pitchFamily="34" charset="-120"/>
                        </a:rPr>
                        <a:t>0-2</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r h="502920">
                <a:tc>
                  <a:txBody>
                    <a:bodyPr/>
                    <a:lstStyle/>
                    <a:p>
                      <a:pPr indent="0" marL="0">
                        <a:buNone/>
                      </a:pPr>
                      <a:r>
                        <a:rPr lang="en-US" sz="1500" dirty="0">
                          <a:solidFill>
                            <a:srgbClr val="6B9CF0"/>
                          </a:solidFill>
                          <a:latin typeface="Segoe UI" pitchFamily="34" charset="0"/>
                          <a:ea typeface="Segoe UI" pitchFamily="34" charset="-122"/>
                          <a:cs typeface="Segoe UI" pitchFamily="34" charset="-120"/>
                        </a:rPr>
                        <a:t>Total</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9AA3B2"/>
                          </a:solidFill>
                          <a:latin typeface="Segoe UI" pitchFamily="34" charset="0"/>
                          <a:ea typeface="Segoe UI" pitchFamily="34" charset="-122"/>
                          <a:cs typeface="Segoe UI" pitchFamily="34" charset="-120"/>
                        </a:rPr>
                        <a:t>(~350 if Neptune runs 24/7)</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c>
                  <a:txBody>
                    <a:bodyPr/>
                    <a:lstStyle/>
                    <a:p>
                      <a:pPr indent="0" marL="0">
                        <a:buNone/>
                      </a:pPr>
                      <a:r>
                        <a:rPr lang="en-US" sz="1500" dirty="0">
                          <a:solidFill>
                            <a:srgbClr val="6B9CF0"/>
                          </a:solidFill>
                          <a:latin typeface="Segoe UI" pitchFamily="34" charset="0"/>
                          <a:ea typeface="Segoe UI" pitchFamily="34" charset="-122"/>
                          <a:cs typeface="Segoe UI" pitchFamily="34" charset="-120"/>
                        </a:rPr>
                        <a:t>~90</a:t>
                      </a:r>
                      <a:endParaRPr lang="en-US" sz="1500" dirty="0">
                        <a:latin typeface="Segoe UI" charset="0"/>
                        <a:ea typeface="Segoe UI" charset="0"/>
                        <a:cs typeface="Segoe UI" charset="0"/>
                      </a:endParaRPr>
                    </a:p>
                  </a:txBody>
                  <a:tcPr marL="109728" marR="109728" marT="45720" marB="45720" anchor="ctr">
                    <a:lnL w="12700" cap="flat" cmpd="sng" algn="ctr">
                      <a:solidFill>
                        <a:srgbClr val="2E343E"/>
                      </a:solidFill>
                      <a:prstDash val="solid"/>
                      <a:round/>
                      <a:headEnd type="none" w="med" len="med"/>
                      <a:tailEnd type="none" w="med" len="med"/>
                    </a:lnL>
                    <a:lnR w="12700" cap="flat" cmpd="sng" algn="ctr">
                      <a:solidFill>
                        <a:srgbClr val="2E343E"/>
                      </a:solidFill>
                      <a:prstDash val="solid"/>
                      <a:round/>
                      <a:headEnd type="none" w="med" len="med"/>
                      <a:tailEnd type="none" w="med" len="med"/>
                    </a:lnR>
                    <a:lnT w="12700" cap="flat" cmpd="sng" algn="ctr">
                      <a:solidFill>
                        <a:srgbClr val="2E343E"/>
                      </a:solidFill>
                      <a:prstDash val="solid"/>
                      <a:round/>
                      <a:headEnd type="none" w="med" len="med"/>
                      <a:tailEnd type="none" w="med" len="med"/>
                    </a:lnT>
                    <a:lnB w="12700" cap="flat" cmpd="sng" algn="ctr">
                      <a:solidFill>
                        <a:srgbClr val="2E343E"/>
                      </a:solidFill>
                      <a:prstDash val="solid"/>
                      <a:round/>
                      <a:headEnd type="none" w="med" len="med"/>
                      <a:tailEnd type="none" w="med" len="med"/>
                    </a:lnB>
                    <a:solidFill>
                      <a:srgbClr val="1D2128"/>
                    </a:solidFill>
                  </a:tcPr>
                </a:tc>
              </a:tr>
            </a:tbl>
          </a:graphicData>
        </a:graphic>
      </p:graphicFrame>
      <p:sp>
        <p:nvSpPr>
          <p:cNvPr id="8" name="Text 5"/>
          <p:cNvSpPr txBox="1"/>
          <p:nvPr/>
        </p:nvSpPr>
        <p:spPr>
          <a:xfrm>
            <a:off x="4937760" y="5349240"/>
            <a:ext cx="6675120" cy="548640"/>
          </a:xfrm>
          <a:prstGeom prst="rect">
            <a:avLst/>
          </a:prstGeom>
          <a:noFill/>
          <a:ln/>
        </p:spPr>
        <p:txBody>
          <a:bodyPr wrap="square" lIns="0" tIns="0" rIns="0" bIns="0" rtlCol="0" anchor="t"/>
          <a:lstStyle/>
          <a:p>
            <a:pPr indent="0" marL="0">
              <a:buNone/>
            </a:pPr>
            <a:r>
              <a:rPr lang="en-US" sz="1400" dirty="0">
                <a:solidFill>
                  <a:srgbClr val="9AA3B2"/>
                </a:solidFill>
                <a:latin typeface="Segoe UI" pitchFamily="34" charset="0"/>
                <a:ea typeface="Segoe UI" pitchFamily="34" charset="-122"/>
                <a:cs typeface="Segoe UI" pitchFamily="34" charset="-120"/>
              </a:rPr>
              <a:t>Serverless means no cost when idle; the graph database is the main cost if moved to Neptune.</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Challenges and how we solved them</a:t>
            </a:r>
            <a:endParaRPr lang="en-US" sz="3200" dirty="0"/>
          </a:p>
        </p:txBody>
      </p:sp>
      <p:sp>
        <p:nvSpPr>
          <p:cNvPr id="3" name="challenge-0"/>
          <p:cNvSpPr/>
          <p:nvPr/>
        </p:nvSpPr>
        <p:spPr>
          <a:xfrm>
            <a:off x="548640" y="1417320"/>
            <a:ext cx="4937760" cy="822960"/>
          </a:xfrm>
          <a:prstGeom prst="roundRect">
            <a:avLst>
              <a:gd name="adj" fmla="val 13333"/>
            </a:avLst>
          </a:prstGeom>
          <a:solidFill>
            <a:srgbClr val="1D2128"/>
          </a:solidFill>
          <a:ln w="12700">
            <a:solidFill>
              <a:srgbClr val="2E343E"/>
            </a:solidFill>
            <a:prstDash val="solid"/>
          </a:ln>
        </p:spPr>
      </p:sp>
      <p:sp>
        <p:nvSpPr>
          <p:cNvPr id="4" name="Text 2"/>
          <p:cNvSpPr txBox="1"/>
          <p:nvPr/>
        </p:nvSpPr>
        <p:spPr>
          <a:xfrm>
            <a:off x="777240" y="1417320"/>
            <a:ext cx="4572000" cy="822960"/>
          </a:xfrm>
          <a:prstGeom prst="rect">
            <a:avLst/>
          </a:prstGeom>
          <a:noFill/>
          <a:ln/>
        </p:spPr>
        <p:txBody>
          <a:bodyPr wrap="square" lIns="0" tIns="0" rIns="0" bIns="0" rtlCol="0" anchor="ctr"/>
          <a:lstStyle/>
          <a:p>
            <a:pPr indent="0" marL="0">
              <a:buNone/>
            </a:pPr>
            <a:r>
              <a:rPr lang="en-US" sz="1500" dirty="0">
                <a:solidFill>
                  <a:srgbClr val="E6E9EE"/>
                </a:solidFill>
                <a:latin typeface="Segoe UI" pitchFamily="34" charset="0"/>
                <a:ea typeface="Segoe UI" pitchFamily="34" charset="-122"/>
                <a:cs typeface="Segoe UI" pitchFamily="34" charset="-120"/>
              </a:rPr>
              <a:t>AWS Free plan blocks Neptune and Bedrock</a:t>
            </a:r>
            <a:endParaRPr lang="en-US" sz="1500" dirty="0"/>
          </a:p>
        </p:txBody>
      </p:sp>
      <p:sp>
        <p:nvSpPr>
          <p:cNvPr id="5" name="Shape 3"/>
          <p:cNvSpPr/>
          <p:nvPr/>
        </p:nvSpPr>
        <p:spPr>
          <a:xfrm>
            <a:off x="5623560" y="1828800"/>
            <a:ext cx="548640" cy="0"/>
          </a:xfrm>
          <a:prstGeom prst="line">
            <a:avLst/>
          </a:prstGeom>
          <a:noFill/>
          <a:ln w="25400">
            <a:solidFill>
              <a:srgbClr val="6B9CF0"/>
            </a:solidFill>
            <a:prstDash val="solid"/>
            <a:tailEnd type="triangle"/>
          </a:ln>
        </p:spPr>
      </p:sp>
      <p:sp>
        <p:nvSpPr>
          <p:cNvPr id="6" name="solution-0"/>
          <p:cNvSpPr/>
          <p:nvPr/>
        </p:nvSpPr>
        <p:spPr>
          <a:xfrm>
            <a:off x="6309360" y="1417320"/>
            <a:ext cx="5349240" cy="822960"/>
          </a:xfrm>
          <a:prstGeom prst="roundRect">
            <a:avLst>
              <a:gd name="adj" fmla="val 13333"/>
            </a:avLst>
          </a:prstGeom>
          <a:solidFill>
            <a:srgbClr val="232832"/>
          </a:solidFill>
          <a:ln w="12700">
            <a:solidFill>
              <a:srgbClr val="2E343E"/>
            </a:solidFill>
            <a:prstDash val="solid"/>
          </a:ln>
        </p:spPr>
      </p:sp>
      <p:sp>
        <p:nvSpPr>
          <p:cNvPr id="7" name="Text 5"/>
          <p:cNvSpPr txBox="1"/>
          <p:nvPr/>
        </p:nvSpPr>
        <p:spPr>
          <a:xfrm>
            <a:off x="6537960" y="1417320"/>
            <a:ext cx="4983480" cy="822960"/>
          </a:xfrm>
          <a:prstGeom prst="rect">
            <a:avLst/>
          </a:prstGeom>
          <a:noFill/>
          <a:ln/>
        </p:spPr>
        <p:txBody>
          <a:bodyPr wrap="square" lIns="0" tIns="0" rIns="0" bIns="0" rtlCol="0" anchor="ctr"/>
          <a:lstStyle/>
          <a:p>
            <a:pPr indent="0" marL="0">
              <a:buNone/>
            </a:pPr>
            <a:r>
              <a:rPr lang="en-US" sz="1500" dirty="0">
                <a:solidFill>
                  <a:srgbClr val="5CC98A"/>
                </a:solidFill>
                <a:latin typeface="Segoe UI" pitchFamily="34" charset="0"/>
                <a:ea typeface="Segoe UI" pitchFamily="34" charset="-122"/>
                <a:cs typeface="Segoe UI" pitchFamily="34" charset="-120"/>
              </a:rPr>
              <a:t>Graph and LLM made deployment parameters; Neo4j AuraDB and Groq/Gemini with the same queries</a:t>
            </a:r>
            <a:endParaRPr lang="en-US" sz="1500" dirty="0"/>
          </a:p>
        </p:txBody>
      </p:sp>
      <p:sp>
        <p:nvSpPr>
          <p:cNvPr id="8" name="challenge-1"/>
          <p:cNvSpPr/>
          <p:nvPr/>
        </p:nvSpPr>
        <p:spPr>
          <a:xfrm>
            <a:off x="548640" y="2395728"/>
            <a:ext cx="4937760" cy="822960"/>
          </a:xfrm>
          <a:prstGeom prst="roundRect">
            <a:avLst>
              <a:gd name="adj" fmla="val 13333"/>
            </a:avLst>
          </a:prstGeom>
          <a:solidFill>
            <a:srgbClr val="1D2128"/>
          </a:solidFill>
          <a:ln w="12700">
            <a:solidFill>
              <a:srgbClr val="2E343E"/>
            </a:solidFill>
            <a:prstDash val="solid"/>
          </a:ln>
        </p:spPr>
      </p:sp>
      <p:sp>
        <p:nvSpPr>
          <p:cNvPr id="9" name="Text 7"/>
          <p:cNvSpPr txBox="1"/>
          <p:nvPr/>
        </p:nvSpPr>
        <p:spPr>
          <a:xfrm>
            <a:off x="777240" y="2395728"/>
            <a:ext cx="4572000" cy="822960"/>
          </a:xfrm>
          <a:prstGeom prst="rect">
            <a:avLst/>
          </a:prstGeom>
          <a:noFill/>
          <a:ln/>
        </p:spPr>
        <p:txBody>
          <a:bodyPr wrap="square" lIns="0" tIns="0" rIns="0" bIns="0" rtlCol="0" anchor="ctr"/>
          <a:lstStyle/>
          <a:p>
            <a:pPr indent="0" marL="0">
              <a:buNone/>
            </a:pPr>
            <a:r>
              <a:rPr lang="en-US" sz="1500" dirty="0">
                <a:solidFill>
                  <a:srgbClr val="E6E9EE"/>
                </a:solidFill>
                <a:latin typeface="Segoe UI" pitchFamily="34" charset="0"/>
                <a:ea typeface="Segoe UI" pitchFamily="34" charset="-122"/>
                <a:cs typeface="Segoe UI" pitchFamily="34" charset="-120"/>
              </a:rPr>
              <a:t>SageMaker training quota is 0</a:t>
            </a:r>
            <a:endParaRPr lang="en-US" sz="1500" dirty="0"/>
          </a:p>
        </p:txBody>
      </p:sp>
      <p:sp>
        <p:nvSpPr>
          <p:cNvPr id="10" name="Shape 8"/>
          <p:cNvSpPr/>
          <p:nvPr/>
        </p:nvSpPr>
        <p:spPr>
          <a:xfrm>
            <a:off x="5623560" y="2807208"/>
            <a:ext cx="548640" cy="0"/>
          </a:xfrm>
          <a:prstGeom prst="line">
            <a:avLst/>
          </a:prstGeom>
          <a:noFill/>
          <a:ln w="25400">
            <a:solidFill>
              <a:srgbClr val="6B9CF0"/>
            </a:solidFill>
            <a:prstDash val="solid"/>
            <a:tailEnd type="triangle"/>
          </a:ln>
        </p:spPr>
      </p:sp>
      <p:sp>
        <p:nvSpPr>
          <p:cNvPr id="11" name="solution-1"/>
          <p:cNvSpPr/>
          <p:nvPr/>
        </p:nvSpPr>
        <p:spPr>
          <a:xfrm>
            <a:off x="6309360" y="2395728"/>
            <a:ext cx="5349240" cy="822960"/>
          </a:xfrm>
          <a:prstGeom prst="roundRect">
            <a:avLst>
              <a:gd name="adj" fmla="val 13333"/>
            </a:avLst>
          </a:prstGeom>
          <a:solidFill>
            <a:srgbClr val="232832"/>
          </a:solidFill>
          <a:ln w="12700">
            <a:solidFill>
              <a:srgbClr val="2E343E"/>
            </a:solidFill>
            <a:prstDash val="solid"/>
          </a:ln>
        </p:spPr>
      </p:sp>
      <p:sp>
        <p:nvSpPr>
          <p:cNvPr id="12" name="Text 10"/>
          <p:cNvSpPr txBox="1"/>
          <p:nvPr/>
        </p:nvSpPr>
        <p:spPr>
          <a:xfrm>
            <a:off x="6537960" y="2395728"/>
            <a:ext cx="4983480" cy="822960"/>
          </a:xfrm>
          <a:prstGeom prst="rect">
            <a:avLst/>
          </a:prstGeom>
          <a:noFill/>
          <a:ln/>
        </p:spPr>
        <p:txBody>
          <a:bodyPr wrap="square" lIns="0" tIns="0" rIns="0" bIns="0" rtlCol="0" anchor="ctr"/>
          <a:lstStyle/>
          <a:p>
            <a:pPr indent="0" marL="0">
              <a:buNone/>
            </a:pPr>
            <a:r>
              <a:rPr lang="en-US" sz="1500" dirty="0">
                <a:solidFill>
                  <a:srgbClr val="5CC98A"/>
                </a:solidFill>
                <a:latin typeface="Segoe UI" pitchFamily="34" charset="0"/>
                <a:ea typeface="Segoe UI" pitchFamily="34" charset="-122"/>
                <a:cs typeface="Segoe UI" pitchFamily="34" charset="-120"/>
              </a:rPr>
              <a:t>Trained SciBERT on a laptop CPU; served it on a SageMaker serverless endpoint</a:t>
            </a:r>
            <a:endParaRPr lang="en-US" sz="1500" dirty="0"/>
          </a:p>
        </p:txBody>
      </p:sp>
      <p:sp>
        <p:nvSpPr>
          <p:cNvPr id="13" name="challenge-2"/>
          <p:cNvSpPr/>
          <p:nvPr/>
        </p:nvSpPr>
        <p:spPr>
          <a:xfrm>
            <a:off x="548640" y="3374136"/>
            <a:ext cx="4937760" cy="822960"/>
          </a:xfrm>
          <a:prstGeom prst="roundRect">
            <a:avLst>
              <a:gd name="adj" fmla="val 13333"/>
            </a:avLst>
          </a:prstGeom>
          <a:solidFill>
            <a:srgbClr val="1D2128"/>
          </a:solidFill>
          <a:ln w="12700">
            <a:solidFill>
              <a:srgbClr val="2E343E"/>
            </a:solidFill>
            <a:prstDash val="solid"/>
          </a:ln>
        </p:spPr>
      </p:sp>
      <p:sp>
        <p:nvSpPr>
          <p:cNvPr id="14" name="Text 12"/>
          <p:cNvSpPr txBox="1"/>
          <p:nvPr/>
        </p:nvSpPr>
        <p:spPr>
          <a:xfrm>
            <a:off x="777240" y="3374136"/>
            <a:ext cx="4572000" cy="822960"/>
          </a:xfrm>
          <a:prstGeom prst="rect">
            <a:avLst/>
          </a:prstGeom>
          <a:noFill/>
          <a:ln/>
        </p:spPr>
        <p:txBody>
          <a:bodyPr wrap="square" lIns="0" tIns="0" rIns="0" bIns="0" rtlCol="0" anchor="ctr"/>
          <a:lstStyle/>
          <a:p>
            <a:pPr indent="0" marL="0">
              <a:buNone/>
            </a:pPr>
            <a:r>
              <a:rPr lang="en-US" sz="1500" dirty="0">
                <a:solidFill>
                  <a:srgbClr val="E6E9EE"/>
                </a:solidFill>
                <a:latin typeface="Segoe UI" pitchFamily="34" charset="0"/>
                <a:ea typeface="Segoe UI" pitchFamily="34" charset="-122"/>
                <a:cs typeface="Segoe UI" pitchFamily="34" charset="-120"/>
              </a:rPr>
              <a:t>Throttling during bulk ingestion</a:t>
            </a:r>
            <a:endParaRPr lang="en-US" sz="1500" dirty="0"/>
          </a:p>
        </p:txBody>
      </p:sp>
      <p:sp>
        <p:nvSpPr>
          <p:cNvPr id="15" name="Shape 13"/>
          <p:cNvSpPr/>
          <p:nvPr/>
        </p:nvSpPr>
        <p:spPr>
          <a:xfrm>
            <a:off x="5623560" y="3785616"/>
            <a:ext cx="548640" cy="0"/>
          </a:xfrm>
          <a:prstGeom prst="line">
            <a:avLst/>
          </a:prstGeom>
          <a:noFill/>
          <a:ln w="25400">
            <a:solidFill>
              <a:srgbClr val="6B9CF0"/>
            </a:solidFill>
            <a:prstDash val="solid"/>
            <a:tailEnd type="triangle"/>
          </a:ln>
        </p:spPr>
      </p:sp>
      <p:sp>
        <p:nvSpPr>
          <p:cNvPr id="16" name="solution-2"/>
          <p:cNvSpPr/>
          <p:nvPr/>
        </p:nvSpPr>
        <p:spPr>
          <a:xfrm>
            <a:off x="6309360" y="3374136"/>
            <a:ext cx="5349240" cy="822960"/>
          </a:xfrm>
          <a:prstGeom prst="roundRect">
            <a:avLst>
              <a:gd name="adj" fmla="val 13333"/>
            </a:avLst>
          </a:prstGeom>
          <a:solidFill>
            <a:srgbClr val="232832"/>
          </a:solidFill>
          <a:ln w="12700">
            <a:solidFill>
              <a:srgbClr val="2E343E"/>
            </a:solidFill>
            <a:prstDash val="solid"/>
          </a:ln>
        </p:spPr>
      </p:sp>
      <p:sp>
        <p:nvSpPr>
          <p:cNvPr id="17" name="Text 15"/>
          <p:cNvSpPr txBox="1"/>
          <p:nvPr/>
        </p:nvSpPr>
        <p:spPr>
          <a:xfrm>
            <a:off x="6537960" y="3374136"/>
            <a:ext cx="4983480" cy="822960"/>
          </a:xfrm>
          <a:prstGeom prst="rect">
            <a:avLst/>
          </a:prstGeom>
          <a:noFill/>
          <a:ln/>
        </p:spPr>
        <p:txBody>
          <a:bodyPr wrap="square" lIns="0" tIns="0" rIns="0" bIns="0" rtlCol="0" anchor="ctr"/>
          <a:lstStyle/>
          <a:p>
            <a:pPr indent="0" marL="0">
              <a:buNone/>
            </a:pPr>
            <a:r>
              <a:rPr lang="en-US" sz="1500" dirty="0">
                <a:solidFill>
                  <a:srgbClr val="5CC98A"/>
                </a:solidFill>
                <a:latin typeface="Segoe UI" pitchFamily="34" charset="0"/>
                <a:ea typeface="Segoe UI" pitchFamily="34" charset="-122"/>
                <a:cs typeface="Segoe UI" pitchFamily="34" charset="-120"/>
              </a:rPr>
              <a:t>Endpoint concurrency 10, exponential back-off with jitter; 12 parallel Lambdas, 0 failures</a:t>
            </a:r>
            <a:endParaRPr lang="en-US" sz="1500" dirty="0"/>
          </a:p>
        </p:txBody>
      </p:sp>
      <p:sp>
        <p:nvSpPr>
          <p:cNvPr id="18" name="challenge-3"/>
          <p:cNvSpPr/>
          <p:nvPr/>
        </p:nvSpPr>
        <p:spPr>
          <a:xfrm>
            <a:off x="548640" y="4352544"/>
            <a:ext cx="4937760" cy="822960"/>
          </a:xfrm>
          <a:prstGeom prst="roundRect">
            <a:avLst>
              <a:gd name="adj" fmla="val 13333"/>
            </a:avLst>
          </a:prstGeom>
          <a:solidFill>
            <a:srgbClr val="1D2128"/>
          </a:solidFill>
          <a:ln w="12700">
            <a:solidFill>
              <a:srgbClr val="2E343E"/>
            </a:solidFill>
            <a:prstDash val="solid"/>
          </a:ln>
        </p:spPr>
      </p:sp>
      <p:sp>
        <p:nvSpPr>
          <p:cNvPr id="19" name="Text 17"/>
          <p:cNvSpPr txBox="1"/>
          <p:nvPr/>
        </p:nvSpPr>
        <p:spPr>
          <a:xfrm>
            <a:off x="777240" y="4352544"/>
            <a:ext cx="4572000" cy="822960"/>
          </a:xfrm>
          <a:prstGeom prst="rect">
            <a:avLst/>
          </a:prstGeom>
          <a:noFill/>
          <a:ln/>
        </p:spPr>
        <p:txBody>
          <a:bodyPr wrap="square" lIns="0" tIns="0" rIns="0" bIns="0" rtlCol="0" anchor="ctr"/>
          <a:lstStyle/>
          <a:p>
            <a:pPr indent="0" marL="0">
              <a:buNone/>
            </a:pPr>
            <a:r>
              <a:rPr lang="en-US" sz="1500" dirty="0">
                <a:solidFill>
                  <a:srgbClr val="E6E9EE"/>
                </a:solidFill>
                <a:latin typeface="Segoe UI" pitchFamily="34" charset="0"/>
                <a:ea typeface="Segoe UI" pitchFamily="34" charset="-122"/>
                <a:cs typeface="Segoe UI" pitchFamily="34" charset="-120"/>
              </a:rPr>
              <a:t>Slow multi-hop retrieval (about 6 s)</a:t>
            </a:r>
            <a:endParaRPr lang="en-US" sz="1500" dirty="0"/>
          </a:p>
        </p:txBody>
      </p:sp>
      <p:sp>
        <p:nvSpPr>
          <p:cNvPr id="20" name="Shape 18"/>
          <p:cNvSpPr/>
          <p:nvPr/>
        </p:nvSpPr>
        <p:spPr>
          <a:xfrm>
            <a:off x="5623560" y="4764024"/>
            <a:ext cx="548640" cy="0"/>
          </a:xfrm>
          <a:prstGeom prst="line">
            <a:avLst/>
          </a:prstGeom>
          <a:noFill/>
          <a:ln w="25400">
            <a:solidFill>
              <a:srgbClr val="6B9CF0"/>
            </a:solidFill>
            <a:prstDash val="solid"/>
            <a:tailEnd type="triangle"/>
          </a:ln>
        </p:spPr>
      </p:sp>
      <p:sp>
        <p:nvSpPr>
          <p:cNvPr id="21" name="solution-3"/>
          <p:cNvSpPr/>
          <p:nvPr/>
        </p:nvSpPr>
        <p:spPr>
          <a:xfrm>
            <a:off x="6309360" y="4352544"/>
            <a:ext cx="5349240" cy="822960"/>
          </a:xfrm>
          <a:prstGeom prst="roundRect">
            <a:avLst>
              <a:gd name="adj" fmla="val 13333"/>
            </a:avLst>
          </a:prstGeom>
          <a:solidFill>
            <a:srgbClr val="232832"/>
          </a:solidFill>
          <a:ln w="12700">
            <a:solidFill>
              <a:srgbClr val="2E343E"/>
            </a:solidFill>
            <a:prstDash val="solid"/>
          </a:ln>
        </p:spPr>
      </p:sp>
      <p:sp>
        <p:nvSpPr>
          <p:cNvPr id="22" name="Text 20"/>
          <p:cNvSpPr txBox="1"/>
          <p:nvPr/>
        </p:nvSpPr>
        <p:spPr>
          <a:xfrm>
            <a:off x="6537960" y="4352544"/>
            <a:ext cx="4983480" cy="822960"/>
          </a:xfrm>
          <a:prstGeom prst="rect">
            <a:avLst/>
          </a:prstGeom>
          <a:noFill/>
          <a:ln/>
        </p:spPr>
        <p:txBody>
          <a:bodyPr wrap="square" lIns="0" tIns="0" rIns="0" bIns="0" rtlCol="0" anchor="ctr"/>
          <a:lstStyle/>
          <a:p>
            <a:pPr indent="0" marL="0">
              <a:buNone/>
            </a:pPr>
            <a:r>
              <a:rPr lang="en-US" sz="1500" dirty="0">
                <a:solidFill>
                  <a:srgbClr val="5CC98A"/>
                </a:solidFill>
                <a:latin typeface="Segoe UI" pitchFamily="34" charset="0"/>
                <a:ea typeface="Segoe UI" pitchFamily="34" charset="-122"/>
                <a:cs typeface="Segoe UI" pitchFamily="34" charset="-120"/>
              </a:rPr>
              <a:t>27 parallel queries instead of 44 sequential: 0.535 s</a:t>
            </a:r>
            <a:endParaRPr lang="en-US" sz="1500" dirty="0"/>
          </a:p>
        </p:txBody>
      </p:sp>
      <p:sp>
        <p:nvSpPr>
          <p:cNvPr id="23" name="challenge-4"/>
          <p:cNvSpPr/>
          <p:nvPr/>
        </p:nvSpPr>
        <p:spPr>
          <a:xfrm>
            <a:off x="548640" y="5330952"/>
            <a:ext cx="4937760" cy="822960"/>
          </a:xfrm>
          <a:prstGeom prst="roundRect">
            <a:avLst>
              <a:gd name="adj" fmla="val 13333"/>
            </a:avLst>
          </a:prstGeom>
          <a:solidFill>
            <a:srgbClr val="1D2128"/>
          </a:solidFill>
          <a:ln w="12700">
            <a:solidFill>
              <a:srgbClr val="2E343E"/>
            </a:solidFill>
            <a:prstDash val="solid"/>
          </a:ln>
        </p:spPr>
      </p:sp>
      <p:sp>
        <p:nvSpPr>
          <p:cNvPr id="24" name="Text 22"/>
          <p:cNvSpPr txBox="1"/>
          <p:nvPr/>
        </p:nvSpPr>
        <p:spPr>
          <a:xfrm>
            <a:off x="777240" y="5330952"/>
            <a:ext cx="4572000" cy="822960"/>
          </a:xfrm>
          <a:prstGeom prst="rect">
            <a:avLst/>
          </a:prstGeom>
          <a:noFill/>
          <a:ln/>
        </p:spPr>
        <p:txBody>
          <a:bodyPr wrap="square" lIns="0" tIns="0" rIns="0" bIns="0" rtlCol="0" anchor="ctr"/>
          <a:lstStyle/>
          <a:p>
            <a:pPr indent="0" marL="0">
              <a:buNone/>
            </a:pPr>
            <a:r>
              <a:rPr lang="en-US" sz="1500" dirty="0">
                <a:solidFill>
                  <a:srgbClr val="E6E9EE"/>
                </a:solidFill>
                <a:latin typeface="Segoe UI" pitchFamily="34" charset="0"/>
                <a:ea typeface="Segoe UI" pitchFamily="34" charset="-122"/>
                <a:cs typeface="Segoe UI" pitchFamily="34" charset="-120"/>
              </a:rPr>
              <a:t>Duplicate nodes, repeated paths</a:t>
            </a:r>
            <a:endParaRPr lang="en-US" sz="1500" dirty="0"/>
          </a:p>
        </p:txBody>
      </p:sp>
      <p:sp>
        <p:nvSpPr>
          <p:cNvPr id="25" name="Shape 23"/>
          <p:cNvSpPr/>
          <p:nvPr/>
        </p:nvSpPr>
        <p:spPr>
          <a:xfrm>
            <a:off x="5623560" y="5742432"/>
            <a:ext cx="548640" cy="0"/>
          </a:xfrm>
          <a:prstGeom prst="line">
            <a:avLst/>
          </a:prstGeom>
          <a:noFill/>
          <a:ln w="25400">
            <a:solidFill>
              <a:srgbClr val="6B9CF0"/>
            </a:solidFill>
            <a:prstDash val="solid"/>
            <a:tailEnd type="triangle"/>
          </a:ln>
        </p:spPr>
      </p:sp>
      <p:sp>
        <p:nvSpPr>
          <p:cNvPr id="26" name="solution-4"/>
          <p:cNvSpPr/>
          <p:nvPr/>
        </p:nvSpPr>
        <p:spPr>
          <a:xfrm>
            <a:off x="6309360" y="5330952"/>
            <a:ext cx="5349240" cy="822960"/>
          </a:xfrm>
          <a:prstGeom prst="roundRect">
            <a:avLst>
              <a:gd name="adj" fmla="val 13333"/>
            </a:avLst>
          </a:prstGeom>
          <a:solidFill>
            <a:srgbClr val="232832"/>
          </a:solidFill>
          <a:ln w="12700">
            <a:solidFill>
              <a:srgbClr val="2E343E"/>
            </a:solidFill>
            <a:prstDash val="solid"/>
          </a:ln>
        </p:spPr>
      </p:sp>
      <p:sp>
        <p:nvSpPr>
          <p:cNvPr id="27" name="Text 25"/>
          <p:cNvSpPr txBox="1"/>
          <p:nvPr/>
        </p:nvSpPr>
        <p:spPr>
          <a:xfrm>
            <a:off x="6537960" y="5330952"/>
            <a:ext cx="4983480" cy="822960"/>
          </a:xfrm>
          <a:prstGeom prst="rect">
            <a:avLst/>
          </a:prstGeom>
          <a:noFill/>
          <a:ln/>
        </p:spPr>
        <p:txBody>
          <a:bodyPr wrap="square" lIns="0" tIns="0" rIns="0" bIns="0" rtlCol="0" anchor="ctr"/>
          <a:lstStyle/>
          <a:p>
            <a:pPr indent="0" marL="0">
              <a:buNone/>
            </a:pPr>
            <a:r>
              <a:rPr lang="en-US" sz="1500" dirty="0">
                <a:solidFill>
                  <a:srgbClr val="5CC98A"/>
                </a:solidFill>
                <a:latin typeface="Segoe UI" pitchFamily="34" charset="0"/>
                <a:ea typeface="Segoe UI" pitchFamily="34" charset="-122"/>
                <a:cs typeface="Segoe UI" pitchFamily="34" charset="-120"/>
              </a:rPr>
              <a:t>Uniqueness constraints and de-duplicated Connect results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Team contributions</a:t>
            </a:r>
            <a:endParaRPr lang="en-US" sz="3200" dirty="0"/>
          </a:p>
        </p:txBody>
      </p:sp>
      <p:sp>
        <p:nvSpPr>
          <p:cNvPr id="3" name="team-card-0"/>
          <p:cNvSpPr/>
          <p:nvPr/>
        </p:nvSpPr>
        <p:spPr>
          <a:xfrm>
            <a:off x="548640" y="1417320"/>
            <a:ext cx="3474720" cy="4206240"/>
          </a:xfrm>
          <a:prstGeom prst="roundRect">
            <a:avLst>
              <a:gd name="adj" fmla="val 3158"/>
            </a:avLst>
          </a:prstGeom>
          <a:solidFill>
            <a:srgbClr val="1D2128"/>
          </a:solidFill>
          <a:ln w="12700">
            <a:solidFill>
              <a:srgbClr val="2E343E"/>
            </a:solidFill>
            <a:prstDash val="solid"/>
          </a:ln>
        </p:spPr>
      </p:sp>
      <p:sp>
        <p:nvSpPr>
          <p:cNvPr id="4" name="team-0-circle"/>
          <p:cNvSpPr/>
          <p:nvPr/>
        </p:nvSpPr>
        <p:spPr>
          <a:xfrm>
            <a:off x="868680" y="1691640"/>
            <a:ext cx="777240" cy="777240"/>
          </a:xfrm>
          <a:prstGeom prst="ellipse">
            <a:avLst/>
          </a:prstGeom>
          <a:solidFill>
            <a:srgbClr val="4C78A8"/>
          </a:solidFill>
          <a:ln w="12700">
            <a:solidFill>
              <a:srgbClr val="4C78A8"/>
            </a:solidFill>
            <a:prstDash val="solid"/>
          </a:ln>
        </p:spPr>
      </p:sp>
      <p:pic>
        <p:nvPicPr>
          <p:cNvPr id="5" name="team-0-icon" descr="preencoded.png">    </p:cNvPr>
          <p:cNvPicPr>
            <a:picLocks noChangeAspect="1"/>
          </p:cNvPicPr>
          <p:nvPr/>
        </p:nvPicPr>
        <p:blipFill>
          <a:blip r:embed="rId1"/>
          <a:stretch>
            <a:fillRect/>
          </a:stretch>
        </p:blipFill>
        <p:spPr>
          <a:xfrm>
            <a:off x="1062990" y="1885950"/>
            <a:ext cx="388620" cy="388620"/>
          </a:xfrm>
          <a:prstGeom prst="rect">
            <a:avLst/>
          </a:prstGeom>
        </p:spPr>
      </p:pic>
      <p:sp>
        <p:nvSpPr>
          <p:cNvPr id="6" name="Text 3"/>
          <p:cNvSpPr txBox="1"/>
          <p:nvPr/>
        </p:nvSpPr>
        <p:spPr>
          <a:xfrm>
            <a:off x="1828800" y="1691640"/>
            <a:ext cx="210312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Dhruv Gupta</a:t>
            </a:r>
            <a:endParaRPr lang="en-US" sz="1800" dirty="0"/>
          </a:p>
        </p:txBody>
      </p:sp>
      <p:sp>
        <p:nvSpPr>
          <p:cNvPr id="7" name="Text 4"/>
          <p:cNvSpPr txBox="1"/>
          <p:nvPr/>
        </p:nvSpPr>
        <p:spPr>
          <a:xfrm>
            <a:off x="1828800" y="2103120"/>
            <a:ext cx="2103120" cy="3657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23BIT0350</a:t>
            </a:r>
            <a:endParaRPr lang="en-US" sz="1300" dirty="0"/>
          </a:p>
        </p:txBody>
      </p:sp>
      <p:sp>
        <p:nvSpPr>
          <p:cNvPr id="8" name="Text 5"/>
          <p:cNvSpPr txBox="1"/>
          <p:nvPr/>
        </p:nvSpPr>
        <p:spPr>
          <a:xfrm>
            <a:off x="868680" y="2743200"/>
            <a:ext cx="2926080" cy="457200"/>
          </a:xfrm>
          <a:prstGeom prst="rect">
            <a:avLst/>
          </a:prstGeom>
          <a:noFill/>
          <a:ln/>
        </p:spPr>
        <p:txBody>
          <a:bodyPr wrap="square" lIns="0" tIns="0" rIns="0" bIns="0" rtlCol="0" anchor="t"/>
          <a:lstStyle/>
          <a:p>
            <a:pPr indent="0" marL="0">
              <a:buNone/>
            </a:pPr>
            <a:r>
              <a:rPr lang="en-US" sz="1500" b="1" dirty="0">
                <a:solidFill>
                  <a:srgbClr val="4C78A8"/>
                </a:solidFill>
                <a:latin typeface="Segoe UI" pitchFamily="34" charset="0"/>
                <a:ea typeface="Segoe UI" pitchFamily="34" charset="-122"/>
                <a:cs typeface="Segoe UI" pitchFamily="34" charset="-120"/>
              </a:rPr>
              <a:t>Knowledge graph, GraphRAG</a:t>
            </a:r>
            <a:endParaRPr lang="en-US" sz="1500" dirty="0"/>
          </a:p>
        </p:txBody>
      </p:sp>
      <p:sp>
        <p:nvSpPr>
          <p:cNvPr id="9" name="Text 6"/>
          <p:cNvSpPr txBox="1"/>
          <p:nvPr/>
        </p:nvSpPr>
        <p:spPr>
          <a:xfrm>
            <a:off x="868680" y="3246120"/>
            <a:ext cx="2971800" cy="27432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Graph ontology and schema</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Multi-hop retrieval and ranking</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Grounded LLM layer</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GraphRAG benchmarks</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Literature survey lead</a:t>
            </a:r>
            <a:endParaRPr lang="en-US" sz="1400" dirty="0"/>
          </a:p>
        </p:txBody>
      </p:sp>
      <p:sp>
        <p:nvSpPr>
          <p:cNvPr id="10" name="team-card-1"/>
          <p:cNvSpPr/>
          <p:nvPr/>
        </p:nvSpPr>
        <p:spPr>
          <a:xfrm>
            <a:off x="4297680" y="1417320"/>
            <a:ext cx="3474720" cy="4206240"/>
          </a:xfrm>
          <a:prstGeom prst="roundRect">
            <a:avLst>
              <a:gd name="adj" fmla="val 3158"/>
            </a:avLst>
          </a:prstGeom>
          <a:solidFill>
            <a:srgbClr val="1D2128"/>
          </a:solidFill>
          <a:ln w="12700">
            <a:solidFill>
              <a:srgbClr val="2E343E"/>
            </a:solidFill>
            <a:prstDash val="solid"/>
          </a:ln>
        </p:spPr>
      </p:sp>
      <p:sp>
        <p:nvSpPr>
          <p:cNvPr id="11" name="team-1-circle"/>
          <p:cNvSpPr/>
          <p:nvPr/>
        </p:nvSpPr>
        <p:spPr>
          <a:xfrm>
            <a:off x="4617720" y="1691640"/>
            <a:ext cx="777240" cy="777240"/>
          </a:xfrm>
          <a:prstGeom prst="ellipse">
            <a:avLst/>
          </a:prstGeom>
          <a:solidFill>
            <a:srgbClr val="6B9CF0"/>
          </a:solidFill>
          <a:ln w="12700">
            <a:solidFill>
              <a:srgbClr val="6B9CF0"/>
            </a:solidFill>
            <a:prstDash val="solid"/>
          </a:ln>
        </p:spPr>
      </p:sp>
      <p:pic>
        <p:nvPicPr>
          <p:cNvPr id="12" name="team-1-icon" descr="preencoded.png">    </p:cNvPr>
          <p:cNvPicPr>
            <a:picLocks noChangeAspect="1"/>
          </p:cNvPicPr>
          <p:nvPr/>
        </p:nvPicPr>
        <p:blipFill>
          <a:blip r:embed="rId2"/>
          <a:stretch>
            <a:fillRect/>
          </a:stretch>
        </p:blipFill>
        <p:spPr>
          <a:xfrm>
            <a:off x="4812030" y="1885950"/>
            <a:ext cx="388620" cy="388620"/>
          </a:xfrm>
          <a:prstGeom prst="rect">
            <a:avLst/>
          </a:prstGeom>
        </p:spPr>
      </p:pic>
      <p:sp>
        <p:nvSpPr>
          <p:cNvPr id="13" name="Text 9"/>
          <p:cNvSpPr txBox="1"/>
          <p:nvPr/>
        </p:nvSpPr>
        <p:spPr>
          <a:xfrm>
            <a:off x="5577840" y="1691640"/>
            <a:ext cx="210312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Parth Sharma</a:t>
            </a:r>
            <a:endParaRPr lang="en-US" sz="1800" dirty="0"/>
          </a:p>
        </p:txBody>
      </p:sp>
      <p:sp>
        <p:nvSpPr>
          <p:cNvPr id="14" name="Text 10"/>
          <p:cNvSpPr txBox="1"/>
          <p:nvPr/>
        </p:nvSpPr>
        <p:spPr>
          <a:xfrm>
            <a:off x="5577840" y="2103120"/>
            <a:ext cx="2103120" cy="3657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23BIT0211</a:t>
            </a:r>
            <a:endParaRPr lang="en-US" sz="1300" dirty="0"/>
          </a:p>
        </p:txBody>
      </p:sp>
      <p:sp>
        <p:nvSpPr>
          <p:cNvPr id="15" name="Text 11"/>
          <p:cNvSpPr txBox="1"/>
          <p:nvPr/>
        </p:nvSpPr>
        <p:spPr>
          <a:xfrm>
            <a:off x="4617720" y="2743200"/>
            <a:ext cx="2926080" cy="457200"/>
          </a:xfrm>
          <a:prstGeom prst="rect">
            <a:avLst/>
          </a:prstGeom>
          <a:noFill/>
          <a:ln/>
        </p:spPr>
        <p:txBody>
          <a:bodyPr wrap="square" lIns="0" tIns="0" rIns="0" bIns="0" rtlCol="0" anchor="t"/>
          <a:lstStyle/>
          <a:p>
            <a:pPr indent="0" marL="0">
              <a:buNone/>
            </a:pPr>
            <a:r>
              <a:rPr lang="en-US" sz="1500" b="1" dirty="0">
                <a:solidFill>
                  <a:srgbClr val="6B9CF0"/>
                </a:solidFill>
                <a:latin typeface="Segoe UI" pitchFamily="34" charset="0"/>
                <a:ea typeface="Segoe UI" pitchFamily="34" charset="-122"/>
                <a:cs typeface="Segoe UI" pitchFamily="34" charset="-120"/>
              </a:rPr>
              <a:t>Dashboard, API and AWS</a:t>
            </a:r>
            <a:endParaRPr lang="en-US" sz="1500" dirty="0"/>
          </a:p>
        </p:txBody>
      </p:sp>
      <p:sp>
        <p:nvSpPr>
          <p:cNvPr id="16" name="Text 12"/>
          <p:cNvSpPr txBox="1"/>
          <p:nvPr/>
        </p:nvSpPr>
        <p:spPr>
          <a:xfrm>
            <a:off x="4617720" y="3246120"/>
            <a:ext cx="2971800" cy="27432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Dashboard and API Lambda</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SAM template, Cognito, IAM</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CloudWatch, Amplify</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End-to-end and UI/UX testing</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Architecture and presentation</a:t>
            </a:r>
            <a:endParaRPr lang="en-US" sz="1400" dirty="0"/>
          </a:p>
        </p:txBody>
      </p:sp>
      <p:sp>
        <p:nvSpPr>
          <p:cNvPr id="17" name="team-card-2"/>
          <p:cNvSpPr/>
          <p:nvPr/>
        </p:nvSpPr>
        <p:spPr>
          <a:xfrm>
            <a:off x="8046720" y="1417320"/>
            <a:ext cx="3474720" cy="4206240"/>
          </a:xfrm>
          <a:prstGeom prst="roundRect">
            <a:avLst>
              <a:gd name="adj" fmla="val 3158"/>
            </a:avLst>
          </a:prstGeom>
          <a:solidFill>
            <a:srgbClr val="1D2128"/>
          </a:solidFill>
          <a:ln w="12700">
            <a:solidFill>
              <a:srgbClr val="2E343E"/>
            </a:solidFill>
            <a:prstDash val="solid"/>
          </a:ln>
        </p:spPr>
      </p:sp>
      <p:sp>
        <p:nvSpPr>
          <p:cNvPr id="18" name="team-2-circle"/>
          <p:cNvSpPr/>
          <p:nvPr/>
        </p:nvSpPr>
        <p:spPr>
          <a:xfrm>
            <a:off x="8366760" y="1691640"/>
            <a:ext cx="777240" cy="777240"/>
          </a:xfrm>
          <a:prstGeom prst="ellipse">
            <a:avLst/>
          </a:prstGeom>
          <a:solidFill>
            <a:srgbClr val="54A24B"/>
          </a:solidFill>
          <a:ln w="12700">
            <a:solidFill>
              <a:srgbClr val="54A24B"/>
            </a:solidFill>
            <a:prstDash val="solid"/>
          </a:ln>
        </p:spPr>
      </p:sp>
      <p:pic>
        <p:nvPicPr>
          <p:cNvPr id="19" name="team-2-icon" descr="preencoded.png">    </p:cNvPr>
          <p:cNvPicPr>
            <a:picLocks noChangeAspect="1"/>
          </p:cNvPicPr>
          <p:nvPr/>
        </p:nvPicPr>
        <p:blipFill>
          <a:blip r:embed="rId3"/>
          <a:stretch>
            <a:fillRect/>
          </a:stretch>
        </p:blipFill>
        <p:spPr>
          <a:xfrm>
            <a:off x="8561070" y="1885950"/>
            <a:ext cx="388620" cy="388620"/>
          </a:xfrm>
          <a:prstGeom prst="rect">
            <a:avLst/>
          </a:prstGeom>
        </p:spPr>
      </p:pic>
      <p:sp>
        <p:nvSpPr>
          <p:cNvPr id="20" name="Text 15"/>
          <p:cNvSpPr txBox="1"/>
          <p:nvPr/>
        </p:nvSpPr>
        <p:spPr>
          <a:xfrm>
            <a:off x="9326880" y="1691640"/>
            <a:ext cx="2103120" cy="411480"/>
          </a:xfrm>
          <a:prstGeom prst="rect">
            <a:avLst/>
          </a:prstGeom>
          <a:noFill/>
          <a:ln/>
        </p:spPr>
        <p:txBody>
          <a:bodyPr wrap="square" lIns="0" tIns="0" rIns="0" bIns="0" rtlCol="0" anchor="t"/>
          <a:lstStyle/>
          <a:p>
            <a:pPr indent="0" marL="0">
              <a:buNone/>
            </a:pPr>
            <a:r>
              <a:rPr lang="en-US" sz="1800" b="1" dirty="0">
                <a:solidFill>
                  <a:srgbClr val="E6E9EE"/>
                </a:solidFill>
                <a:latin typeface="Segoe UI Semibold" pitchFamily="34" charset="0"/>
                <a:ea typeface="Segoe UI Semibold" pitchFamily="34" charset="-122"/>
                <a:cs typeface="Segoe UI Semibold" pitchFamily="34" charset="-120"/>
              </a:rPr>
              <a:t>Devesh Agarwal</a:t>
            </a:r>
            <a:endParaRPr lang="en-US" sz="1800" dirty="0"/>
          </a:p>
        </p:txBody>
      </p:sp>
      <p:sp>
        <p:nvSpPr>
          <p:cNvPr id="21" name="Text 16"/>
          <p:cNvSpPr txBox="1"/>
          <p:nvPr/>
        </p:nvSpPr>
        <p:spPr>
          <a:xfrm>
            <a:off x="9326880" y="2103120"/>
            <a:ext cx="2103120" cy="365760"/>
          </a:xfrm>
          <a:prstGeom prst="rect">
            <a:avLst/>
          </a:prstGeom>
          <a:noFill/>
          <a:ln/>
        </p:spPr>
        <p:txBody>
          <a:bodyPr wrap="square" lIns="0" tIns="0" rIns="0" bIns="0" rtlCol="0" anchor="t"/>
          <a:lstStyle/>
          <a:p>
            <a:pPr indent="0" marL="0">
              <a:buNone/>
            </a:pPr>
            <a:r>
              <a:rPr lang="en-US" sz="1300" dirty="0">
                <a:solidFill>
                  <a:srgbClr val="9AA3B2"/>
                </a:solidFill>
                <a:latin typeface="Segoe UI" pitchFamily="34" charset="0"/>
                <a:ea typeface="Segoe UI" pitchFamily="34" charset="-122"/>
                <a:cs typeface="Segoe UI" pitchFamily="34" charset="-120"/>
              </a:rPr>
              <a:t>23BIT0201</a:t>
            </a:r>
            <a:endParaRPr lang="en-US" sz="1300" dirty="0"/>
          </a:p>
        </p:txBody>
      </p:sp>
      <p:sp>
        <p:nvSpPr>
          <p:cNvPr id="22" name="Text 17"/>
          <p:cNvSpPr txBox="1"/>
          <p:nvPr/>
        </p:nvSpPr>
        <p:spPr>
          <a:xfrm>
            <a:off x="8366760" y="2743200"/>
            <a:ext cx="2926080" cy="457200"/>
          </a:xfrm>
          <a:prstGeom prst="rect">
            <a:avLst/>
          </a:prstGeom>
          <a:noFill/>
          <a:ln/>
        </p:spPr>
        <p:txBody>
          <a:bodyPr wrap="square" lIns="0" tIns="0" rIns="0" bIns="0" rtlCol="0" anchor="t"/>
          <a:lstStyle/>
          <a:p>
            <a:pPr indent="0" marL="0">
              <a:buNone/>
            </a:pPr>
            <a:r>
              <a:rPr lang="en-US" sz="1500" b="1" dirty="0">
                <a:solidFill>
                  <a:srgbClr val="54A24B"/>
                </a:solidFill>
                <a:latin typeface="Segoe UI" pitchFamily="34" charset="0"/>
                <a:ea typeface="Segoe UI" pitchFamily="34" charset="-122"/>
                <a:cs typeface="Segoe UI" pitchFamily="34" charset="-120"/>
              </a:rPr>
              <a:t>Data and NLP extraction</a:t>
            </a:r>
            <a:endParaRPr lang="en-US" sz="1500" dirty="0"/>
          </a:p>
        </p:txBody>
      </p:sp>
      <p:sp>
        <p:nvSpPr>
          <p:cNvPr id="23" name="Text 18"/>
          <p:cNvSpPr txBox="1"/>
          <p:nvPr/>
        </p:nvSpPr>
        <p:spPr>
          <a:xfrm>
            <a:off x="8366760" y="3246120"/>
            <a:ext cx="2971800" cy="27432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OpenAlex and S2ORC pipelines</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S3 data lake, ingest Lambda</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SciBERT NER and RE models</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SageMaker deployment</a:t>
            </a:r>
            <a:endParaRPr lang="en-US" sz="1400" dirty="0"/>
          </a:p>
          <a:p>
            <a:pPr marL="228600" indent="-228600">
              <a:spcAft>
                <a:spcPts val="600"/>
              </a:spcAft>
              <a:buSzPct val="100000"/>
              <a:buChar char="•"/>
            </a:pPr>
            <a:r>
              <a:rPr lang="en-US" sz="1400" dirty="0">
                <a:solidFill>
                  <a:srgbClr val="E6E9EE"/>
                </a:solidFill>
                <a:latin typeface="Segoe UI" pitchFamily="34" charset="0"/>
                <a:ea typeface="Segoe UI" pitchFamily="34" charset="-122"/>
                <a:cs typeface="Segoe UI" pitchFamily="34" charset="-120"/>
              </a:rPr>
              <a:t>Dataset and NLP results</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E6E9EE"/>
                </a:solidFill>
                <a:latin typeface="Segoe UI Semibold" pitchFamily="34" charset="0"/>
                <a:ea typeface="Segoe UI Semibold" pitchFamily="34" charset="-122"/>
                <a:cs typeface="Segoe UI Semibold" pitchFamily="34" charset="-120"/>
              </a:rPr>
              <a:t>Conclusion and future work</a:t>
            </a:r>
            <a:endParaRPr lang="en-US" sz="3200" dirty="0"/>
          </a:p>
        </p:txBody>
      </p:sp>
      <p:sp>
        <p:nvSpPr>
          <p:cNvPr id="3" name="conclusion-card"/>
          <p:cNvSpPr/>
          <p:nvPr/>
        </p:nvSpPr>
        <p:spPr>
          <a:xfrm>
            <a:off x="548640" y="1417320"/>
            <a:ext cx="5486400" cy="4206240"/>
          </a:xfrm>
          <a:prstGeom prst="roundRect">
            <a:avLst>
              <a:gd name="adj" fmla="val 2609"/>
            </a:avLst>
          </a:prstGeom>
          <a:solidFill>
            <a:srgbClr val="1D2128"/>
          </a:solidFill>
          <a:ln w="12700">
            <a:solidFill>
              <a:srgbClr val="2E343E"/>
            </a:solidFill>
            <a:prstDash val="solid"/>
          </a:ln>
        </p:spPr>
      </p:sp>
      <p:sp>
        <p:nvSpPr>
          <p:cNvPr id="4" name="Text 2"/>
          <p:cNvSpPr txBox="1"/>
          <p:nvPr/>
        </p:nvSpPr>
        <p:spPr>
          <a:xfrm>
            <a:off x="868680" y="1645920"/>
            <a:ext cx="4846320" cy="457200"/>
          </a:xfrm>
          <a:prstGeom prst="rect">
            <a:avLst/>
          </a:prstGeom>
          <a:noFill/>
          <a:ln/>
        </p:spPr>
        <p:txBody>
          <a:bodyPr wrap="square" lIns="0" tIns="0" rIns="0" bIns="0" rtlCol="0" anchor="t"/>
          <a:lstStyle/>
          <a:p>
            <a:pPr indent="0" marL="0">
              <a:buNone/>
            </a:pPr>
            <a:r>
              <a:rPr lang="en-US" sz="2000" b="1" dirty="0">
                <a:solidFill>
                  <a:srgbClr val="6B9CF0"/>
                </a:solidFill>
                <a:latin typeface="Segoe UI Semibold" pitchFamily="34" charset="0"/>
                <a:ea typeface="Segoe UI Semibold" pitchFamily="34" charset="-122"/>
                <a:cs typeface="Segoe UI Semibold" pitchFamily="34" charset="-120"/>
              </a:rPr>
              <a:t>What we delivered</a:t>
            </a:r>
            <a:endParaRPr lang="en-US" sz="2000" dirty="0"/>
          </a:p>
        </p:txBody>
      </p:sp>
      <p:sp>
        <p:nvSpPr>
          <p:cNvPr id="5" name="Text 3"/>
          <p:cNvSpPr txBox="1"/>
          <p:nvPr/>
        </p:nvSpPr>
        <p:spPr>
          <a:xfrm>
            <a:off x="868680" y="2240280"/>
            <a:ext cx="4846320" cy="36576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E6E9EE"/>
                </a:solidFill>
                <a:latin typeface="Segoe UI" pitchFamily="34" charset="0"/>
                <a:ea typeface="Segoe UI" pitchFamily="34" charset="-122"/>
                <a:cs typeface="Segoe UI" pitchFamily="34" charset="-120"/>
              </a:rPr>
              <a:t>A working, serverless system on AWS that turns papers into a knowledge graph</a:t>
            </a:r>
            <a:endParaRPr lang="en-US" sz="1700" dirty="0"/>
          </a:p>
          <a:p>
            <a:pPr marL="228600" indent="-228600">
              <a:spcAft>
                <a:spcPts val="800"/>
              </a:spcAft>
              <a:buSzPct val="100000"/>
              <a:buChar char="•"/>
            </a:pPr>
            <a:r>
              <a:rPr lang="en-US" sz="1700" dirty="0">
                <a:solidFill>
                  <a:srgbClr val="E6E9EE"/>
                </a:solidFill>
                <a:latin typeface="Segoe UI" pitchFamily="34" charset="0"/>
                <a:ea typeface="Segoe UI" pitchFamily="34" charset="-122"/>
                <a:cs typeface="Segoe UI" pitchFamily="34" charset="-120"/>
              </a:rPr>
              <a:t>Answers with citations and 0% hallucination on our benchmark</a:t>
            </a:r>
            <a:endParaRPr lang="en-US" sz="1700" dirty="0"/>
          </a:p>
          <a:p>
            <a:pPr marL="228600" indent="-228600">
              <a:spcAft>
                <a:spcPts val="800"/>
              </a:spcAft>
              <a:buSzPct val="100000"/>
              <a:buChar char="•"/>
            </a:pPr>
            <a:r>
              <a:rPr lang="en-US" sz="1700" dirty="0">
                <a:solidFill>
                  <a:srgbClr val="E6E9EE"/>
                </a:solidFill>
                <a:latin typeface="Segoe UI" pitchFamily="34" charset="0"/>
                <a:ea typeface="Segoe UI" pitchFamily="34" charset="-122"/>
                <a:cs typeface="Segoe UI" pitchFamily="34" charset="-120"/>
              </a:rPr>
              <a:t>All six objectives met on the deployed system, at $0</a:t>
            </a:r>
            <a:endParaRPr lang="en-US" sz="1700" dirty="0"/>
          </a:p>
        </p:txBody>
      </p:sp>
      <p:sp>
        <p:nvSpPr>
          <p:cNvPr id="6" name="future-card"/>
          <p:cNvSpPr/>
          <p:nvPr/>
        </p:nvSpPr>
        <p:spPr>
          <a:xfrm>
            <a:off x="6263640" y="1417320"/>
            <a:ext cx="5394960" cy="4206240"/>
          </a:xfrm>
          <a:prstGeom prst="roundRect">
            <a:avLst>
              <a:gd name="adj" fmla="val 2609"/>
            </a:avLst>
          </a:prstGeom>
          <a:solidFill>
            <a:srgbClr val="232832"/>
          </a:solidFill>
          <a:ln w="12700">
            <a:solidFill>
              <a:srgbClr val="2E343E"/>
            </a:solidFill>
            <a:prstDash val="solid"/>
          </a:ln>
        </p:spPr>
      </p:sp>
      <p:sp>
        <p:nvSpPr>
          <p:cNvPr id="7" name="Text 5"/>
          <p:cNvSpPr txBox="1"/>
          <p:nvPr/>
        </p:nvSpPr>
        <p:spPr>
          <a:xfrm>
            <a:off x="6583680" y="1645920"/>
            <a:ext cx="4754880" cy="457200"/>
          </a:xfrm>
          <a:prstGeom prst="rect">
            <a:avLst/>
          </a:prstGeom>
          <a:noFill/>
          <a:ln/>
        </p:spPr>
        <p:txBody>
          <a:bodyPr wrap="square" lIns="0" tIns="0" rIns="0" bIns="0" rtlCol="0" anchor="t"/>
          <a:lstStyle/>
          <a:p>
            <a:pPr indent="0" marL="0">
              <a:buNone/>
            </a:pPr>
            <a:r>
              <a:rPr lang="en-US" sz="2000" b="1" dirty="0">
                <a:solidFill>
                  <a:srgbClr val="54A24B"/>
                </a:solidFill>
                <a:latin typeface="Segoe UI Semibold" pitchFamily="34" charset="0"/>
                <a:ea typeface="Segoe UI Semibold" pitchFamily="34" charset="-122"/>
                <a:cs typeface="Segoe UI Semibold" pitchFamily="34" charset="-120"/>
              </a:rPr>
              <a:t>Next steps</a:t>
            </a:r>
            <a:endParaRPr lang="en-US" sz="2000" dirty="0"/>
          </a:p>
        </p:txBody>
      </p:sp>
      <p:sp>
        <p:nvSpPr>
          <p:cNvPr id="8" name="Text 6"/>
          <p:cNvSpPr txBox="1"/>
          <p:nvPr/>
        </p:nvSpPr>
        <p:spPr>
          <a:xfrm>
            <a:off x="6583680" y="2240280"/>
            <a:ext cx="4754880" cy="37490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E6E9EE"/>
                </a:solidFill>
                <a:latin typeface="Segoe UI" pitchFamily="34" charset="0"/>
                <a:ea typeface="Segoe UI" pitchFamily="34" charset="-122"/>
                <a:cs typeface="Segoe UI" pitchFamily="34" charset="-120"/>
              </a:rPr>
              <a:t>Run on Neptune Analytics and Bedrock and compare latency and cost</a:t>
            </a:r>
            <a:endParaRPr lang="en-US" sz="1600" dirty="0"/>
          </a:p>
          <a:p>
            <a:pPr marL="228600" indent="-228600">
              <a:spcAft>
                <a:spcPts val="800"/>
              </a:spcAft>
              <a:buSzPct val="100000"/>
              <a:buChar char="•"/>
            </a:pPr>
            <a:r>
              <a:rPr lang="en-US" sz="1600" dirty="0">
                <a:solidFill>
                  <a:srgbClr val="E6E9EE"/>
                </a:solidFill>
                <a:latin typeface="Segoe UI" pitchFamily="34" charset="0"/>
                <a:ea typeface="Segoe UI" pitchFamily="34" charset="-122"/>
                <a:cs typeface="Segoe UI" pitchFamily="34" charset="-120"/>
              </a:rPr>
              <a:t>Ingest larger OpenAlex and S2ORC slices; OCR for scanned PDFs</a:t>
            </a:r>
            <a:endParaRPr lang="en-US" sz="1600" dirty="0"/>
          </a:p>
          <a:p>
            <a:pPr marL="228600" indent="-228600">
              <a:spcAft>
                <a:spcPts val="800"/>
              </a:spcAft>
              <a:buSzPct val="100000"/>
              <a:buChar char="•"/>
            </a:pPr>
            <a:r>
              <a:rPr lang="en-US" sz="1600" dirty="0">
                <a:solidFill>
                  <a:srgbClr val="E6E9EE"/>
                </a:solidFill>
                <a:latin typeface="Segoe UI" pitchFamily="34" charset="0"/>
                <a:ea typeface="Segoe UI" pitchFamily="34" charset="-122"/>
                <a:cs typeface="Segoe UI" pitchFamily="34" charset="-120"/>
              </a:rPr>
              <a:t>GPU training and end-to-end relation evaluation on raw text</a:t>
            </a:r>
            <a:endParaRPr lang="en-US" sz="1600" dirty="0"/>
          </a:p>
          <a:p>
            <a:pPr marL="228600" indent="-228600">
              <a:spcAft>
                <a:spcPts val="800"/>
              </a:spcAft>
              <a:buSzPct val="100000"/>
              <a:buChar char="•"/>
            </a:pPr>
            <a:r>
              <a:rPr lang="en-US" sz="1600" dirty="0">
                <a:solidFill>
                  <a:srgbClr val="E6E9EE"/>
                </a:solidFill>
                <a:latin typeface="Segoe UI" pitchFamily="34" charset="0"/>
                <a:ea typeface="Segoe UI" pitchFamily="34" charset="-122"/>
                <a:cs typeface="Segoe UI" pitchFamily="34" charset="-120"/>
              </a:rPr>
              <a:t>Secrets Manager, MFA and rate limiting</a:t>
            </a:r>
            <a:endParaRPr lang="en-US" sz="1600" dirty="0"/>
          </a:p>
          <a:p>
            <a:pPr marL="228600" indent="-228600">
              <a:spcAft>
                <a:spcPts val="800"/>
              </a:spcAft>
              <a:buSzPct val="100000"/>
              <a:buChar char="•"/>
            </a:pPr>
            <a:r>
              <a:rPr lang="en-US" sz="1600" dirty="0">
                <a:solidFill>
                  <a:srgbClr val="E6E9EE"/>
                </a:solidFill>
                <a:latin typeface="Segoe UI" pitchFamily="34" charset="0"/>
                <a:ea typeface="Segoe UI" pitchFamily="34" charset="-122"/>
                <a:cs typeface="Segoe UI" pitchFamily="34" charset="-120"/>
              </a:rPr>
              <a:t>A user study with open-ended expert questions</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AA3B2"/>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7680960" cy="2651760"/>
          </a:xfrm>
          <a:prstGeom prst="rect">
            <a:avLst/>
          </a:prstGeom>
          <a:noFill/>
          <a:ln/>
        </p:spPr>
        <p:txBody>
          <a:bodyPr wrap="square" lIns="0" tIns="0" rIns="0" bIns="0" rtlCol="0" anchor="b"/>
          <a:lstStyle/>
          <a:p>
            <a:pPr algn="l" indent="0" marL="0">
              <a:buNone/>
            </a:pPr>
            <a:r>
              <a:rPr lang="en-US" sz="3800" b="1" dirty="0">
                <a:solidFill>
                  <a:srgbClr val="E6E9EE"/>
                </a:solidFill>
                <a:latin typeface="Segoe UI Semibold" pitchFamily="34" charset="0"/>
                <a:ea typeface="Segoe UI Semibold" pitchFamily="34" charset="-122"/>
                <a:cs typeface="Segoe UI Semibold" pitchFamily="34" charset="-120"/>
              </a:rPr>
              <a:t>Thank you</a:t>
            </a:r>
            <a:endParaRPr lang="en-US" sz="3800" dirty="0"/>
          </a:p>
        </p:txBody>
      </p:sp>
      <p:sp>
        <p:nvSpPr>
          <p:cNvPr id="3" name="Text 0"/>
          <p:cNvSpPr/>
          <p:nvPr>
            <p:ph idx="101" type="body" hasCustomPrompt="1"/>
          </p:nvPr>
        </p:nvSpPr>
        <p:spPr>
          <a:xfrm>
            <a:off x="640080" y="3977640"/>
            <a:ext cx="7315200" cy="822960"/>
          </a:xfrm>
          <a:prstGeom prst="rect">
            <a:avLst/>
          </a:prstGeom>
          <a:noFill/>
          <a:ln/>
        </p:spPr>
        <p:txBody>
          <a:bodyPr wrap="square" lIns="0" tIns="0" rIns="0" bIns="0" rtlCol="0" anchor="t"/>
          <a:lstStyle/>
          <a:p>
            <a:pPr algn="l" indent="0" marL="0">
              <a:buNone/>
            </a:pPr>
            <a:r>
              <a:rPr lang="en-US" sz="2000" dirty="0">
                <a:solidFill>
                  <a:srgbClr val="6B9CF0"/>
                </a:solidFill>
                <a:latin typeface="Segoe UI" pitchFamily="34" charset="0"/>
                <a:ea typeface="Segoe UI" pitchFamily="34" charset="-122"/>
                <a:cs typeface="Segoe UI" pitchFamily="34" charset="-120"/>
              </a:rPr>
              <a:t>Questions and live demo</a:t>
            </a:r>
            <a:endParaRPr lang="en-US" sz="2000" dirty="0"/>
          </a:p>
        </p:txBody>
      </p:sp>
      <p:sp>
        <p:nvSpPr>
          <p:cNvPr id="4" name="Text 2"/>
          <p:cNvSpPr txBox="1"/>
          <p:nvPr/>
        </p:nvSpPr>
        <p:spPr>
          <a:xfrm>
            <a:off x="640080" y="4846320"/>
            <a:ext cx="7589520" cy="1280160"/>
          </a:xfrm>
          <a:prstGeom prst="rect">
            <a:avLst/>
          </a:prstGeom>
          <a:noFill/>
          <a:ln/>
        </p:spPr>
        <p:txBody>
          <a:bodyPr wrap="square" lIns="0" tIns="0" rIns="0" bIns="0" rtlCol="0" anchor="t"/>
          <a:lstStyle/>
          <a:p>
            <a:pPr indent="0" marL="0">
              <a:spcAft>
                <a:spcPts val="800"/>
              </a:spcAft>
              <a:buNone/>
            </a:pPr>
            <a:r>
              <a:rPr lang="en-US" sz="1400" dirty="0">
                <a:solidFill>
                  <a:srgbClr val="9AA3B2"/>
                </a:solidFill>
                <a:latin typeface="Segoe UI" pitchFamily="34" charset="0"/>
                <a:ea typeface="Segoe UI" pitchFamily="34" charset="-122"/>
                <a:cs typeface="Segoe UI" pitchFamily="34" charset="-120"/>
              </a:rPr>
              <a:t>Dashboard: </a:t>
            </a:r>
            <a:pPr indent="0" marL="0">
              <a:spcAft>
                <a:spcPts val="800"/>
              </a:spcAft>
              <a:buNone/>
            </a:pPr>
            <a:r>
              <a:rPr lang="en-US" sz="1400" dirty="0">
                <a:solidFill>
                  <a:srgbClr val="E6E9EE"/>
                </a:solidFill>
                <a:latin typeface="Segoe UI" pitchFamily="34" charset="0"/>
                <a:ea typeface="Segoe UI" pitchFamily="34" charset="-122"/>
                <a:cs typeface="Segoe UI" pitchFamily="34" charset="-120"/>
              </a:rPr>
              <a:t>main.d1gnkprv2sjfmv.amplifyapp.com</a:t>
            </a:r>
            <a:endParaRPr lang="en-US" sz="1400" dirty="0"/>
          </a:p>
          <a:p>
            <a:pPr indent="0" marL="0">
              <a:spcAft>
                <a:spcPts val="800"/>
              </a:spcAft>
              <a:buNone/>
            </a:pPr>
            <a:r>
              <a:rPr lang="en-US" sz="1400" dirty="0">
                <a:solidFill>
                  <a:srgbClr val="9AA3B2"/>
                </a:solidFill>
                <a:latin typeface="Segoe UI" pitchFamily="34" charset="0"/>
                <a:ea typeface="Segoe UI" pitchFamily="34" charset="-122"/>
                <a:cs typeface="Segoe UI" pitchFamily="34" charset="-120"/>
              </a:rPr>
              <a:t>Code: </a:t>
            </a:r>
            <a:pPr indent="0" marL="0">
              <a:spcAft>
                <a:spcPts val="800"/>
              </a:spcAft>
              <a:buNone/>
            </a:pPr>
            <a:r>
              <a:rPr lang="en-US" sz="1400" dirty="0">
                <a:solidFill>
                  <a:srgbClr val="E6E9EE"/>
                </a:solidFill>
                <a:latin typeface="Segoe UI" pitchFamily="34" charset="0"/>
                <a:ea typeface="Segoe UI" pitchFamily="34" charset="-122"/>
                <a:cs typeface="Segoe UI" pitchFamily="34" charset="-120"/>
              </a:rPr>
              <a:t>github.com/DeveshAg30/Cloud_Based_Knowledge_Graph_Framework_for_Automated_Research_Intelligence_Aws_Project_2026</a:t>
            </a:r>
            <a:endParaRPr lang="en-US" sz="1400" dirty="0"/>
          </a:p>
        </p:txBody>
      </p:sp>
      <p:sp>
        <p:nvSpPr>
          <p:cNvPr id="5" name="Shape 3"/>
          <p:cNvSpPr/>
          <p:nvPr/>
        </p:nvSpPr>
        <p:spPr>
          <a:xfrm flipH="1">
            <a:off x="9144000" y="1280160"/>
            <a:ext cx="1828800" cy="365760"/>
          </a:xfrm>
          <a:prstGeom prst="line">
            <a:avLst/>
          </a:prstGeom>
          <a:noFill/>
          <a:ln w="25400">
            <a:solidFill>
              <a:srgbClr val="2E343E"/>
            </a:solidFill>
            <a:prstDash val="solid"/>
          </a:ln>
        </p:spPr>
      </p:sp>
      <p:sp>
        <p:nvSpPr>
          <p:cNvPr id="6" name="Shape 4"/>
          <p:cNvSpPr/>
          <p:nvPr/>
        </p:nvSpPr>
        <p:spPr>
          <a:xfrm>
            <a:off x="9144000" y="1645920"/>
            <a:ext cx="1005840" cy="1371600"/>
          </a:xfrm>
          <a:prstGeom prst="line">
            <a:avLst/>
          </a:prstGeom>
          <a:noFill/>
          <a:ln w="25400">
            <a:solidFill>
              <a:srgbClr val="2E343E"/>
            </a:solidFill>
            <a:prstDash val="solid"/>
          </a:ln>
        </p:spPr>
      </p:sp>
      <p:sp>
        <p:nvSpPr>
          <p:cNvPr id="7" name="Shape 5"/>
          <p:cNvSpPr/>
          <p:nvPr/>
        </p:nvSpPr>
        <p:spPr>
          <a:xfrm>
            <a:off x="10149840" y="3017520"/>
            <a:ext cx="1371600" cy="365760"/>
          </a:xfrm>
          <a:prstGeom prst="line">
            <a:avLst/>
          </a:prstGeom>
          <a:noFill/>
          <a:ln w="25400">
            <a:solidFill>
              <a:srgbClr val="2E343E"/>
            </a:solidFill>
            <a:prstDash val="solid"/>
          </a:ln>
        </p:spPr>
      </p:sp>
      <p:sp>
        <p:nvSpPr>
          <p:cNvPr id="8" name="Shape 6"/>
          <p:cNvSpPr/>
          <p:nvPr/>
        </p:nvSpPr>
        <p:spPr>
          <a:xfrm flipH="1">
            <a:off x="8869680" y="3017520"/>
            <a:ext cx="1280160" cy="1280160"/>
          </a:xfrm>
          <a:prstGeom prst="line">
            <a:avLst/>
          </a:prstGeom>
          <a:noFill/>
          <a:ln w="25400">
            <a:solidFill>
              <a:srgbClr val="2E343E"/>
            </a:solidFill>
            <a:prstDash val="solid"/>
          </a:ln>
        </p:spPr>
      </p:sp>
      <p:sp>
        <p:nvSpPr>
          <p:cNvPr id="9" name="Shape 7"/>
          <p:cNvSpPr/>
          <p:nvPr/>
        </p:nvSpPr>
        <p:spPr>
          <a:xfrm>
            <a:off x="10149840" y="3017520"/>
            <a:ext cx="457200" cy="1920240"/>
          </a:xfrm>
          <a:prstGeom prst="line">
            <a:avLst/>
          </a:prstGeom>
          <a:noFill/>
          <a:ln w="25400">
            <a:solidFill>
              <a:srgbClr val="2E343E"/>
            </a:solidFill>
            <a:prstDash val="solid"/>
          </a:ln>
        </p:spPr>
      </p:sp>
      <p:sp>
        <p:nvSpPr>
          <p:cNvPr id="10" name="Shape 8"/>
          <p:cNvSpPr/>
          <p:nvPr/>
        </p:nvSpPr>
        <p:spPr>
          <a:xfrm flipH="1">
            <a:off x="10149840" y="1280160"/>
            <a:ext cx="822960" cy="1737360"/>
          </a:xfrm>
          <a:prstGeom prst="line">
            <a:avLst/>
          </a:prstGeom>
          <a:noFill/>
          <a:ln w="25400">
            <a:solidFill>
              <a:srgbClr val="2E343E"/>
            </a:solidFill>
            <a:prstDash val="solid"/>
          </a:ln>
        </p:spPr>
      </p:sp>
      <p:sp>
        <p:nvSpPr>
          <p:cNvPr id="11" name="Shape 9"/>
          <p:cNvSpPr/>
          <p:nvPr/>
        </p:nvSpPr>
        <p:spPr>
          <a:xfrm>
            <a:off x="8869680" y="4297680"/>
            <a:ext cx="1737360" cy="640080"/>
          </a:xfrm>
          <a:prstGeom prst="line">
            <a:avLst/>
          </a:prstGeom>
          <a:noFill/>
          <a:ln w="25400">
            <a:solidFill>
              <a:srgbClr val="2E343E"/>
            </a:solidFill>
            <a:prstDash val="solid"/>
          </a:ln>
        </p:spPr>
      </p:sp>
      <p:sp>
        <p:nvSpPr>
          <p:cNvPr id="12" name="end-node-0-circle"/>
          <p:cNvSpPr/>
          <p:nvPr/>
        </p:nvSpPr>
        <p:spPr>
          <a:xfrm>
            <a:off x="8778240" y="1280160"/>
            <a:ext cx="731520" cy="731520"/>
          </a:xfrm>
          <a:prstGeom prst="ellipse">
            <a:avLst/>
          </a:prstGeom>
          <a:solidFill>
            <a:srgbClr val="4C78A8"/>
          </a:solidFill>
          <a:ln w="12700">
            <a:solidFill>
              <a:srgbClr val="4C78A8"/>
            </a:solidFill>
            <a:prstDash val="solid"/>
          </a:ln>
        </p:spPr>
      </p:sp>
      <p:pic>
        <p:nvPicPr>
          <p:cNvPr id="13" name="end-node-0-icon" descr="preencoded.png">    </p:cNvPr>
          <p:cNvPicPr>
            <a:picLocks noChangeAspect="1"/>
          </p:cNvPicPr>
          <p:nvPr/>
        </p:nvPicPr>
        <p:blipFill>
          <a:blip r:embed="rId1"/>
          <a:stretch>
            <a:fillRect/>
          </a:stretch>
        </p:blipFill>
        <p:spPr>
          <a:xfrm>
            <a:off x="8961120" y="1463040"/>
            <a:ext cx="365760" cy="365760"/>
          </a:xfrm>
          <a:prstGeom prst="rect">
            <a:avLst/>
          </a:prstGeom>
        </p:spPr>
      </p:pic>
      <p:sp>
        <p:nvSpPr>
          <p:cNvPr id="14" name="end-node-1-circle"/>
          <p:cNvSpPr/>
          <p:nvPr/>
        </p:nvSpPr>
        <p:spPr>
          <a:xfrm>
            <a:off x="10607040" y="914400"/>
            <a:ext cx="731520" cy="731520"/>
          </a:xfrm>
          <a:prstGeom prst="ellipse">
            <a:avLst/>
          </a:prstGeom>
          <a:solidFill>
            <a:srgbClr val="F58518"/>
          </a:solidFill>
          <a:ln w="12700">
            <a:solidFill>
              <a:srgbClr val="F58518"/>
            </a:solidFill>
            <a:prstDash val="solid"/>
          </a:ln>
        </p:spPr>
      </p:sp>
      <p:pic>
        <p:nvPicPr>
          <p:cNvPr id="15" name="end-node-1-icon" descr="preencoded.png">    </p:cNvPr>
          <p:cNvPicPr>
            <a:picLocks noChangeAspect="1"/>
          </p:cNvPicPr>
          <p:nvPr/>
        </p:nvPicPr>
        <p:blipFill>
          <a:blip r:embed="rId2"/>
          <a:stretch>
            <a:fillRect/>
          </a:stretch>
        </p:blipFill>
        <p:spPr>
          <a:xfrm>
            <a:off x="10789920" y="1097280"/>
            <a:ext cx="365760" cy="365760"/>
          </a:xfrm>
          <a:prstGeom prst="rect">
            <a:avLst/>
          </a:prstGeom>
        </p:spPr>
      </p:pic>
      <p:sp>
        <p:nvSpPr>
          <p:cNvPr id="16" name="end-node-2-circle"/>
          <p:cNvSpPr/>
          <p:nvPr/>
        </p:nvSpPr>
        <p:spPr>
          <a:xfrm>
            <a:off x="9784080" y="2651760"/>
            <a:ext cx="731520" cy="731520"/>
          </a:xfrm>
          <a:prstGeom prst="ellipse">
            <a:avLst/>
          </a:prstGeom>
          <a:solidFill>
            <a:srgbClr val="54A24B"/>
          </a:solidFill>
          <a:ln w="12700">
            <a:solidFill>
              <a:srgbClr val="54A24B"/>
            </a:solidFill>
            <a:prstDash val="solid"/>
          </a:ln>
        </p:spPr>
      </p:sp>
      <p:pic>
        <p:nvPicPr>
          <p:cNvPr id="17" name="end-node-2-icon" descr="preencoded.png">    </p:cNvPr>
          <p:cNvPicPr>
            <a:picLocks noChangeAspect="1"/>
          </p:cNvPicPr>
          <p:nvPr/>
        </p:nvPicPr>
        <p:blipFill>
          <a:blip r:embed="rId3"/>
          <a:stretch>
            <a:fillRect/>
          </a:stretch>
        </p:blipFill>
        <p:spPr>
          <a:xfrm>
            <a:off x="9966960" y="2834640"/>
            <a:ext cx="365760" cy="365760"/>
          </a:xfrm>
          <a:prstGeom prst="rect">
            <a:avLst/>
          </a:prstGeom>
        </p:spPr>
      </p:pic>
      <p:sp>
        <p:nvSpPr>
          <p:cNvPr id="18" name="end-node-3-circle"/>
          <p:cNvSpPr/>
          <p:nvPr/>
        </p:nvSpPr>
        <p:spPr>
          <a:xfrm>
            <a:off x="11155680" y="3017520"/>
            <a:ext cx="731520" cy="731520"/>
          </a:xfrm>
          <a:prstGeom prst="ellipse">
            <a:avLst/>
          </a:prstGeom>
          <a:solidFill>
            <a:srgbClr val="EECA3B"/>
          </a:solidFill>
          <a:ln w="12700">
            <a:solidFill>
              <a:srgbClr val="EECA3B"/>
            </a:solidFill>
            <a:prstDash val="solid"/>
          </a:ln>
        </p:spPr>
      </p:sp>
      <p:pic>
        <p:nvPicPr>
          <p:cNvPr id="19" name="end-node-3-icon" descr="preencoded.png">    </p:cNvPr>
          <p:cNvPicPr>
            <a:picLocks noChangeAspect="1"/>
          </p:cNvPicPr>
          <p:nvPr/>
        </p:nvPicPr>
        <p:blipFill>
          <a:blip r:embed="rId4"/>
          <a:stretch>
            <a:fillRect/>
          </a:stretch>
        </p:blipFill>
        <p:spPr>
          <a:xfrm>
            <a:off x="11338560" y="3200400"/>
            <a:ext cx="365760" cy="365760"/>
          </a:xfrm>
          <a:prstGeom prst="rect">
            <a:avLst/>
          </a:prstGeom>
        </p:spPr>
      </p:pic>
      <p:sp>
        <p:nvSpPr>
          <p:cNvPr id="20" name="end-node-4-circle"/>
          <p:cNvSpPr/>
          <p:nvPr/>
        </p:nvSpPr>
        <p:spPr>
          <a:xfrm>
            <a:off x="8503920" y="3931920"/>
            <a:ext cx="731520" cy="731520"/>
          </a:xfrm>
          <a:prstGeom prst="ellipse">
            <a:avLst/>
          </a:prstGeom>
          <a:solidFill>
            <a:srgbClr val="E45756"/>
          </a:solidFill>
          <a:ln w="12700">
            <a:solidFill>
              <a:srgbClr val="E45756"/>
            </a:solidFill>
            <a:prstDash val="solid"/>
          </a:ln>
        </p:spPr>
      </p:sp>
      <p:pic>
        <p:nvPicPr>
          <p:cNvPr id="21" name="end-node-4-icon" descr="preencoded.png">    </p:cNvPr>
          <p:cNvPicPr>
            <a:picLocks noChangeAspect="1"/>
          </p:cNvPicPr>
          <p:nvPr/>
        </p:nvPicPr>
        <p:blipFill>
          <a:blip r:embed="rId5"/>
          <a:stretch>
            <a:fillRect/>
          </a:stretch>
        </p:blipFill>
        <p:spPr>
          <a:xfrm>
            <a:off x="8686800" y="4114800"/>
            <a:ext cx="365760" cy="365760"/>
          </a:xfrm>
          <a:prstGeom prst="rect">
            <a:avLst/>
          </a:prstGeom>
        </p:spPr>
      </p:pic>
      <p:sp>
        <p:nvSpPr>
          <p:cNvPr id="22" name="end-node-5-circle"/>
          <p:cNvSpPr/>
          <p:nvPr/>
        </p:nvSpPr>
        <p:spPr>
          <a:xfrm>
            <a:off x="10241280" y="4572000"/>
            <a:ext cx="731520" cy="731520"/>
          </a:xfrm>
          <a:prstGeom prst="ellipse">
            <a:avLst/>
          </a:prstGeom>
          <a:solidFill>
            <a:srgbClr val="BAB0AC"/>
          </a:solidFill>
          <a:ln w="12700">
            <a:solidFill>
              <a:srgbClr val="BAB0AC"/>
            </a:solidFill>
            <a:prstDash val="solid"/>
          </a:ln>
        </p:spPr>
      </p:sp>
      <p:pic>
        <p:nvPicPr>
          <p:cNvPr id="23" name="end-node-5-icon" descr="preencoded.png">    </p:cNvPr>
          <p:cNvPicPr>
            <a:picLocks noChangeAspect="1"/>
          </p:cNvPicPr>
          <p:nvPr/>
        </p:nvPicPr>
        <p:blipFill>
          <a:blip r:embed="rId6"/>
          <a:stretch>
            <a:fillRect/>
          </a:stretch>
        </p:blipFill>
        <p:spPr>
          <a:xfrm>
            <a:off x="10424160" y="4754880"/>
            <a:ext cx="365760" cy="365760"/>
          </a:xfrm>
          <a:prstGeom prst="rect">
            <a:avLst/>
          </a:prstGeom>
        </p:spPr>
      </p:pic>
    </p:spTree>
  </p:cSld>
  <p:clrMapOvr>
    <a:masterClrMapping/>
  </p:clrMapOvr>
</p:sld>
</file>

<file path=ppt/theme/theme1.xml><?xml version="1.0" encoding="utf-8"?>
<a:theme xmlns:a="http://schemas.openxmlformats.org/drawingml/2006/main" name="Research Intelligence Dark">
  <a:themeElements>
    <a:clrScheme name="Research Intelligence Dark">
      <a:dk1>
        <a:srgbClr val="14171C"/>
      </a:dk1>
      <a:lt1>
        <a:srgbClr val="FFFFFF"/>
      </a:lt1>
      <a:dk2>
        <a:srgbClr val="1D2128"/>
      </a:dk2>
      <a:lt2>
        <a:srgbClr val="E6E9EE"/>
      </a:lt2>
      <a:accent1>
        <a:srgbClr val="6B9CF0"/>
      </a:accent1>
      <a:accent2>
        <a:srgbClr val="54A24B"/>
      </a:accent2>
      <a:accent3>
        <a:srgbClr val="EECA3B"/>
      </a:accent3>
      <a:accent4>
        <a:srgbClr val="E45756"/>
      </a:accent4>
      <a:accent5>
        <a:srgbClr val="F58518"/>
      </a:accent5>
      <a:accent6>
        <a:srgbClr val="B279A2"/>
      </a:accent6>
      <a:hlink>
        <a:srgbClr val="6B9CF0"/>
      </a:hlink>
      <a:folHlink>
        <a:srgbClr val="B279A2"/>
      </a:folHlink>
    </a:clrScheme>
    <a:fontScheme name="Research Intelligence Dark">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Cloud-Based Knowledge Graph Framework for Automated Research Intelligence</dc:title>
  <dc:subject>PptxGenJS Presentation</dc:subject>
  <dc:creator>Dhruv Gupta, Parth Sharma, Devesh Agarwal</dc:creator>
  <cp:lastModifiedBy>Dhruv Gupta, Parth Sharma, Devesh Agarwal</cp:lastModifiedBy>
  <cp:revision>1</cp:revision>
  <dcterms:created xsi:type="dcterms:W3CDTF">2026-10-15T13:32:28Z</dcterms:created>
  <dcterms:modified xsi:type="dcterms:W3CDTF">2026-10-15T13:32:28Z</dcterms:modified>
</cp:coreProperties>
</file>